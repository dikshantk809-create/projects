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I'm Dikshant Aggarwal, roll number 12303021. My minor-degree project is TruthLens AI - an agentic, explainable system for detecting misinformation, guided by Dr. Chandan Deep Singh. Over the next slides I'll cover the problem, my solution, the architecture, the results, and a live demo.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core problem: generative AI lets anyone mass-produce believable fake news. Manual fact-checking can't keep up, and a black-box label nobody can question isn't useful. My goal was a system that is accurate, explainable, evidence-grounded, and runs offline at zero cost so it can be demoed anywhere.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objectives drove the design: an accurate interpretable classifier; an explainability layer; retrieval-augmented fact-checking; an agentic architecture with a visible reasoning trace; generative-AI explanations with an offline fallback; and an overall production-quality build with a modern UI, tests and docs.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challenges this project tackles: the sheer scale and speed of GenAI misinformation; the opacity of black-box models; the lack of supporting evidence in most classifiers; the cost and connectivity needs of cloud APIs; and the gap between clean benchmarks and messy real-world data, which inflates reported accuracy.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My solution combines four layers: an interpretable TF-IDF + logistic-regression classifier; a transparent linguistic-signal explainability engine; a retrieval-augmented fact-check component; and an agentic generative-AI layer with an offline fallback. Together they deliver 94.2% accuracy and 0.947 AUC while running entirely offline.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architecture is layered. The Streamlit UI calls an orchestrator, which runs three specialised agents. Each agent is backed by an engine - the ML model, the signal-and-LLM explainer, and the RAG retriever - over a data layer holding the dataset, knowledge base and trained model. The orchestrator returns a verdict plus a full reasoning trace shown to the user.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stack is deliberately lightweight and industry-standard: Python with scikit-learn, NumPy and pandas for ML; Streamlit for the UI; FAISS with sentence-transformers - and a TF-IDF fallback - for retrieval; Ollama for an optional local LLM; a custom multi-agent orchestrator; and pytest plus a clean package layout for quality.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dataset has 3,000 balanced articles, split 2,400 train / 600 test. A realistic generator injects cross-class overlap and about five percent label noise so the data isn't trivially separable - this keeps metrics honest. A knowledge base of 18 verified statements supports the fact-check agent, and the loader switches to the real Kaggle dataset automatically if its files are added.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core is a four-step pipeline: clean the text, vectorise with TF-IDF over unigrams and bigrams, classify with a balanced logistic regression that outputs a calibrated probability, and compute term attributions as coefficient times TF-IDF. I chose this model because it's fast, works with limited data, and is fully interpretable - giving 94.2% test accuracy and 0.947 AUC.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agentic and generative-AI heart of the project. Three agents cooperate: ClassifierAgent runs the model, ExplainerAgent produces the natural-language explanation using a local LLM or a template, and FactCheckAgent does retrieval-augmented grounding. An orchestrator fuses their outputs and exposes the whole reasoning trace. Crucially, if no LLM is available it degrades gracefully to templates, so it always works offline.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End to end: the article is preprocessed, then the three agents run - classify, explain, fact-check. Their outputs are fused with a 70/30 weighting between the model probability and the transparent linguistic risk score. That produces the verdict, a confidence band, and the full trace the user sees.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implementation follows a clean, production-style layout: a Streamlit app over a src package split into config, preprocessing, features, model, training, retrieval, the LLM client, and the agents. There's a pytest suite, centralised configuration, defensive error handling so the UI never crashes, and one-command launch that auto-trains on first 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the interface, built in Streamlit. The user pastes an article and gets a colour-coded verdict card - red for fake, green for real - with confidence, the fused score, latency, and the full agent trace. Tabs reveal the linguistic signals, the most influential model terms, and the RAG-retrieved evidence. One-click sample buttons make the live demo effortless. I'll show this running shortly.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headline results: 94.2% accuracy, 0.947 ROC-AUC, 93.5% F1 on fake, and 94.8% cross-validated accuracy. Precision and recall are balanced, the high AUC means robustness across thresholds, and the tiny gap between cross-validation and test accuracy shows it generalises without overfitting. Importantly these numbers come from realistically noisy data, not a trivially perfect benchmark.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Drilling into performance: the confusion matrix shows only 18 false positives and 17 false negatives out of 600 - errors are low and balanced. The ROC curve hugs the top-left corner with an AUC of 0.947, confirming strong separability. These are the metrics I'd defend in a viva: honest, reproducible, and computed on a held-out set.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advantages: it's explainable, with signals, terms and evidence behind every verdict; it's offline and free; it's robust thanks to graceful fallbacks; it's fast enough for live demos; the ML is fully interpretable; and it's industry-relevant, packing RAG, agents and classical ML into one coherent project.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TruthLens has broad applications: social platforms flagging viral fakes; newsrooms triaging sources; education teaching media literacy through transparent signals; fact-check organisations prioritising review; on-device checks in messaging apps for privacy; and brand monitoring for PR teams. The offline, explainable design fits all of these.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Future work: upgrade to a fine-tuned transformer and ensemble it with the linear model; connect live fact-check feeds for fresher grounding; add multilingual and multimodal signals; ship a browser extension and REST API; and add a human-in-the-loop feedback path to continuously retrain and recalibrate.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conclude: TruthLens reframes detection as an explainable, evidence-grounded, multi-agent workflow. It achieves 94.2% accuracy and 0.947 AUC on realistic data, combines interpretable ML with explainability, RAG and agentic GenAI, runs entirely offline, and demonstrates the precise skills that 2026 AI internships look for. Thank you - I'm happy to take questions and give a live demo.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for your attention. I'd be glad to answer questions and run a live demonstration of TruthLens AI.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slideLayout" Target="../slideLayouts/slideLayout1.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2027"/>
        </a:solidFill>
      </p:bgPr>
    </p:bg>
    <p:spTree>
      <p:nvGrpSpPr>
        <p:cNvPr id="1" name=""/>
        <p:cNvGrpSpPr/>
        <p:nvPr/>
      </p:nvGrpSpPr>
      <p:grpSpPr>
        <a:xfrm>
          <a:off x="0" y="0"/>
          <a:ext cx="0" cy="0"/>
          <a:chOff x="0" y="0"/>
          <a:chExt cx="0" cy="0"/>
        </a:xfrm>
      </p:grpSpPr>
      <p:sp>
        <p:nvSpPr>
          <p:cNvPr id="2" name="Shape 0"/>
          <p:cNvSpPr/>
          <p:nvPr/>
        </p:nvSpPr>
        <p:spPr>
          <a:xfrm>
            <a:off x="9692640" y="-1463040"/>
            <a:ext cx="4206240" cy="4206240"/>
          </a:xfrm>
          <a:prstGeom prst="ellipse">
            <a:avLst/>
          </a:prstGeom>
          <a:solidFill>
            <a:srgbClr val="2C5364">
              <a:alpha val="45000"/>
            </a:srgbClr>
          </a:solidFill>
          <a:ln/>
        </p:spPr>
      </p:sp>
      <p:sp>
        <p:nvSpPr>
          <p:cNvPr id="3" name="Shape 1"/>
          <p:cNvSpPr/>
          <p:nvPr/>
        </p:nvSpPr>
        <p:spPr>
          <a:xfrm>
            <a:off x="-1280160" y="4754880"/>
            <a:ext cx="3840480" cy="3840480"/>
          </a:xfrm>
          <a:prstGeom prst="ellipse">
            <a:avLst/>
          </a:prstGeom>
          <a:solidFill>
            <a:srgbClr val="11998E">
              <a:alpha val="40000"/>
            </a:srgbClr>
          </a:solidFill>
          <a:ln/>
        </p:spPr>
      </p:sp>
      <p:sp>
        <p:nvSpPr>
          <p:cNvPr id="4" name="Text 2"/>
          <p:cNvSpPr/>
          <p:nvPr/>
        </p:nvSpPr>
        <p:spPr>
          <a:xfrm>
            <a:off x="822960" y="1143000"/>
            <a:ext cx="10515600" cy="365760"/>
          </a:xfrm>
          <a:prstGeom prst="rect">
            <a:avLst/>
          </a:prstGeom>
          <a:noFill/>
          <a:ln/>
        </p:spPr>
        <p:txBody>
          <a:bodyPr wrap="square" rtlCol="0" anchor="ctr"/>
          <a:lstStyle/>
          <a:p>
            <a:pPr indent="0" marL="0">
              <a:buNone/>
            </a:pPr>
            <a:r>
              <a:rPr lang="en-US" sz="1500" b="1" spc="300" kern="0" dirty="0">
                <a:solidFill>
                  <a:srgbClr val="9BE3D8"/>
                </a:solidFill>
              </a:rPr>
              <a:t>AI/ML MINOR DEGREE PROJECT</a:t>
            </a:r>
            <a:endParaRPr lang="en-US" sz="1500" dirty="0"/>
          </a:p>
        </p:txBody>
      </p:sp>
      <p:sp>
        <p:nvSpPr>
          <p:cNvPr id="5" name="Text 3"/>
          <p:cNvSpPr/>
          <p:nvPr/>
        </p:nvSpPr>
        <p:spPr>
          <a:xfrm>
            <a:off x="777240" y="1645920"/>
            <a:ext cx="10607040" cy="1188720"/>
          </a:xfrm>
          <a:prstGeom prst="rect">
            <a:avLst/>
          </a:prstGeom>
          <a:noFill/>
          <a:ln/>
        </p:spPr>
        <p:txBody>
          <a:bodyPr wrap="square" rtlCol="0" anchor="ctr"/>
          <a:lstStyle/>
          <a:p>
            <a:pPr indent="0" marL="0">
              <a:buNone/>
            </a:pPr>
            <a:r>
              <a:rPr lang="en-US" sz="6400" b="1" dirty="0">
                <a:solidFill>
                  <a:srgbClr val="FFFFFF"/>
                </a:solidFill>
                <a:latin typeface="Calibri" pitchFamily="34" charset="0"/>
                <a:ea typeface="Calibri" pitchFamily="34" charset="-122"/>
                <a:cs typeface="Calibri" pitchFamily="34" charset="-120"/>
              </a:rPr>
              <a:t>TruthLens AI</a:t>
            </a:r>
            <a:endParaRPr lang="en-US" sz="6400" dirty="0"/>
          </a:p>
        </p:txBody>
      </p:sp>
      <p:sp>
        <p:nvSpPr>
          <p:cNvPr id="6" name="Text 4"/>
          <p:cNvSpPr/>
          <p:nvPr/>
        </p:nvSpPr>
        <p:spPr>
          <a:xfrm>
            <a:off x="822960" y="2880360"/>
            <a:ext cx="10515600" cy="548640"/>
          </a:xfrm>
          <a:prstGeom prst="rect">
            <a:avLst/>
          </a:prstGeom>
          <a:noFill/>
          <a:ln/>
        </p:spPr>
        <p:txBody>
          <a:bodyPr wrap="square" rtlCol="0" anchor="ctr"/>
          <a:lstStyle/>
          <a:p>
            <a:pPr indent="0" marL="0">
              <a:buNone/>
            </a:pPr>
            <a:r>
              <a:rPr lang="en-US" sz="2400" i="1" dirty="0">
                <a:solidFill>
                  <a:srgbClr val="9BE3D8"/>
                </a:solidFill>
              </a:rPr>
              <a:t>Agentic AI for Explainable Misinformation Detection</a:t>
            </a:r>
            <a:endParaRPr lang="en-US" sz="2400" dirty="0"/>
          </a:p>
        </p:txBody>
      </p:sp>
      <p:sp>
        <p:nvSpPr>
          <p:cNvPr id="7" name="Shape 5"/>
          <p:cNvSpPr/>
          <p:nvPr/>
        </p:nvSpPr>
        <p:spPr>
          <a:xfrm>
            <a:off x="868680" y="3611880"/>
            <a:ext cx="2926080" cy="0"/>
          </a:xfrm>
          <a:prstGeom prst="line">
            <a:avLst/>
          </a:prstGeom>
          <a:noFill/>
          <a:ln w="31750">
            <a:solidFill>
              <a:srgbClr val="11998E"/>
            </a:solidFill>
            <a:prstDash val="solid"/>
          </a:ln>
        </p:spPr>
      </p:sp>
      <p:sp>
        <p:nvSpPr>
          <p:cNvPr id="8" name="Text 6"/>
          <p:cNvSpPr/>
          <p:nvPr/>
        </p:nvSpPr>
        <p:spPr>
          <a:xfrm>
            <a:off x="822960" y="3977640"/>
            <a:ext cx="10515600" cy="1463040"/>
          </a:xfrm>
          <a:prstGeom prst="rect">
            <a:avLst/>
          </a:prstGeom>
          <a:noFill/>
          <a:ln/>
        </p:spPr>
        <p:txBody>
          <a:bodyPr wrap="square" rtlCol="0" anchor="ctr"/>
          <a:lstStyle/>
          <a:p>
            <a:pPr indent="0" marL="0">
              <a:lnSpc>
                <a:spcPct val="130000"/>
              </a:lnSpc>
              <a:buNone/>
            </a:pPr>
            <a:r>
              <a:rPr lang="en-US" sz="1700" b="1" dirty="0">
                <a:solidFill>
                  <a:srgbClr val="FFFFFF"/>
                </a:solidFill>
              </a:rPr>
              <a:t>Submitted by:  </a:t>
            </a:r>
            <a:pPr indent="0" marL="0">
              <a:lnSpc>
                <a:spcPct val="130000"/>
              </a:lnSpc>
              <a:buNone/>
            </a:pPr>
            <a:r>
              <a:rPr lang="en-US" sz="1700" dirty="0">
                <a:solidFill>
                  <a:srgbClr val="9BE3D8"/>
                </a:solidFill>
              </a:rPr>
              <a:t>Dikshant Aggarwal   (Roll No. 12303021)</a:t>
            </a:r>
            <a:endParaRPr lang="en-US" sz="1700" dirty="0"/>
          </a:p>
          <a:p>
            <a:pPr indent="0" marL="0">
              <a:lnSpc>
                <a:spcPct val="130000"/>
              </a:lnSpc>
              <a:buNone/>
            </a:pPr>
            <a:r>
              <a:rPr lang="en-US" sz="1700" b="1" dirty="0">
                <a:solidFill>
                  <a:srgbClr val="FFFFFF"/>
                </a:solidFill>
              </a:rPr>
              <a:t>Submitted to:  </a:t>
            </a:r>
            <a:pPr indent="0" marL="0">
              <a:lnSpc>
                <a:spcPct val="130000"/>
              </a:lnSpc>
              <a:buNone/>
            </a:pPr>
            <a:r>
              <a:rPr lang="en-US" sz="1700" dirty="0">
                <a:solidFill>
                  <a:srgbClr val="9BE3D8"/>
                </a:solidFill>
              </a:rPr>
              <a:t>Dr. Chandan Deep Singh</a:t>
            </a:r>
            <a:endParaRPr lang="en-US" sz="1700" dirty="0"/>
          </a:p>
          <a:p>
            <a:pPr indent="0" marL="0">
              <a:lnSpc>
                <a:spcPct val="130000"/>
              </a:lnSpc>
              <a:buNone/>
            </a:pPr>
            <a:r>
              <a:rPr lang="en-US" sz="1700" b="1" dirty="0">
                <a:solidFill>
                  <a:srgbClr val="FFFFFF"/>
                </a:solidFill>
              </a:rPr>
              <a:t>University:  </a:t>
            </a:r>
            <a:pPr indent="0" marL="0">
              <a:lnSpc>
                <a:spcPct val="130000"/>
              </a:lnSpc>
              <a:buNone/>
            </a:pPr>
            <a:r>
              <a:rPr lang="en-US" sz="1700" dirty="0">
                <a:solidFill>
                  <a:srgbClr val="9BE3D8"/>
                </a:solidFill>
              </a:rPr>
              <a:t>Punjabi University, Patiala</a:t>
            </a:r>
            <a:endParaRPr lang="en-US" sz="17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566928"/>
            <a:ext cx="146304" cy="384048"/>
          </a:xfrm>
          <a:prstGeom prst="rect">
            <a:avLst/>
          </a:prstGeom>
          <a:solidFill>
            <a:srgbClr val="11998E"/>
          </a:solidFill>
          <a:ln/>
        </p:spPr>
      </p:sp>
      <p:sp>
        <p:nvSpPr>
          <p:cNvPr id="3" name="Text 1"/>
          <p:cNvSpPr/>
          <p:nvPr/>
        </p:nvSpPr>
        <p:spPr>
          <a:xfrm>
            <a:off x="822960" y="502920"/>
            <a:ext cx="10789920" cy="548640"/>
          </a:xfrm>
          <a:prstGeom prst="rect">
            <a:avLst/>
          </a:prstGeom>
          <a:noFill/>
          <a:ln/>
        </p:spPr>
        <p:txBody>
          <a:bodyPr wrap="square" lIns="0" tIns="0" rIns="0" bIns="0" rtlCol="0" anchor="ctr"/>
          <a:lstStyle/>
          <a:p>
            <a:pPr algn="l" indent="0" marL="0">
              <a:buNone/>
            </a:pPr>
            <a:r>
              <a:rPr lang="en-US" sz="2800" b="1" dirty="0">
                <a:solidFill>
                  <a:srgbClr val="203A43"/>
                </a:solidFill>
                <a:latin typeface="Calibri" pitchFamily="34" charset="0"/>
                <a:ea typeface="Calibri" pitchFamily="34" charset="-122"/>
                <a:cs typeface="Calibri" pitchFamily="34" charset="-120"/>
              </a:rPr>
              <a:t>Problem Statement</a:t>
            </a:r>
            <a:endParaRPr lang="en-US" sz="2800" dirty="0"/>
          </a:p>
        </p:txBody>
      </p:sp>
      <p:sp>
        <p:nvSpPr>
          <p:cNvPr id="4" name="Text 2"/>
          <p:cNvSpPr/>
          <p:nvPr/>
        </p:nvSpPr>
        <p:spPr>
          <a:xfrm>
            <a:off x="548640" y="6437376"/>
            <a:ext cx="5486400" cy="274320"/>
          </a:xfrm>
          <a:prstGeom prst="rect">
            <a:avLst/>
          </a:prstGeom>
          <a:noFill/>
          <a:ln/>
        </p:spPr>
        <p:txBody>
          <a:bodyPr wrap="square" rtlCol="0" anchor="ctr"/>
          <a:lstStyle/>
          <a:p>
            <a:pPr algn="l" indent="0" marL="0">
              <a:buNone/>
            </a:pPr>
            <a:r>
              <a:rPr lang="en-US" sz="900" dirty="0">
                <a:solidFill>
                  <a:srgbClr val="64748B"/>
                </a:solidFill>
              </a:rPr>
              <a:t>TruthLens AI</a:t>
            </a:r>
            <a:endParaRPr lang="en-US" sz="900" dirty="0"/>
          </a:p>
        </p:txBody>
      </p:sp>
      <p:sp>
        <p:nvSpPr>
          <p:cNvPr id="5" name="Text 3"/>
          <p:cNvSpPr/>
          <p:nvPr/>
        </p:nvSpPr>
        <p:spPr>
          <a:xfrm>
            <a:off x="10058400" y="6437376"/>
            <a:ext cx="1581912" cy="274320"/>
          </a:xfrm>
          <a:prstGeom prst="rect">
            <a:avLst/>
          </a:prstGeom>
          <a:noFill/>
          <a:ln/>
        </p:spPr>
        <p:txBody>
          <a:bodyPr wrap="square" rtlCol="0" anchor="ctr"/>
          <a:lstStyle/>
          <a:p>
            <a:pPr algn="r" indent="0" marL="0">
              <a:buNone/>
            </a:pPr>
            <a:r>
              <a:rPr lang="en-US" sz="900" dirty="0">
                <a:solidFill>
                  <a:srgbClr val="64748B"/>
                </a:solidFill>
              </a:rPr>
              <a:t>2 / 20</a:t>
            </a:r>
            <a:endParaRPr lang="en-US" sz="900" dirty="0"/>
          </a:p>
        </p:txBody>
      </p:sp>
      <p:sp>
        <p:nvSpPr>
          <p:cNvPr id="6" name="Shape 4"/>
          <p:cNvSpPr/>
          <p:nvPr/>
        </p:nvSpPr>
        <p:spPr>
          <a:xfrm>
            <a:off x="548640" y="1371600"/>
            <a:ext cx="6766560" cy="4480560"/>
          </a:xfrm>
          <a:prstGeom prst="roundRect">
            <a:avLst>
              <a:gd name="adj" fmla="val 1633"/>
            </a:avLst>
          </a:prstGeom>
          <a:solidFill>
            <a:srgbClr val="FFFFFF"/>
          </a:solidFill>
          <a:ln w="12700">
            <a:solidFill>
              <a:srgbClr val="E2E8F0"/>
            </a:solidFill>
            <a:prstDash val="solid"/>
          </a:ln>
          <a:effectLst>
            <a:outerShdw sx="100000" sy="100000" kx="0" ky="0" algn="bl" rotWithShape="0" blurRad="88900" dist="38100" dir="8100000">
              <a:srgbClr val="000000">
                <a:alpha val="16000"/>
              </a:srgbClr>
            </a:outerShdw>
          </a:effectLst>
        </p:spPr>
      </p:sp>
      <p:sp>
        <p:nvSpPr>
          <p:cNvPr id="7" name="Text 5"/>
          <p:cNvSpPr/>
          <p:nvPr/>
        </p:nvSpPr>
        <p:spPr>
          <a:xfrm>
            <a:off x="868680" y="1600200"/>
            <a:ext cx="6126480" cy="365760"/>
          </a:xfrm>
          <a:prstGeom prst="rect">
            <a:avLst/>
          </a:prstGeom>
          <a:noFill/>
          <a:ln/>
        </p:spPr>
        <p:txBody>
          <a:bodyPr wrap="square" rtlCol="0" anchor="ctr"/>
          <a:lstStyle/>
          <a:p>
            <a:pPr indent="0" marL="0">
              <a:buNone/>
            </a:pPr>
            <a:r>
              <a:rPr lang="en-US" sz="1600" b="1" dirty="0">
                <a:solidFill>
                  <a:srgbClr val="11998E"/>
                </a:solidFill>
              </a:rPr>
              <a:t>The challenge</a:t>
            </a:r>
            <a:endParaRPr lang="en-US" sz="1600" dirty="0"/>
          </a:p>
        </p:txBody>
      </p:sp>
      <p:sp>
        <p:nvSpPr>
          <p:cNvPr id="8" name="Text 6"/>
          <p:cNvSpPr/>
          <p:nvPr/>
        </p:nvSpPr>
        <p:spPr>
          <a:xfrm>
            <a:off x="868680" y="2057400"/>
            <a:ext cx="6217920" cy="3566160"/>
          </a:xfrm>
          <a:prstGeom prst="rect">
            <a:avLst/>
          </a:prstGeom>
          <a:noFill/>
          <a:ln/>
        </p:spPr>
        <p:txBody>
          <a:bodyPr wrap="square" rtlCol="0" anchor="ctr"/>
          <a:lstStyle/>
          <a:p>
            <a:pPr marL="342900" indent="-342900">
              <a:lnSpc>
                <a:spcPct val="125000"/>
              </a:lnSpc>
              <a:spcAft>
                <a:spcPts val="1000"/>
              </a:spcAft>
              <a:buSzPct val="100000"/>
              <a:buChar char="•"/>
            </a:pPr>
            <a:r>
              <a:rPr lang="en-US" sz="1550" dirty="0">
                <a:solidFill>
                  <a:srgbClr val="1F2D3D"/>
                </a:solidFill>
              </a:rPr>
              <a:t>Generative AI has made fake news cheap, fluent and convincing - produced faster than humans can fact-check it.</a:t>
            </a:r>
            <a:endParaRPr lang="en-US" sz="1550" dirty="0"/>
          </a:p>
          <a:p>
            <a:pPr marL="342900" indent="-342900">
              <a:lnSpc>
                <a:spcPct val="125000"/>
              </a:lnSpc>
              <a:spcAft>
                <a:spcPts val="1000"/>
              </a:spcAft>
              <a:buSzPct val="100000"/>
              <a:buChar char="•"/>
            </a:pPr>
            <a:r>
              <a:rPr lang="en-US" sz="1550" dirty="0">
                <a:solidFill>
                  <a:srgbClr val="1F2D3D"/>
                </a:solidFill>
              </a:rPr>
              <a:t>Misinformation distorts elections, public health, and financial markets.</a:t>
            </a:r>
            <a:endParaRPr lang="en-US" sz="1550" dirty="0"/>
          </a:p>
          <a:p>
            <a:pPr marL="342900" indent="-342900">
              <a:lnSpc>
                <a:spcPct val="125000"/>
              </a:lnSpc>
              <a:spcAft>
                <a:spcPts val="1000"/>
              </a:spcAft>
              <a:buSzPct val="100000"/>
              <a:buChar char="•"/>
            </a:pPr>
            <a:r>
              <a:rPr lang="en-US" sz="1550" dirty="0">
                <a:solidFill>
                  <a:srgbClr val="1F2D3D"/>
                </a:solidFill>
              </a:rPr>
              <a:t>A bare 'FAKE' label isn't enough - users and moderators need reasons and evidence they can trust.</a:t>
            </a:r>
            <a:endParaRPr lang="en-US" sz="1550" dirty="0"/>
          </a:p>
          <a:p>
            <a:pPr marL="342900" indent="-342900">
              <a:lnSpc>
                <a:spcPct val="125000"/>
              </a:lnSpc>
              <a:spcAft>
                <a:spcPts val="1000"/>
              </a:spcAft>
              <a:buSzPct val="100000"/>
              <a:buChar char="•"/>
            </a:pPr>
            <a:r>
              <a:rPr lang="en-US" sz="1550" dirty="0">
                <a:solidFill>
                  <a:srgbClr val="1F2D3D"/>
                </a:solidFill>
              </a:rPr>
              <a:t>Many solutions need paid APIs or the cloud - impractical for offline, low-cost use.</a:t>
            </a:r>
            <a:endParaRPr lang="en-US" sz="1550" dirty="0"/>
          </a:p>
        </p:txBody>
      </p:sp>
      <p:sp>
        <p:nvSpPr>
          <p:cNvPr id="9" name="Shape 7"/>
          <p:cNvSpPr/>
          <p:nvPr/>
        </p:nvSpPr>
        <p:spPr>
          <a:xfrm>
            <a:off x="7589520" y="1371600"/>
            <a:ext cx="4023360" cy="4480560"/>
          </a:xfrm>
          <a:prstGeom prst="roundRect">
            <a:avLst>
              <a:gd name="adj" fmla="val 1818"/>
            </a:avLst>
          </a:prstGeom>
          <a:solidFill>
            <a:srgbClr val="0F2027"/>
          </a:solidFill>
          <a:ln w="12700">
            <a:solidFill>
              <a:srgbClr val="E2E8F0"/>
            </a:solidFill>
            <a:prstDash val="solid"/>
          </a:ln>
          <a:effectLst>
            <a:outerShdw sx="100000" sy="100000" kx="0" ky="0" algn="bl" rotWithShape="0" blurRad="88900" dist="38100" dir="8100000">
              <a:srgbClr val="000000">
                <a:alpha val="16000"/>
              </a:srgbClr>
            </a:outerShdw>
          </a:effectLst>
        </p:spPr>
      </p:sp>
      <p:sp>
        <p:nvSpPr>
          <p:cNvPr id="10" name="Text 8"/>
          <p:cNvSpPr/>
          <p:nvPr/>
        </p:nvSpPr>
        <p:spPr>
          <a:xfrm>
            <a:off x="7863840" y="1691640"/>
            <a:ext cx="3474720" cy="365760"/>
          </a:xfrm>
          <a:prstGeom prst="rect">
            <a:avLst/>
          </a:prstGeom>
          <a:noFill/>
          <a:ln/>
        </p:spPr>
        <p:txBody>
          <a:bodyPr wrap="square" rtlCol="0" anchor="ctr"/>
          <a:lstStyle/>
          <a:p>
            <a:pPr indent="0" marL="0">
              <a:buNone/>
            </a:pPr>
            <a:r>
              <a:rPr lang="en-US" sz="1400" b="1" spc="200" kern="0" dirty="0">
                <a:solidFill>
                  <a:srgbClr val="9BE3D8"/>
                </a:solidFill>
              </a:rPr>
              <a:t>GOAL</a:t>
            </a:r>
            <a:endParaRPr lang="en-US" sz="1400" dirty="0"/>
          </a:p>
        </p:txBody>
      </p:sp>
      <p:sp>
        <p:nvSpPr>
          <p:cNvPr id="11" name="Text 9"/>
          <p:cNvSpPr/>
          <p:nvPr/>
        </p:nvSpPr>
        <p:spPr>
          <a:xfrm>
            <a:off x="7863840" y="2148840"/>
            <a:ext cx="3520440" cy="914400"/>
          </a:xfrm>
          <a:prstGeom prst="rect">
            <a:avLst/>
          </a:prstGeom>
          <a:noFill/>
          <a:ln/>
        </p:spPr>
        <p:txBody>
          <a:bodyPr wrap="square" rtlCol="0" anchor="ctr"/>
          <a:lstStyle/>
          <a:p>
            <a:pPr indent="0" marL="0">
              <a:buNone/>
            </a:pPr>
            <a:r>
              <a:rPr lang="en-US" sz="1700" b="1" dirty="0">
                <a:solidFill>
                  <a:srgbClr val="FFFFFF"/>
                </a:solidFill>
              </a:rPr>
              <a:t>Given any article, decide REAL vs FAKE -</a:t>
            </a:r>
            <a:endParaRPr lang="en-US" sz="1700" dirty="0"/>
          </a:p>
        </p:txBody>
      </p:sp>
      <p:sp>
        <p:nvSpPr>
          <p:cNvPr id="12" name="Text 10"/>
          <p:cNvSpPr/>
          <p:nvPr/>
        </p:nvSpPr>
        <p:spPr>
          <a:xfrm>
            <a:off x="7955280" y="3291840"/>
            <a:ext cx="3383280" cy="2286000"/>
          </a:xfrm>
          <a:prstGeom prst="rect">
            <a:avLst/>
          </a:prstGeom>
          <a:noFill/>
          <a:ln/>
        </p:spPr>
        <p:txBody>
          <a:bodyPr wrap="square" rtlCol="0" anchor="ctr"/>
          <a:lstStyle/>
          <a:p>
            <a:pPr marL="342900" indent="-342900">
              <a:lnSpc>
                <a:spcPct val="140000"/>
              </a:lnSpc>
              <a:spcAft>
                <a:spcPts val="800"/>
              </a:spcAft>
              <a:buSzPct val="100000"/>
              <a:buChar char="✓"/>
            </a:pPr>
            <a:r>
              <a:rPr lang="en-US" sz="1600" dirty="0">
                <a:solidFill>
                  <a:srgbClr val="9BE3D8"/>
                </a:solidFill>
              </a:rPr>
              <a:t>accurately</a:t>
            </a:r>
            <a:endParaRPr lang="en-US" sz="1600" dirty="0"/>
          </a:p>
          <a:p>
            <a:pPr marL="342900" indent="-342900">
              <a:lnSpc>
                <a:spcPct val="140000"/>
              </a:lnSpc>
              <a:spcAft>
                <a:spcPts val="800"/>
              </a:spcAft>
              <a:buSzPct val="100000"/>
              <a:buChar char="✓"/>
            </a:pPr>
            <a:r>
              <a:rPr lang="en-US" sz="1600" dirty="0">
                <a:solidFill>
                  <a:srgbClr val="9BE3D8"/>
                </a:solidFill>
              </a:rPr>
              <a:t>explainably</a:t>
            </a:r>
            <a:endParaRPr lang="en-US" sz="1600" dirty="0"/>
          </a:p>
          <a:p>
            <a:pPr marL="342900" indent="-342900">
              <a:lnSpc>
                <a:spcPct val="140000"/>
              </a:lnSpc>
              <a:spcAft>
                <a:spcPts val="800"/>
              </a:spcAft>
              <a:buSzPct val="100000"/>
              <a:buChar char="✓"/>
            </a:pPr>
            <a:r>
              <a:rPr lang="en-US" sz="1600" dirty="0">
                <a:solidFill>
                  <a:srgbClr val="9BE3D8"/>
                </a:solidFill>
              </a:rPr>
              <a:t>grounded in evidence</a:t>
            </a:r>
            <a:endParaRPr lang="en-US" sz="1600" dirty="0"/>
          </a:p>
          <a:p>
            <a:pPr marL="342900" indent="-342900">
              <a:lnSpc>
                <a:spcPct val="140000"/>
              </a:lnSpc>
              <a:spcAft>
                <a:spcPts val="800"/>
              </a:spcAft>
              <a:buSzPct val="100000"/>
              <a:buChar char="✓"/>
            </a:pPr>
            <a:r>
              <a:rPr lang="en-US" sz="1600" dirty="0">
                <a:solidFill>
                  <a:srgbClr val="9BE3D8"/>
                </a:solidFill>
              </a:rPr>
              <a:t>fully offline, no API key</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566928"/>
            <a:ext cx="146304" cy="384048"/>
          </a:xfrm>
          <a:prstGeom prst="rect">
            <a:avLst/>
          </a:prstGeom>
          <a:solidFill>
            <a:srgbClr val="11998E"/>
          </a:solidFill>
          <a:ln/>
        </p:spPr>
      </p:sp>
      <p:sp>
        <p:nvSpPr>
          <p:cNvPr id="3" name="Text 1"/>
          <p:cNvSpPr/>
          <p:nvPr/>
        </p:nvSpPr>
        <p:spPr>
          <a:xfrm>
            <a:off x="822960" y="502920"/>
            <a:ext cx="10789920" cy="548640"/>
          </a:xfrm>
          <a:prstGeom prst="rect">
            <a:avLst/>
          </a:prstGeom>
          <a:noFill/>
          <a:ln/>
        </p:spPr>
        <p:txBody>
          <a:bodyPr wrap="square" lIns="0" tIns="0" rIns="0" bIns="0" rtlCol="0" anchor="ctr"/>
          <a:lstStyle/>
          <a:p>
            <a:pPr algn="l" indent="0" marL="0">
              <a:buNone/>
            </a:pPr>
            <a:r>
              <a:rPr lang="en-US" sz="2800" b="1" dirty="0">
                <a:solidFill>
                  <a:srgbClr val="203A43"/>
                </a:solidFill>
                <a:latin typeface="Calibri" pitchFamily="34" charset="0"/>
                <a:ea typeface="Calibri" pitchFamily="34" charset="-122"/>
                <a:cs typeface="Calibri" pitchFamily="34" charset="-120"/>
              </a:rPr>
              <a:t>Objectives</a:t>
            </a:r>
            <a:endParaRPr lang="en-US" sz="2800" dirty="0"/>
          </a:p>
        </p:txBody>
      </p:sp>
      <p:sp>
        <p:nvSpPr>
          <p:cNvPr id="4" name="Text 2"/>
          <p:cNvSpPr/>
          <p:nvPr/>
        </p:nvSpPr>
        <p:spPr>
          <a:xfrm>
            <a:off x="548640" y="6437376"/>
            <a:ext cx="5486400" cy="274320"/>
          </a:xfrm>
          <a:prstGeom prst="rect">
            <a:avLst/>
          </a:prstGeom>
          <a:noFill/>
          <a:ln/>
        </p:spPr>
        <p:txBody>
          <a:bodyPr wrap="square" rtlCol="0" anchor="ctr"/>
          <a:lstStyle/>
          <a:p>
            <a:pPr algn="l" indent="0" marL="0">
              <a:buNone/>
            </a:pPr>
            <a:r>
              <a:rPr lang="en-US" sz="900" dirty="0">
                <a:solidFill>
                  <a:srgbClr val="64748B"/>
                </a:solidFill>
              </a:rPr>
              <a:t>TruthLens AI</a:t>
            </a:r>
            <a:endParaRPr lang="en-US" sz="900" dirty="0"/>
          </a:p>
        </p:txBody>
      </p:sp>
      <p:sp>
        <p:nvSpPr>
          <p:cNvPr id="5" name="Text 3"/>
          <p:cNvSpPr/>
          <p:nvPr/>
        </p:nvSpPr>
        <p:spPr>
          <a:xfrm>
            <a:off x="10058400" y="6437376"/>
            <a:ext cx="1581912" cy="274320"/>
          </a:xfrm>
          <a:prstGeom prst="rect">
            <a:avLst/>
          </a:prstGeom>
          <a:noFill/>
          <a:ln/>
        </p:spPr>
        <p:txBody>
          <a:bodyPr wrap="square" rtlCol="0" anchor="ctr"/>
          <a:lstStyle/>
          <a:p>
            <a:pPr algn="r" indent="0" marL="0">
              <a:buNone/>
            </a:pPr>
            <a:r>
              <a:rPr lang="en-US" sz="900" dirty="0">
                <a:solidFill>
                  <a:srgbClr val="64748B"/>
                </a:solidFill>
              </a:rPr>
              <a:t>3 / 20</a:t>
            </a:r>
            <a:endParaRPr lang="en-US" sz="900" dirty="0"/>
          </a:p>
        </p:txBody>
      </p:sp>
      <p:sp>
        <p:nvSpPr>
          <p:cNvPr id="6" name="Shape 4"/>
          <p:cNvSpPr/>
          <p:nvPr/>
        </p:nvSpPr>
        <p:spPr>
          <a:xfrm>
            <a:off x="548640" y="1481328"/>
            <a:ext cx="3611880" cy="2011680"/>
          </a:xfrm>
          <a:prstGeom prst="roundRect">
            <a:avLst>
              <a:gd name="adj" fmla="val 3636"/>
            </a:avLst>
          </a:prstGeom>
          <a:solidFill>
            <a:srgbClr val="FFFFFF"/>
          </a:solidFill>
          <a:ln w="12700">
            <a:solidFill>
              <a:srgbClr val="E2E8F0"/>
            </a:solidFill>
            <a:prstDash val="solid"/>
          </a:ln>
          <a:effectLst>
            <a:outerShdw sx="100000" sy="100000" kx="0" ky="0" algn="bl" rotWithShape="0" blurRad="88900" dist="38100" dir="8100000">
              <a:srgbClr val="000000">
                <a:alpha val="16000"/>
              </a:srgbClr>
            </a:outerShdw>
          </a:effectLst>
        </p:spPr>
      </p:sp>
      <p:sp>
        <p:nvSpPr>
          <p:cNvPr id="7" name="Shape 5"/>
          <p:cNvSpPr/>
          <p:nvPr/>
        </p:nvSpPr>
        <p:spPr>
          <a:xfrm>
            <a:off x="804672" y="1737360"/>
            <a:ext cx="457200" cy="457200"/>
          </a:xfrm>
          <a:prstGeom prst="ellipse">
            <a:avLst/>
          </a:prstGeom>
          <a:solidFill>
            <a:srgbClr val="11998E"/>
          </a:solidFill>
          <a:ln/>
        </p:spPr>
      </p:sp>
      <p:sp>
        <p:nvSpPr>
          <p:cNvPr id="8" name="Text 6"/>
          <p:cNvSpPr/>
          <p:nvPr/>
        </p:nvSpPr>
        <p:spPr>
          <a:xfrm>
            <a:off x="804672" y="173736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rPr>
              <a:t>1</a:t>
            </a:r>
            <a:endParaRPr lang="en-US" sz="1500" dirty="0"/>
          </a:p>
        </p:txBody>
      </p:sp>
      <p:sp>
        <p:nvSpPr>
          <p:cNvPr id="9" name="Text 7"/>
          <p:cNvSpPr/>
          <p:nvPr/>
        </p:nvSpPr>
        <p:spPr>
          <a:xfrm>
            <a:off x="1417320" y="1755648"/>
            <a:ext cx="2606040" cy="457200"/>
          </a:xfrm>
          <a:prstGeom prst="rect">
            <a:avLst/>
          </a:prstGeom>
          <a:noFill/>
          <a:ln/>
        </p:spPr>
        <p:txBody>
          <a:bodyPr wrap="square" lIns="0" tIns="0" rIns="0" bIns="0" rtlCol="0" anchor="ctr"/>
          <a:lstStyle/>
          <a:p>
            <a:pPr indent="0" marL="0">
              <a:buNone/>
            </a:pPr>
            <a:r>
              <a:rPr lang="en-US" sz="1550" b="1" dirty="0">
                <a:solidFill>
                  <a:srgbClr val="203A43"/>
                </a:solidFill>
              </a:rPr>
              <a:t>Accurate classifier</a:t>
            </a:r>
            <a:endParaRPr lang="en-US" sz="1550" dirty="0"/>
          </a:p>
        </p:txBody>
      </p:sp>
      <p:sp>
        <p:nvSpPr>
          <p:cNvPr id="10" name="Text 8"/>
          <p:cNvSpPr/>
          <p:nvPr/>
        </p:nvSpPr>
        <p:spPr>
          <a:xfrm>
            <a:off x="822960" y="2350008"/>
            <a:ext cx="3063240" cy="1005840"/>
          </a:xfrm>
          <a:prstGeom prst="rect">
            <a:avLst/>
          </a:prstGeom>
          <a:noFill/>
          <a:ln/>
        </p:spPr>
        <p:txBody>
          <a:bodyPr wrap="square" rtlCol="0" anchor="ctr"/>
          <a:lstStyle/>
          <a:p>
            <a:pPr indent="0" marL="0">
              <a:lnSpc>
                <a:spcPct val="115000"/>
              </a:lnSpc>
              <a:buNone/>
            </a:pPr>
            <a:r>
              <a:rPr lang="en-US" sz="1300" dirty="0">
                <a:solidFill>
                  <a:srgbClr val="1F2D3D"/>
                </a:solidFill>
              </a:rPr>
              <a:t>Distinguish real vs fake news with an interpretable ML model.</a:t>
            </a:r>
            <a:endParaRPr lang="en-US" sz="1300" dirty="0"/>
          </a:p>
        </p:txBody>
      </p:sp>
      <p:sp>
        <p:nvSpPr>
          <p:cNvPr id="11" name="Shape 9"/>
          <p:cNvSpPr/>
          <p:nvPr/>
        </p:nvSpPr>
        <p:spPr>
          <a:xfrm>
            <a:off x="4224528" y="1481328"/>
            <a:ext cx="3611880" cy="2011680"/>
          </a:xfrm>
          <a:prstGeom prst="roundRect">
            <a:avLst>
              <a:gd name="adj" fmla="val 3636"/>
            </a:avLst>
          </a:prstGeom>
          <a:solidFill>
            <a:srgbClr val="FFFFFF"/>
          </a:solidFill>
          <a:ln w="12700">
            <a:solidFill>
              <a:srgbClr val="E2E8F0"/>
            </a:solidFill>
            <a:prstDash val="solid"/>
          </a:ln>
          <a:effectLst>
            <a:outerShdw sx="100000" sy="100000" kx="0" ky="0" algn="bl" rotWithShape="0" blurRad="88900" dist="38100" dir="8100000">
              <a:srgbClr val="000000">
                <a:alpha val="16000"/>
              </a:srgbClr>
            </a:outerShdw>
          </a:effectLst>
        </p:spPr>
      </p:sp>
      <p:sp>
        <p:nvSpPr>
          <p:cNvPr id="12" name="Shape 10"/>
          <p:cNvSpPr/>
          <p:nvPr/>
        </p:nvSpPr>
        <p:spPr>
          <a:xfrm>
            <a:off x="4480560" y="1737360"/>
            <a:ext cx="457200" cy="457200"/>
          </a:xfrm>
          <a:prstGeom prst="ellipse">
            <a:avLst/>
          </a:prstGeom>
          <a:solidFill>
            <a:srgbClr val="11998E"/>
          </a:solidFill>
          <a:ln/>
        </p:spPr>
      </p:sp>
      <p:sp>
        <p:nvSpPr>
          <p:cNvPr id="13" name="Text 11"/>
          <p:cNvSpPr/>
          <p:nvPr/>
        </p:nvSpPr>
        <p:spPr>
          <a:xfrm>
            <a:off x="4480560" y="173736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rPr>
              <a:t>2</a:t>
            </a:r>
            <a:endParaRPr lang="en-US" sz="1500" dirty="0"/>
          </a:p>
        </p:txBody>
      </p:sp>
      <p:sp>
        <p:nvSpPr>
          <p:cNvPr id="14" name="Text 12"/>
          <p:cNvSpPr/>
          <p:nvPr/>
        </p:nvSpPr>
        <p:spPr>
          <a:xfrm>
            <a:off x="5093208" y="1755648"/>
            <a:ext cx="2606040" cy="457200"/>
          </a:xfrm>
          <a:prstGeom prst="rect">
            <a:avLst/>
          </a:prstGeom>
          <a:noFill/>
          <a:ln/>
        </p:spPr>
        <p:txBody>
          <a:bodyPr wrap="square" lIns="0" tIns="0" rIns="0" bIns="0" rtlCol="0" anchor="ctr"/>
          <a:lstStyle/>
          <a:p>
            <a:pPr indent="0" marL="0">
              <a:buNone/>
            </a:pPr>
            <a:r>
              <a:rPr lang="en-US" sz="1550" b="1" dirty="0">
                <a:solidFill>
                  <a:srgbClr val="203A43"/>
                </a:solidFill>
              </a:rPr>
              <a:t>Explainability</a:t>
            </a:r>
            <a:endParaRPr lang="en-US" sz="1550" dirty="0"/>
          </a:p>
        </p:txBody>
      </p:sp>
      <p:sp>
        <p:nvSpPr>
          <p:cNvPr id="15" name="Text 13"/>
          <p:cNvSpPr/>
          <p:nvPr/>
        </p:nvSpPr>
        <p:spPr>
          <a:xfrm>
            <a:off x="4498848" y="2350008"/>
            <a:ext cx="3063240" cy="1005840"/>
          </a:xfrm>
          <a:prstGeom prst="rect">
            <a:avLst/>
          </a:prstGeom>
          <a:noFill/>
          <a:ln/>
        </p:spPr>
        <p:txBody>
          <a:bodyPr wrap="square" rtlCol="0" anchor="ctr"/>
          <a:lstStyle/>
          <a:p>
            <a:pPr indent="0" marL="0">
              <a:lnSpc>
                <a:spcPct val="115000"/>
              </a:lnSpc>
              <a:buNone/>
            </a:pPr>
            <a:r>
              <a:rPr lang="en-US" sz="1300" dirty="0">
                <a:solidFill>
                  <a:srgbClr val="1F2D3D"/>
                </a:solidFill>
              </a:rPr>
              <a:t>Expose the linguistic signals and terms behind each verdict.</a:t>
            </a:r>
            <a:endParaRPr lang="en-US" sz="1300" dirty="0"/>
          </a:p>
        </p:txBody>
      </p:sp>
      <p:sp>
        <p:nvSpPr>
          <p:cNvPr id="16" name="Shape 14"/>
          <p:cNvSpPr/>
          <p:nvPr/>
        </p:nvSpPr>
        <p:spPr>
          <a:xfrm>
            <a:off x="7900416" y="1481328"/>
            <a:ext cx="3611880" cy="2011680"/>
          </a:xfrm>
          <a:prstGeom prst="roundRect">
            <a:avLst>
              <a:gd name="adj" fmla="val 3636"/>
            </a:avLst>
          </a:prstGeom>
          <a:solidFill>
            <a:srgbClr val="FFFFFF"/>
          </a:solidFill>
          <a:ln w="12700">
            <a:solidFill>
              <a:srgbClr val="E2E8F0"/>
            </a:solidFill>
            <a:prstDash val="solid"/>
          </a:ln>
          <a:effectLst>
            <a:outerShdw sx="100000" sy="100000" kx="0" ky="0" algn="bl" rotWithShape="0" blurRad="88900" dist="38100" dir="8100000">
              <a:srgbClr val="000000">
                <a:alpha val="16000"/>
              </a:srgbClr>
            </a:outerShdw>
          </a:effectLst>
        </p:spPr>
      </p:sp>
      <p:sp>
        <p:nvSpPr>
          <p:cNvPr id="17" name="Shape 15"/>
          <p:cNvSpPr/>
          <p:nvPr/>
        </p:nvSpPr>
        <p:spPr>
          <a:xfrm>
            <a:off x="8156448" y="1737360"/>
            <a:ext cx="457200" cy="457200"/>
          </a:xfrm>
          <a:prstGeom prst="ellipse">
            <a:avLst/>
          </a:prstGeom>
          <a:solidFill>
            <a:srgbClr val="11998E"/>
          </a:solidFill>
          <a:ln/>
        </p:spPr>
      </p:sp>
      <p:sp>
        <p:nvSpPr>
          <p:cNvPr id="18" name="Text 16"/>
          <p:cNvSpPr/>
          <p:nvPr/>
        </p:nvSpPr>
        <p:spPr>
          <a:xfrm>
            <a:off x="8156448" y="173736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rPr>
              <a:t>3</a:t>
            </a:r>
            <a:endParaRPr lang="en-US" sz="1500" dirty="0"/>
          </a:p>
        </p:txBody>
      </p:sp>
      <p:sp>
        <p:nvSpPr>
          <p:cNvPr id="19" name="Text 17"/>
          <p:cNvSpPr/>
          <p:nvPr/>
        </p:nvSpPr>
        <p:spPr>
          <a:xfrm>
            <a:off x="8769096" y="1755648"/>
            <a:ext cx="2606040" cy="457200"/>
          </a:xfrm>
          <a:prstGeom prst="rect">
            <a:avLst/>
          </a:prstGeom>
          <a:noFill/>
          <a:ln/>
        </p:spPr>
        <p:txBody>
          <a:bodyPr wrap="square" lIns="0" tIns="0" rIns="0" bIns="0" rtlCol="0" anchor="ctr"/>
          <a:lstStyle/>
          <a:p>
            <a:pPr indent="0" marL="0">
              <a:buNone/>
            </a:pPr>
            <a:r>
              <a:rPr lang="en-US" sz="1550" b="1" dirty="0">
                <a:solidFill>
                  <a:srgbClr val="203A43"/>
                </a:solidFill>
              </a:rPr>
              <a:t>RAG fact-check</a:t>
            </a:r>
            <a:endParaRPr lang="en-US" sz="1550" dirty="0"/>
          </a:p>
        </p:txBody>
      </p:sp>
      <p:sp>
        <p:nvSpPr>
          <p:cNvPr id="20" name="Text 18"/>
          <p:cNvSpPr/>
          <p:nvPr/>
        </p:nvSpPr>
        <p:spPr>
          <a:xfrm>
            <a:off x="8174736" y="2350008"/>
            <a:ext cx="3063240" cy="1005840"/>
          </a:xfrm>
          <a:prstGeom prst="rect">
            <a:avLst/>
          </a:prstGeom>
          <a:noFill/>
          <a:ln/>
        </p:spPr>
        <p:txBody>
          <a:bodyPr wrap="square" rtlCol="0" anchor="ctr"/>
          <a:lstStyle/>
          <a:p>
            <a:pPr indent="0" marL="0">
              <a:lnSpc>
                <a:spcPct val="115000"/>
              </a:lnSpc>
              <a:buNone/>
            </a:pPr>
            <a:r>
              <a:rPr lang="en-US" sz="1300" dirty="0">
                <a:solidFill>
                  <a:srgbClr val="1F2D3D"/>
                </a:solidFill>
              </a:rPr>
              <a:t>Ground verdicts in a verified knowledge base via retrieval.</a:t>
            </a:r>
            <a:endParaRPr lang="en-US" sz="1300" dirty="0"/>
          </a:p>
        </p:txBody>
      </p:sp>
      <p:sp>
        <p:nvSpPr>
          <p:cNvPr id="21" name="Shape 19"/>
          <p:cNvSpPr/>
          <p:nvPr/>
        </p:nvSpPr>
        <p:spPr>
          <a:xfrm>
            <a:off x="548640" y="3703320"/>
            <a:ext cx="3611880" cy="2011680"/>
          </a:xfrm>
          <a:prstGeom prst="roundRect">
            <a:avLst>
              <a:gd name="adj" fmla="val 3636"/>
            </a:avLst>
          </a:prstGeom>
          <a:solidFill>
            <a:srgbClr val="FFFFFF"/>
          </a:solidFill>
          <a:ln w="12700">
            <a:solidFill>
              <a:srgbClr val="E2E8F0"/>
            </a:solidFill>
            <a:prstDash val="solid"/>
          </a:ln>
          <a:effectLst>
            <a:outerShdw sx="100000" sy="100000" kx="0" ky="0" algn="bl" rotWithShape="0" blurRad="88900" dist="38100" dir="8100000">
              <a:srgbClr val="000000">
                <a:alpha val="16000"/>
              </a:srgbClr>
            </a:outerShdw>
          </a:effectLst>
        </p:spPr>
      </p:sp>
      <p:sp>
        <p:nvSpPr>
          <p:cNvPr id="22" name="Shape 20"/>
          <p:cNvSpPr/>
          <p:nvPr/>
        </p:nvSpPr>
        <p:spPr>
          <a:xfrm>
            <a:off x="804672" y="3959352"/>
            <a:ext cx="457200" cy="457200"/>
          </a:xfrm>
          <a:prstGeom prst="ellipse">
            <a:avLst/>
          </a:prstGeom>
          <a:solidFill>
            <a:srgbClr val="11998E"/>
          </a:solidFill>
          <a:ln/>
        </p:spPr>
      </p:sp>
      <p:sp>
        <p:nvSpPr>
          <p:cNvPr id="23" name="Text 21"/>
          <p:cNvSpPr/>
          <p:nvPr/>
        </p:nvSpPr>
        <p:spPr>
          <a:xfrm>
            <a:off x="804672" y="3959352"/>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rPr>
              <a:t>4</a:t>
            </a:r>
            <a:endParaRPr lang="en-US" sz="1500" dirty="0"/>
          </a:p>
        </p:txBody>
      </p:sp>
      <p:sp>
        <p:nvSpPr>
          <p:cNvPr id="24" name="Text 22"/>
          <p:cNvSpPr/>
          <p:nvPr/>
        </p:nvSpPr>
        <p:spPr>
          <a:xfrm>
            <a:off x="1417320" y="3977640"/>
            <a:ext cx="2606040" cy="457200"/>
          </a:xfrm>
          <a:prstGeom prst="rect">
            <a:avLst/>
          </a:prstGeom>
          <a:noFill/>
          <a:ln/>
        </p:spPr>
        <p:txBody>
          <a:bodyPr wrap="square" lIns="0" tIns="0" rIns="0" bIns="0" rtlCol="0" anchor="ctr"/>
          <a:lstStyle/>
          <a:p>
            <a:pPr indent="0" marL="0">
              <a:buNone/>
            </a:pPr>
            <a:r>
              <a:rPr lang="en-US" sz="1550" b="1" dirty="0">
                <a:solidFill>
                  <a:srgbClr val="203A43"/>
                </a:solidFill>
              </a:rPr>
              <a:t>Agentic design</a:t>
            </a:r>
            <a:endParaRPr lang="en-US" sz="1550" dirty="0"/>
          </a:p>
        </p:txBody>
      </p:sp>
      <p:sp>
        <p:nvSpPr>
          <p:cNvPr id="25" name="Text 23"/>
          <p:cNvSpPr/>
          <p:nvPr/>
        </p:nvSpPr>
        <p:spPr>
          <a:xfrm>
            <a:off x="822960" y="4572000"/>
            <a:ext cx="3063240" cy="1005840"/>
          </a:xfrm>
          <a:prstGeom prst="rect">
            <a:avLst/>
          </a:prstGeom>
          <a:noFill/>
          <a:ln/>
        </p:spPr>
        <p:txBody>
          <a:bodyPr wrap="square" rtlCol="0" anchor="ctr"/>
          <a:lstStyle/>
          <a:p>
            <a:pPr indent="0" marL="0">
              <a:lnSpc>
                <a:spcPct val="115000"/>
              </a:lnSpc>
              <a:buNone/>
            </a:pPr>
            <a:r>
              <a:rPr lang="en-US" sz="1300" dirty="0">
                <a:solidFill>
                  <a:srgbClr val="1F2D3D"/>
                </a:solidFill>
              </a:rPr>
              <a:t>Coordinate specialised agents with a transparent reasoning trace.</a:t>
            </a:r>
            <a:endParaRPr lang="en-US" sz="1300" dirty="0"/>
          </a:p>
        </p:txBody>
      </p:sp>
      <p:sp>
        <p:nvSpPr>
          <p:cNvPr id="26" name="Shape 24"/>
          <p:cNvSpPr/>
          <p:nvPr/>
        </p:nvSpPr>
        <p:spPr>
          <a:xfrm>
            <a:off x="4224528" y="3703320"/>
            <a:ext cx="3611880" cy="2011680"/>
          </a:xfrm>
          <a:prstGeom prst="roundRect">
            <a:avLst>
              <a:gd name="adj" fmla="val 3636"/>
            </a:avLst>
          </a:prstGeom>
          <a:solidFill>
            <a:srgbClr val="FFFFFF"/>
          </a:solidFill>
          <a:ln w="12700">
            <a:solidFill>
              <a:srgbClr val="E2E8F0"/>
            </a:solidFill>
            <a:prstDash val="solid"/>
          </a:ln>
          <a:effectLst>
            <a:outerShdw sx="100000" sy="100000" kx="0" ky="0" algn="bl" rotWithShape="0" blurRad="88900" dist="38100" dir="8100000">
              <a:srgbClr val="000000">
                <a:alpha val="16000"/>
              </a:srgbClr>
            </a:outerShdw>
          </a:effectLst>
        </p:spPr>
      </p:sp>
      <p:sp>
        <p:nvSpPr>
          <p:cNvPr id="27" name="Shape 25"/>
          <p:cNvSpPr/>
          <p:nvPr/>
        </p:nvSpPr>
        <p:spPr>
          <a:xfrm>
            <a:off x="4480560" y="3959352"/>
            <a:ext cx="457200" cy="457200"/>
          </a:xfrm>
          <a:prstGeom prst="ellipse">
            <a:avLst/>
          </a:prstGeom>
          <a:solidFill>
            <a:srgbClr val="11998E"/>
          </a:solidFill>
          <a:ln/>
        </p:spPr>
      </p:sp>
      <p:sp>
        <p:nvSpPr>
          <p:cNvPr id="28" name="Text 26"/>
          <p:cNvSpPr/>
          <p:nvPr/>
        </p:nvSpPr>
        <p:spPr>
          <a:xfrm>
            <a:off x="4480560" y="3959352"/>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rPr>
              <a:t>5</a:t>
            </a:r>
            <a:endParaRPr lang="en-US" sz="1500" dirty="0"/>
          </a:p>
        </p:txBody>
      </p:sp>
      <p:sp>
        <p:nvSpPr>
          <p:cNvPr id="29" name="Text 27"/>
          <p:cNvSpPr/>
          <p:nvPr/>
        </p:nvSpPr>
        <p:spPr>
          <a:xfrm>
            <a:off x="5093208" y="3977640"/>
            <a:ext cx="2606040" cy="457200"/>
          </a:xfrm>
          <a:prstGeom prst="rect">
            <a:avLst/>
          </a:prstGeom>
          <a:noFill/>
          <a:ln/>
        </p:spPr>
        <p:txBody>
          <a:bodyPr wrap="square" lIns="0" tIns="0" rIns="0" bIns="0" rtlCol="0" anchor="ctr"/>
          <a:lstStyle/>
          <a:p>
            <a:pPr indent="0" marL="0">
              <a:buNone/>
            </a:pPr>
            <a:r>
              <a:rPr lang="en-US" sz="1550" b="1" dirty="0">
                <a:solidFill>
                  <a:srgbClr val="203A43"/>
                </a:solidFill>
              </a:rPr>
              <a:t>Generative AI</a:t>
            </a:r>
            <a:endParaRPr lang="en-US" sz="1550" dirty="0"/>
          </a:p>
        </p:txBody>
      </p:sp>
      <p:sp>
        <p:nvSpPr>
          <p:cNvPr id="30" name="Text 28"/>
          <p:cNvSpPr/>
          <p:nvPr/>
        </p:nvSpPr>
        <p:spPr>
          <a:xfrm>
            <a:off x="4498848" y="4572000"/>
            <a:ext cx="3063240" cy="1005840"/>
          </a:xfrm>
          <a:prstGeom prst="rect">
            <a:avLst/>
          </a:prstGeom>
          <a:noFill/>
          <a:ln/>
        </p:spPr>
        <p:txBody>
          <a:bodyPr wrap="square" rtlCol="0" anchor="ctr"/>
          <a:lstStyle/>
          <a:p>
            <a:pPr indent="0" marL="0">
              <a:lnSpc>
                <a:spcPct val="115000"/>
              </a:lnSpc>
              <a:buNone/>
            </a:pPr>
            <a:r>
              <a:rPr lang="en-US" sz="1300" dirty="0">
                <a:solidFill>
                  <a:srgbClr val="1F2D3D"/>
                </a:solidFill>
              </a:rPr>
              <a:t>Natural-language explanations with a guaranteed offline fallback.</a:t>
            </a:r>
            <a:endParaRPr lang="en-US" sz="1300" dirty="0"/>
          </a:p>
        </p:txBody>
      </p:sp>
      <p:sp>
        <p:nvSpPr>
          <p:cNvPr id="31" name="Shape 29"/>
          <p:cNvSpPr/>
          <p:nvPr/>
        </p:nvSpPr>
        <p:spPr>
          <a:xfrm>
            <a:off x="7900416" y="3703320"/>
            <a:ext cx="3611880" cy="2011680"/>
          </a:xfrm>
          <a:prstGeom prst="roundRect">
            <a:avLst>
              <a:gd name="adj" fmla="val 3636"/>
            </a:avLst>
          </a:prstGeom>
          <a:solidFill>
            <a:srgbClr val="FFFFFF"/>
          </a:solidFill>
          <a:ln w="12700">
            <a:solidFill>
              <a:srgbClr val="E2E8F0"/>
            </a:solidFill>
            <a:prstDash val="solid"/>
          </a:ln>
          <a:effectLst>
            <a:outerShdw sx="100000" sy="100000" kx="0" ky="0" algn="bl" rotWithShape="0" blurRad="88900" dist="38100" dir="8100000">
              <a:srgbClr val="000000">
                <a:alpha val="16000"/>
              </a:srgbClr>
            </a:outerShdw>
          </a:effectLst>
        </p:spPr>
      </p:sp>
      <p:sp>
        <p:nvSpPr>
          <p:cNvPr id="32" name="Shape 30"/>
          <p:cNvSpPr/>
          <p:nvPr/>
        </p:nvSpPr>
        <p:spPr>
          <a:xfrm>
            <a:off x="8156448" y="3959352"/>
            <a:ext cx="457200" cy="457200"/>
          </a:xfrm>
          <a:prstGeom prst="ellipse">
            <a:avLst/>
          </a:prstGeom>
          <a:solidFill>
            <a:srgbClr val="11998E"/>
          </a:solidFill>
          <a:ln/>
        </p:spPr>
      </p:sp>
      <p:sp>
        <p:nvSpPr>
          <p:cNvPr id="33" name="Text 31"/>
          <p:cNvSpPr/>
          <p:nvPr/>
        </p:nvSpPr>
        <p:spPr>
          <a:xfrm>
            <a:off x="8156448" y="3959352"/>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rPr>
              <a:t>6</a:t>
            </a:r>
            <a:endParaRPr lang="en-US" sz="1500" dirty="0"/>
          </a:p>
        </p:txBody>
      </p:sp>
      <p:sp>
        <p:nvSpPr>
          <p:cNvPr id="34" name="Text 32"/>
          <p:cNvSpPr/>
          <p:nvPr/>
        </p:nvSpPr>
        <p:spPr>
          <a:xfrm>
            <a:off x="8769096" y="3977640"/>
            <a:ext cx="2606040" cy="457200"/>
          </a:xfrm>
          <a:prstGeom prst="rect">
            <a:avLst/>
          </a:prstGeom>
          <a:noFill/>
          <a:ln/>
        </p:spPr>
        <p:txBody>
          <a:bodyPr wrap="square" lIns="0" tIns="0" rIns="0" bIns="0" rtlCol="0" anchor="ctr"/>
          <a:lstStyle/>
          <a:p>
            <a:pPr indent="0" marL="0">
              <a:buNone/>
            </a:pPr>
            <a:r>
              <a:rPr lang="en-US" sz="1550" b="1" dirty="0">
                <a:solidFill>
                  <a:srgbClr val="203A43"/>
                </a:solidFill>
              </a:rPr>
              <a:t>Production quality</a:t>
            </a:r>
            <a:endParaRPr lang="en-US" sz="1550" dirty="0"/>
          </a:p>
        </p:txBody>
      </p:sp>
      <p:sp>
        <p:nvSpPr>
          <p:cNvPr id="35" name="Text 33"/>
          <p:cNvSpPr/>
          <p:nvPr/>
        </p:nvSpPr>
        <p:spPr>
          <a:xfrm>
            <a:off x="8174736" y="4572000"/>
            <a:ext cx="3063240" cy="1005840"/>
          </a:xfrm>
          <a:prstGeom prst="rect">
            <a:avLst/>
          </a:prstGeom>
          <a:noFill/>
          <a:ln/>
        </p:spPr>
        <p:txBody>
          <a:bodyPr wrap="square" rtlCol="0" anchor="ctr"/>
          <a:lstStyle/>
          <a:p>
            <a:pPr indent="0" marL="0">
              <a:lnSpc>
                <a:spcPct val="115000"/>
              </a:lnSpc>
              <a:buNone/>
            </a:pPr>
            <a:r>
              <a:rPr lang="en-US" sz="1300" dirty="0">
                <a:solidFill>
                  <a:srgbClr val="1F2D3D"/>
                </a:solidFill>
              </a:rPr>
              <a:t>Modern UI, modular code, tests, and full documentation.</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566928"/>
            <a:ext cx="146304" cy="384048"/>
          </a:xfrm>
          <a:prstGeom prst="rect">
            <a:avLst/>
          </a:prstGeom>
          <a:solidFill>
            <a:srgbClr val="11998E"/>
          </a:solidFill>
          <a:ln/>
        </p:spPr>
      </p:sp>
      <p:sp>
        <p:nvSpPr>
          <p:cNvPr id="3" name="Text 1"/>
          <p:cNvSpPr/>
          <p:nvPr/>
        </p:nvSpPr>
        <p:spPr>
          <a:xfrm>
            <a:off x="822960" y="502920"/>
            <a:ext cx="10789920" cy="548640"/>
          </a:xfrm>
          <a:prstGeom prst="rect">
            <a:avLst/>
          </a:prstGeom>
          <a:noFill/>
          <a:ln/>
        </p:spPr>
        <p:txBody>
          <a:bodyPr wrap="square" lIns="0" tIns="0" rIns="0" bIns="0" rtlCol="0" anchor="ctr"/>
          <a:lstStyle/>
          <a:p>
            <a:pPr algn="l" indent="0" marL="0">
              <a:buNone/>
            </a:pPr>
            <a:r>
              <a:rPr lang="en-US" sz="2800" b="1" dirty="0">
                <a:solidFill>
                  <a:srgbClr val="203A43"/>
                </a:solidFill>
                <a:latin typeface="Calibri" pitchFamily="34" charset="0"/>
                <a:ea typeface="Calibri" pitchFamily="34" charset="-122"/>
                <a:cs typeface="Calibri" pitchFamily="34" charset="-120"/>
              </a:rPr>
              <a:t>Current Challenges</a:t>
            </a:r>
            <a:endParaRPr lang="en-US" sz="2800" dirty="0"/>
          </a:p>
        </p:txBody>
      </p:sp>
      <p:sp>
        <p:nvSpPr>
          <p:cNvPr id="4" name="Text 2"/>
          <p:cNvSpPr/>
          <p:nvPr/>
        </p:nvSpPr>
        <p:spPr>
          <a:xfrm>
            <a:off x="548640" y="6437376"/>
            <a:ext cx="5486400" cy="274320"/>
          </a:xfrm>
          <a:prstGeom prst="rect">
            <a:avLst/>
          </a:prstGeom>
          <a:noFill/>
          <a:ln/>
        </p:spPr>
        <p:txBody>
          <a:bodyPr wrap="square" rtlCol="0" anchor="ctr"/>
          <a:lstStyle/>
          <a:p>
            <a:pPr algn="l" indent="0" marL="0">
              <a:buNone/>
            </a:pPr>
            <a:r>
              <a:rPr lang="en-US" sz="900" dirty="0">
                <a:solidFill>
                  <a:srgbClr val="64748B"/>
                </a:solidFill>
              </a:rPr>
              <a:t>TruthLens AI</a:t>
            </a:r>
            <a:endParaRPr lang="en-US" sz="900" dirty="0"/>
          </a:p>
        </p:txBody>
      </p:sp>
      <p:sp>
        <p:nvSpPr>
          <p:cNvPr id="5" name="Text 3"/>
          <p:cNvSpPr/>
          <p:nvPr/>
        </p:nvSpPr>
        <p:spPr>
          <a:xfrm>
            <a:off x="10058400" y="6437376"/>
            <a:ext cx="1581912" cy="274320"/>
          </a:xfrm>
          <a:prstGeom prst="rect">
            <a:avLst/>
          </a:prstGeom>
          <a:noFill/>
          <a:ln/>
        </p:spPr>
        <p:txBody>
          <a:bodyPr wrap="square" rtlCol="0" anchor="ctr"/>
          <a:lstStyle/>
          <a:p>
            <a:pPr algn="r" indent="0" marL="0">
              <a:buNone/>
            </a:pPr>
            <a:r>
              <a:rPr lang="en-US" sz="900" dirty="0">
                <a:solidFill>
                  <a:srgbClr val="64748B"/>
                </a:solidFill>
              </a:rPr>
              <a:t>4 / 20</a:t>
            </a:r>
            <a:endParaRPr lang="en-US" sz="900" dirty="0"/>
          </a:p>
        </p:txBody>
      </p:sp>
      <p:sp>
        <p:nvSpPr>
          <p:cNvPr id="6" name="Shape 4"/>
          <p:cNvSpPr/>
          <p:nvPr/>
        </p:nvSpPr>
        <p:spPr>
          <a:xfrm>
            <a:off x="548640" y="1463040"/>
            <a:ext cx="11064240" cy="841248"/>
          </a:xfrm>
          <a:prstGeom prst="roundRect">
            <a:avLst>
              <a:gd name="adj" fmla="val 8696"/>
            </a:avLst>
          </a:prstGeom>
          <a:solidFill>
            <a:srgbClr val="FFFFFF"/>
          </a:solidFill>
          <a:ln w="12700">
            <a:solidFill>
              <a:srgbClr val="E2E8F0"/>
            </a:solidFill>
            <a:prstDash val="solid"/>
          </a:ln>
          <a:effectLst>
            <a:outerShdw sx="100000" sy="100000" kx="0" ky="0" algn="bl" rotWithShape="0" blurRad="88900" dist="38100" dir="8100000">
              <a:srgbClr val="000000">
                <a:alpha val="16000"/>
              </a:srgbClr>
            </a:outerShdw>
          </a:effectLst>
        </p:spPr>
      </p:sp>
      <p:sp>
        <p:nvSpPr>
          <p:cNvPr id="7" name="Shape 5"/>
          <p:cNvSpPr/>
          <p:nvPr/>
        </p:nvSpPr>
        <p:spPr>
          <a:xfrm>
            <a:off x="548640" y="1463040"/>
            <a:ext cx="109728" cy="841248"/>
          </a:xfrm>
          <a:prstGeom prst="rect">
            <a:avLst/>
          </a:prstGeom>
          <a:solidFill>
            <a:srgbClr val="C31432"/>
          </a:solidFill>
          <a:ln/>
        </p:spPr>
      </p:sp>
      <p:sp>
        <p:nvSpPr>
          <p:cNvPr id="8" name="Text 6"/>
          <p:cNvSpPr/>
          <p:nvPr/>
        </p:nvSpPr>
        <p:spPr>
          <a:xfrm>
            <a:off x="868680" y="1463040"/>
            <a:ext cx="2834640" cy="841248"/>
          </a:xfrm>
          <a:prstGeom prst="rect">
            <a:avLst/>
          </a:prstGeom>
          <a:noFill/>
          <a:ln/>
        </p:spPr>
        <p:txBody>
          <a:bodyPr wrap="square" lIns="0" tIns="0" rIns="0" bIns="0" rtlCol="0" anchor="ctr"/>
          <a:lstStyle/>
          <a:p>
            <a:pPr indent="0" marL="0">
              <a:buNone/>
            </a:pPr>
            <a:r>
              <a:rPr lang="en-US" sz="1550" b="1" dirty="0">
                <a:solidFill>
                  <a:srgbClr val="203A43"/>
                </a:solidFill>
              </a:rPr>
              <a:t>Scale &amp; speed</a:t>
            </a:r>
            <a:endParaRPr lang="en-US" sz="1550" dirty="0"/>
          </a:p>
        </p:txBody>
      </p:sp>
      <p:sp>
        <p:nvSpPr>
          <p:cNvPr id="9" name="Text 7"/>
          <p:cNvSpPr/>
          <p:nvPr/>
        </p:nvSpPr>
        <p:spPr>
          <a:xfrm>
            <a:off x="3794760" y="1463040"/>
            <a:ext cx="7680960" cy="841248"/>
          </a:xfrm>
          <a:prstGeom prst="rect">
            <a:avLst/>
          </a:prstGeom>
          <a:noFill/>
          <a:ln/>
        </p:spPr>
        <p:txBody>
          <a:bodyPr wrap="square" lIns="0" tIns="0" rIns="0" bIns="0" rtlCol="0" anchor="ctr"/>
          <a:lstStyle/>
          <a:p>
            <a:pPr indent="0" marL="0">
              <a:buNone/>
            </a:pPr>
            <a:r>
              <a:rPr lang="en-US" sz="1400" dirty="0">
                <a:solidFill>
                  <a:srgbClr val="1F2D3D"/>
                </a:solidFill>
              </a:rPr>
              <a:t>GenAI produces misinformation faster than fact-checkers can respond.</a:t>
            </a:r>
            <a:endParaRPr lang="en-US" sz="1400" dirty="0"/>
          </a:p>
        </p:txBody>
      </p:sp>
      <p:sp>
        <p:nvSpPr>
          <p:cNvPr id="10" name="Shape 8"/>
          <p:cNvSpPr/>
          <p:nvPr/>
        </p:nvSpPr>
        <p:spPr>
          <a:xfrm>
            <a:off x="548640" y="2395728"/>
            <a:ext cx="11064240" cy="841248"/>
          </a:xfrm>
          <a:prstGeom prst="roundRect">
            <a:avLst>
              <a:gd name="adj" fmla="val 8696"/>
            </a:avLst>
          </a:prstGeom>
          <a:solidFill>
            <a:srgbClr val="FFFFFF"/>
          </a:solidFill>
          <a:ln w="12700">
            <a:solidFill>
              <a:srgbClr val="E2E8F0"/>
            </a:solidFill>
            <a:prstDash val="solid"/>
          </a:ln>
          <a:effectLst>
            <a:outerShdw sx="100000" sy="100000" kx="0" ky="0" algn="bl" rotWithShape="0" blurRad="88900" dist="38100" dir="8100000">
              <a:srgbClr val="000000">
                <a:alpha val="16000"/>
              </a:srgbClr>
            </a:outerShdw>
          </a:effectLst>
        </p:spPr>
      </p:sp>
      <p:sp>
        <p:nvSpPr>
          <p:cNvPr id="11" name="Shape 9"/>
          <p:cNvSpPr/>
          <p:nvPr/>
        </p:nvSpPr>
        <p:spPr>
          <a:xfrm>
            <a:off x="548640" y="2395728"/>
            <a:ext cx="109728" cy="841248"/>
          </a:xfrm>
          <a:prstGeom prst="rect">
            <a:avLst/>
          </a:prstGeom>
          <a:solidFill>
            <a:srgbClr val="C31432"/>
          </a:solidFill>
          <a:ln/>
        </p:spPr>
      </p:sp>
      <p:sp>
        <p:nvSpPr>
          <p:cNvPr id="12" name="Text 10"/>
          <p:cNvSpPr/>
          <p:nvPr/>
        </p:nvSpPr>
        <p:spPr>
          <a:xfrm>
            <a:off x="868680" y="2395728"/>
            <a:ext cx="2834640" cy="841248"/>
          </a:xfrm>
          <a:prstGeom prst="rect">
            <a:avLst/>
          </a:prstGeom>
          <a:noFill/>
          <a:ln/>
        </p:spPr>
        <p:txBody>
          <a:bodyPr wrap="square" lIns="0" tIns="0" rIns="0" bIns="0" rtlCol="0" anchor="ctr"/>
          <a:lstStyle/>
          <a:p>
            <a:pPr indent="0" marL="0">
              <a:buNone/>
            </a:pPr>
            <a:r>
              <a:rPr lang="en-US" sz="1550" b="1" dirty="0">
                <a:solidFill>
                  <a:srgbClr val="203A43"/>
                </a:solidFill>
              </a:rPr>
              <a:t>Black-box models</a:t>
            </a:r>
            <a:endParaRPr lang="en-US" sz="1550" dirty="0"/>
          </a:p>
        </p:txBody>
      </p:sp>
      <p:sp>
        <p:nvSpPr>
          <p:cNvPr id="13" name="Text 11"/>
          <p:cNvSpPr/>
          <p:nvPr/>
        </p:nvSpPr>
        <p:spPr>
          <a:xfrm>
            <a:off x="3794760" y="2395728"/>
            <a:ext cx="7680960" cy="841248"/>
          </a:xfrm>
          <a:prstGeom prst="rect">
            <a:avLst/>
          </a:prstGeom>
          <a:noFill/>
          <a:ln/>
        </p:spPr>
        <p:txBody>
          <a:bodyPr wrap="square" lIns="0" tIns="0" rIns="0" bIns="0" rtlCol="0" anchor="ctr"/>
          <a:lstStyle/>
          <a:p>
            <a:pPr indent="0" marL="0">
              <a:buNone/>
            </a:pPr>
            <a:r>
              <a:rPr lang="en-US" sz="1400" dirty="0">
                <a:solidFill>
                  <a:srgbClr val="1F2D3D"/>
                </a:solidFill>
              </a:rPr>
              <a:t>High-accuracy deep models rarely explain why - eroding trust.</a:t>
            </a:r>
            <a:endParaRPr lang="en-US" sz="1400" dirty="0"/>
          </a:p>
        </p:txBody>
      </p:sp>
      <p:sp>
        <p:nvSpPr>
          <p:cNvPr id="14" name="Shape 12"/>
          <p:cNvSpPr/>
          <p:nvPr/>
        </p:nvSpPr>
        <p:spPr>
          <a:xfrm>
            <a:off x="548640" y="3328416"/>
            <a:ext cx="11064240" cy="841248"/>
          </a:xfrm>
          <a:prstGeom prst="roundRect">
            <a:avLst>
              <a:gd name="adj" fmla="val 8696"/>
            </a:avLst>
          </a:prstGeom>
          <a:solidFill>
            <a:srgbClr val="FFFFFF"/>
          </a:solidFill>
          <a:ln w="12700">
            <a:solidFill>
              <a:srgbClr val="E2E8F0"/>
            </a:solidFill>
            <a:prstDash val="solid"/>
          </a:ln>
          <a:effectLst>
            <a:outerShdw sx="100000" sy="100000" kx="0" ky="0" algn="bl" rotWithShape="0" blurRad="88900" dist="38100" dir="8100000">
              <a:srgbClr val="000000">
                <a:alpha val="16000"/>
              </a:srgbClr>
            </a:outerShdw>
          </a:effectLst>
        </p:spPr>
      </p:sp>
      <p:sp>
        <p:nvSpPr>
          <p:cNvPr id="15" name="Shape 13"/>
          <p:cNvSpPr/>
          <p:nvPr/>
        </p:nvSpPr>
        <p:spPr>
          <a:xfrm>
            <a:off x="548640" y="3328416"/>
            <a:ext cx="109728" cy="841248"/>
          </a:xfrm>
          <a:prstGeom prst="rect">
            <a:avLst/>
          </a:prstGeom>
          <a:solidFill>
            <a:srgbClr val="C31432"/>
          </a:solidFill>
          <a:ln/>
        </p:spPr>
      </p:sp>
      <p:sp>
        <p:nvSpPr>
          <p:cNvPr id="16" name="Text 14"/>
          <p:cNvSpPr/>
          <p:nvPr/>
        </p:nvSpPr>
        <p:spPr>
          <a:xfrm>
            <a:off x="868680" y="3328416"/>
            <a:ext cx="2834640" cy="841248"/>
          </a:xfrm>
          <a:prstGeom prst="rect">
            <a:avLst/>
          </a:prstGeom>
          <a:noFill/>
          <a:ln/>
        </p:spPr>
        <p:txBody>
          <a:bodyPr wrap="square" lIns="0" tIns="0" rIns="0" bIns="0" rtlCol="0" anchor="ctr"/>
          <a:lstStyle/>
          <a:p>
            <a:pPr indent="0" marL="0">
              <a:buNone/>
            </a:pPr>
            <a:r>
              <a:rPr lang="en-US" sz="1550" b="1" dirty="0">
                <a:solidFill>
                  <a:srgbClr val="203A43"/>
                </a:solidFill>
              </a:rPr>
              <a:t>Evidence gap</a:t>
            </a:r>
            <a:endParaRPr lang="en-US" sz="1550" dirty="0"/>
          </a:p>
        </p:txBody>
      </p:sp>
      <p:sp>
        <p:nvSpPr>
          <p:cNvPr id="17" name="Text 15"/>
          <p:cNvSpPr/>
          <p:nvPr/>
        </p:nvSpPr>
        <p:spPr>
          <a:xfrm>
            <a:off x="3794760" y="3328416"/>
            <a:ext cx="7680960" cy="841248"/>
          </a:xfrm>
          <a:prstGeom prst="rect">
            <a:avLst/>
          </a:prstGeom>
          <a:noFill/>
          <a:ln/>
        </p:spPr>
        <p:txBody>
          <a:bodyPr wrap="square" lIns="0" tIns="0" rIns="0" bIns="0" rtlCol="0" anchor="ctr"/>
          <a:lstStyle/>
          <a:p>
            <a:pPr indent="0" marL="0">
              <a:buNone/>
            </a:pPr>
            <a:r>
              <a:rPr lang="en-US" sz="1400" dirty="0">
                <a:solidFill>
                  <a:srgbClr val="1F2D3D"/>
                </a:solidFill>
              </a:rPr>
              <a:t>Most classifiers give a label but no supporting references.</a:t>
            </a:r>
            <a:endParaRPr lang="en-US" sz="1400" dirty="0"/>
          </a:p>
        </p:txBody>
      </p:sp>
      <p:sp>
        <p:nvSpPr>
          <p:cNvPr id="18" name="Shape 16"/>
          <p:cNvSpPr/>
          <p:nvPr/>
        </p:nvSpPr>
        <p:spPr>
          <a:xfrm>
            <a:off x="548640" y="4261104"/>
            <a:ext cx="11064240" cy="841248"/>
          </a:xfrm>
          <a:prstGeom prst="roundRect">
            <a:avLst>
              <a:gd name="adj" fmla="val 8696"/>
            </a:avLst>
          </a:prstGeom>
          <a:solidFill>
            <a:srgbClr val="FFFFFF"/>
          </a:solidFill>
          <a:ln w="12700">
            <a:solidFill>
              <a:srgbClr val="E2E8F0"/>
            </a:solidFill>
            <a:prstDash val="solid"/>
          </a:ln>
          <a:effectLst>
            <a:outerShdw sx="100000" sy="100000" kx="0" ky="0" algn="bl" rotWithShape="0" blurRad="88900" dist="38100" dir="8100000">
              <a:srgbClr val="000000">
                <a:alpha val="16000"/>
              </a:srgbClr>
            </a:outerShdw>
          </a:effectLst>
        </p:spPr>
      </p:sp>
      <p:sp>
        <p:nvSpPr>
          <p:cNvPr id="19" name="Shape 17"/>
          <p:cNvSpPr/>
          <p:nvPr/>
        </p:nvSpPr>
        <p:spPr>
          <a:xfrm>
            <a:off x="548640" y="4261104"/>
            <a:ext cx="109728" cy="841248"/>
          </a:xfrm>
          <a:prstGeom prst="rect">
            <a:avLst/>
          </a:prstGeom>
          <a:solidFill>
            <a:srgbClr val="C31432"/>
          </a:solidFill>
          <a:ln/>
        </p:spPr>
      </p:sp>
      <p:sp>
        <p:nvSpPr>
          <p:cNvPr id="20" name="Text 18"/>
          <p:cNvSpPr/>
          <p:nvPr/>
        </p:nvSpPr>
        <p:spPr>
          <a:xfrm>
            <a:off x="868680" y="4261104"/>
            <a:ext cx="2834640" cy="841248"/>
          </a:xfrm>
          <a:prstGeom prst="rect">
            <a:avLst/>
          </a:prstGeom>
          <a:noFill/>
          <a:ln/>
        </p:spPr>
        <p:txBody>
          <a:bodyPr wrap="square" lIns="0" tIns="0" rIns="0" bIns="0" rtlCol="0" anchor="ctr"/>
          <a:lstStyle/>
          <a:p>
            <a:pPr indent="0" marL="0">
              <a:buNone/>
            </a:pPr>
            <a:r>
              <a:rPr lang="en-US" sz="1550" b="1" dirty="0">
                <a:solidFill>
                  <a:srgbClr val="203A43"/>
                </a:solidFill>
              </a:rPr>
              <a:t>Cost &amp; connectivity</a:t>
            </a:r>
            <a:endParaRPr lang="en-US" sz="1550" dirty="0"/>
          </a:p>
        </p:txBody>
      </p:sp>
      <p:sp>
        <p:nvSpPr>
          <p:cNvPr id="21" name="Text 19"/>
          <p:cNvSpPr/>
          <p:nvPr/>
        </p:nvSpPr>
        <p:spPr>
          <a:xfrm>
            <a:off x="3794760" y="4261104"/>
            <a:ext cx="7680960" cy="841248"/>
          </a:xfrm>
          <a:prstGeom prst="rect">
            <a:avLst/>
          </a:prstGeom>
          <a:noFill/>
          <a:ln/>
        </p:spPr>
        <p:txBody>
          <a:bodyPr wrap="square" lIns="0" tIns="0" rIns="0" bIns="0" rtlCol="0" anchor="ctr"/>
          <a:lstStyle/>
          <a:p>
            <a:pPr indent="0" marL="0">
              <a:buNone/>
            </a:pPr>
            <a:r>
              <a:rPr lang="en-US" sz="1400" dirty="0">
                <a:solidFill>
                  <a:srgbClr val="1F2D3D"/>
                </a:solidFill>
              </a:rPr>
              <a:t>Cloud LLM APIs add cost and fail without internet.</a:t>
            </a:r>
            <a:endParaRPr lang="en-US" sz="1400" dirty="0"/>
          </a:p>
        </p:txBody>
      </p:sp>
      <p:sp>
        <p:nvSpPr>
          <p:cNvPr id="22" name="Shape 20"/>
          <p:cNvSpPr/>
          <p:nvPr/>
        </p:nvSpPr>
        <p:spPr>
          <a:xfrm>
            <a:off x="548640" y="5193792"/>
            <a:ext cx="11064240" cy="841248"/>
          </a:xfrm>
          <a:prstGeom prst="roundRect">
            <a:avLst>
              <a:gd name="adj" fmla="val 8696"/>
            </a:avLst>
          </a:prstGeom>
          <a:solidFill>
            <a:srgbClr val="FFFFFF"/>
          </a:solidFill>
          <a:ln w="12700">
            <a:solidFill>
              <a:srgbClr val="E2E8F0"/>
            </a:solidFill>
            <a:prstDash val="solid"/>
          </a:ln>
          <a:effectLst>
            <a:outerShdw sx="100000" sy="100000" kx="0" ky="0" algn="bl" rotWithShape="0" blurRad="88900" dist="38100" dir="8100000">
              <a:srgbClr val="000000">
                <a:alpha val="16000"/>
              </a:srgbClr>
            </a:outerShdw>
          </a:effectLst>
        </p:spPr>
      </p:sp>
      <p:sp>
        <p:nvSpPr>
          <p:cNvPr id="23" name="Shape 21"/>
          <p:cNvSpPr/>
          <p:nvPr/>
        </p:nvSpPr>
        <p:spPr>
          <a:xfrm>
            <a:off x="548640" y="5193792"/>
            <a:ext cx="109728" cy="841248"/>
          </a:xfrm>
          <a:prstGeom prst="rect">
            <a:avLst/>
          </a:prstGeom>
          <a:solidFill>
            <a:srgbClr val="C31432"/>
          </a:solidFill>
          <a:ln/>
        </p:spPr>
      </p:sp>
      <p:sp>
        <p:nvSpPr>
          <p:cNvPr id="24" name="Text 22"/>
          <p:cNvSpPr/>
          <p:nvPr/>
        </p:nvSpPr>
        <p:spPr>
          <a:xfrm>
            <a:off x="868680" y="5193792"/>
            <a:ext cx="2834640" cy="841248"/>
          </a:xfrm>
          <a:prstGeom prst="rect">
            <a:avLst/>
          </a:prstGeom>
          <a:noFill/>
          <a:ln/>
        </p:spPr>
        <p:txBody>
          <a:bodyPr wrap="square" lIns="0" tIns="0" rIns="0" bIns="0" rtlCol="0" anchor="ctr"/>
          <a:lstStyle/>
          <a:p>
            <a:pPr indent="0" marL="0">
              <a:buNone/>
            </a:pPr>
            <a:r>
              <a:rPr lang="en-US" sz="1550" b="1" dirty="0">
                <a:solidFill>
                  <a:srgbClr val="203A43"/>
                </a:solidFill>
              </a:rPr>
              <a:t>Data realism</a:t>
            </a:r>
            <a:endParaRPr lang="en-US" sz="1550" dirty="0"/>
          </a:p>
        </p:txBody>
      </p:sp>
      <p:sp>
        <p:nvSpPr>
          <p:cNvPr id="25" name="Text 23"/>
          <p:cNvSpPr/>
          <p:nvPr/>
        </p:nvSpPr>
        <p:spPr>
          <a:xfrm>
            <a:off x="3794760" y="5193792"/>
            <a:ext cx="7680960" cy="841248"/>
          </a:xfrm>
          <a:prstGeom prst="rect">
            <a:avLst/>
          </a:prstGeom>
          <a:noFill/>
          <a:ln/>
        </p:spPr>
        <p:txBody>
          <a:bodyPr wrap="square" lIns="0" tIns="0" rIns="0" bIns="0" rtlCol="0" anchor="ctr"/>
          <a:lstStyle/>
          <a:p>
            <a:pPr indent="0" marL="0">
              <a:buNone/>
            </a:pPr>
            <a:r>
              <a:rPr lang="en-US" sz="1400" dirty="0">
                <a:solidFill>
                  <a:srgbClr val="1F2D3D"/>
                </a:solidFill>
              </a:rPr>
              <a:t>Clean benchmarks overstate accuracy vs messy real-world text.</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566928"/>
            <a:ext cx="146304" cy="384048"/>
          </a:xfrm>
          <a:prstGeom prst="rect">
            <a:avLst/>
          </a:prstGeom>
          <a:solidFill>
            <a:srgbClr val="11998E"/>
          </a:solidFill>
          <a:ln/>
        </p:spPr>
      </p:sp>
      <p:sp>
        <p:nvSpPr>
          <p:cNvPr id="3" name="Text 1"/>
          <p:cNvSpPr/>
          <p:nvPr/>
        </p:nvSpPr>
        <p:spPr>
          <a:xfrm>
            <a:off x="822960" y="502920"/>
            <a:ext cx="10789920" cy="548640"/>
          </a:xfrm>
          <a:prstGeom prst="rect">
            <a:avLst/>
          </a:prstGeom>
          <a:noFill/>
          <a:ln/>
        </p:spPr>
        <p:txBody>
          <a:bodyPr wrap="square" lIns="0" tIns="0" rIns="0" bIns="0" rtlCol="0" anchor="ctr"/>
          <a:lstStyle/>
          <a:p>
            <a:pPr algn="l" indent="0" marL="0">
              <a:buNone/>
            </a:pPr>
            <a:r>
              <a:rPr lang="en-US" sz="2800" b="1" dirty="0">
                <a:solidFill>
                  <a:srgbClr val="203A43"/>
                </a:solidFill>
                <a:latin typeface="Calibri" pitchFamily="34" charset="0"/>
                <a:ea typeface="Calibri" pitchFamily="34" charset="-122"/>
                <a:cs typeface="Calibri" pitchFamily="34" charset="-120"/>
              </a:rPr>
              <a:t>Proposed Solution - TruthLens AI</a:t>
            </a:r>
            <a:endParaRPr lang="en-US" sz="2800" dirty="0"/>
          </a:p>
        </p:txBody>
      </p:sp>
      <p:sp>
        <p:nvSpPr>
          <p:cNvPr id="4" name="Text 2"/>
          <p:cNvSpPr/>
          <p:nvPr/>
        </p:nvSpPr>
        <p:spPr>
          <a:xfrm>
            <a:off x="548640" y="6437376"/>
            <a:ext cx="5486400" cy="274320"/>
          </a:xfrm>
          <a:prstGeom prst="rect">
            <a:avLst/>
          </a:prstGeom>
          <a:noFill/>
          <a:ln/>
        </p:spPr>
        <p:txBody>
          <a:bodyPr wrap="square" rtlCol="0" anchor="ctr"/>
          <a:lstStyle/>
          <a:p>
            <a:pPr algn="l" indent="0" marL="0">
              <a:buNone/>
            </a:pPr>
            <a:r>
              <a:rPr lang="en-US" sz="900" dirty="0">
                <a:solidFill>
                  <a:srgbClr val="64748B"/>
                </a:solidFill>
              </a:rPr>
              <a:t>TruthLens AI</a:t>
            </a:r>
            <a:endParaRPr lang="en-US" sz="900" dirty="0"/>
          </a:p>
        </p:txBody>
      </p:sp>
      <p:sp>
        <p:nvSpPr>
          <p:cNvPr id="5" name="Text 3"/>
          <p:cNvSpPr/>
          <p:nvPr/>
        </p:nvSpPr>
        <p:spPr>
          <a:xfrm>
            <a:off x="10058400" y="6437376"/>
            <a:ext cx="1581912" cy="274320"/>
          </a:xfrm>
          <a:prstGeom prst="rect">
            <a:avLst/>
          </a:prstGeom>
          <a:noFill/>
          <a:ln/>
        </p:spPr>
        <p:txBody>
          <a:bodyPr wrap="square" rtlCol="0" anchor="ctr"/>
          <a:lstStyle/>
          <a:p>
            <a:pPr algn="r" indent="0" marL="0">
              <a:buNone/>
            </a:pPr>
            <a:r>
              <a:rPr lang="en-US" sz="900" dirty="0">
                <a:solidFill>
                  <a:srgbClr val="64748B"/>
                </a:solidFill>
              </a:rPr>
              <a:t>5 / 20</a:t>
            </a:r>
            <a:endParaRPr lang="en-US" sz="900" dirty="0"/>
          </a:p>
        </p:txBody>
      </p:sp>
      <p:sp>
        <p:nvSpPr>
          <p:cNvPr id="6" name="Text 4"/>
          <p:cNvSpPr/>
          <p:nvPr/>
        </p:nvSpPr>
        <p:spPr>
          <a:xfrm>
            <a:off x="548640" y="1325880"/>
            <a:ext cx="11064240" cy="457200"/>
          </a:xfrm>
          <a:prstGeom prst="rect">
            <a:avLst/>
          </a:prstGeom>
          <a:noFill/>
          <a:ln/>
        </p:spPr>
        <p:txBody>
          <a:bodyPr wrap="square" rtlCol="0" anchor="ctr"/>
          <a:lstStyle/>
          <a:p>
            <a:pPr indent="0" marL="0">
              <a:buNone/>
            </a:pPr>
            <a:r>
              <a:rPr lang="en-US" sz="1500" i="1" dirty="0">
                <a:solidFill>
                  <a:srgbClr val="2C5364"/>
                </a:solidFill>
              </a:rPr>
              <a:t>A 3-in-1 pipeline: classify, explain, and fact-check - fused into one trustworthy, offline verdict.</a:t>
            </a:r>
            <a:endParaRPr lang="en-US" sz="1500" dirty="0"/>
          </a:p>
        </p:txBody>
      </p:sp>
      <p:sp>
        <p:nvSpPr>
          <p:cNvPr id="7" name="Shape 5"/>
          <p:cNvSpPr/>
          <p:nvPr/>
        </p:nvSpPr>
        <p:spPr>
          <a:xfrm>
            <a:off x="548640" y="1965960"/>
            <a:ext cx="2670048" cy="2743200"/>
          </a:xfrm>
          <a:prstGeom prst="roundRect">
            <a:avLst>
              <a:gd name="adj" fmla="val 2740"/>
            </a:avLst>
          </a:prstGeom>
          <a:solidFill>
            <a:srgbClr val="FFFFFF"/>
          </a:solidFill>
          <a:ln w="12700">
            <a:solidFill>
              <a:srgbClr val="E2E8F0"/>
            </a:solidFill>
            <a:prstDash val="solid"/>
          </a:ln>
          <a:effectLst>
            <a:outerShdw sx="100000" sy="100000" kx="0" ky="0" algn="bl" rotWithShape="0" blurRad="88900" dist="38100" dir="8100000">
              <a:srgbClr val="000000">
                <a:alpha val="16000"/>
              </a:srgbClr>
            </a:outerShdw>
          </a:effectLst>
        </p:spPr>
      </p:sp>
      <p:sp>
        <p:nvSpPr>
          <p:cNvPr id="8" name="Shape 6"/>
          <p:cNvSpPr/>
          <p:nvPr/>
        </p:nvSpPr>
        <p:spPr>
          <a:xfrm>
            <a:off x="548640" y="1965960"/>
            <a:ext cx="2670048" cy="594360"/>
          </a:xfrm>
          <a:prstGeom prst="rect">
            <a:avLst/>
          </a:prstGeom>
          <a:solidFill>
            <a:srgbClr val="11998E"/>
          </a:solidFill>
          <a:ln/>
        </p:spPr>
      </p:sp>
      <p:sp>
        <p:nvSpPr>
          <p:cNvPr id="9" name="Text 7"/>
          <p:cNvSpPr/>
          <p:nvPr/>
        </p:nvSpPr>
        <p:spPr>
          <a:xfrm>
            <a:off x="658368" y="1965960"/>
            <a:ext cx="2450592" cy="594360"/>
          </a:xfrm>
          <a:prstGeom prst="rect">
            <a:avLst/>
          </a:prstGeom>
          <a:noFill/>
          <a:ln/>
        </p:spPr>
        <p:txBody>
          <a:bodyPr wrap="square" lIns="0" tIns="0" rIns="0" bIns="0" rtlCol="0" anchor="ctr"/>
          <a:lstStyle/>
          <a:p>
            <a:pPr algn="ctr" indent="0" marL="0">
              <a:buNone/>
            </a:pPr>
            <a:r>
              <a:rPr lang="en-US" sz="1450" b="1" dirty="0">
                <a:solidFill>
                  <a:srgbClr val="FFFFFF"/>
                </a:solidFill>
              </a:rPr>
              <a:t>Interpretable ML</a:t>
            </a:r>
            <a:endParaRPr lang="en-US" sz="1450" dirty="0"/>
          </a:p>
        </p:txBody>
      </p:sp>
      <p:sp>
        <p:nvSpPr>
          <p:cNvPr id="10" name="Text 8"/>
          <p:cNvSpPr/>
          <p:nvPr/>
        </p:nvSpPr>
        <p:spPr>
          <a:xfrm>
            <a:off x="731520" y="2743200"/>
            <a:ext cx="2304288" cy="1828800"/>
          </a:xfrm>
          <a:prstGeom prst="rect">
            <a:avLst/>
          </a:prstGeom>
          <a:noFill/>
          <a:ln/>
        </p:spPr>
        <p:txBody>
          <a:bodyPr wrap="square" rtlCol="0" anchor="ctr"/>
          <a:lstStyle/>
          <a:p>
            <a:pPr indent="0" marL="0">
              <a:lnSpc>
                <a:spcPct val="120000"/>
              </a:lnSpc>
              <a:buNone/>
            </a:pPr>
            <a:r>
              <a:rPr lang="en-US" sz="1350" dirty="0">
                <a:solidFill>
                  <a:srgbClr val="1F2D3D"/>
                </a:solidFill>
              </a:rPr>
              <a:t>TF-IDF + Logistic Regression with per-article term attribution.</a:t>
            </a:r>
            <a:endParaRPr lang="en-US" sz="1350" dirty="0"/>
          </a:p>
        </p:txBody>
      </p:sp>
      <p:sp>
        <p:nvSpPr>
          <p:cNvPr id="11" name="Shape 9"/>
          <p:cNvSpPr/>
          <p:nvPr/>
        </p:nvSpPr>
        <p:spPr>
          <a:xfrm>
            <a:off x="3337560" y="1965960"/>
            <a:ext cx="2670048" cy="2743200"/>
          </a:xfrm>
          <a:prstGeom prst="roundRect">
            <a:avLst>
              <a:gd name="adj" fmla="val 2740"/>
            </a:avLst>
          </a:prstGeom>
          <a:solidFill>
            <a:srgbClr val="FFFFFF"/>
          </a:solidFill>
          <a:ln w="12700">
            <a:solidFill>
              <a:srgbClr val="E2E8F0"/>
            </a:solidFill>
            <a:prstDash val="solid"/>
          </a:ln>
          <a:effectLst>
            <a:outerShdw sx="100000" sy="100000" kx="0" ky="0" algn="bl" rotWithShape="0" blurRad="88900" dist="38100" dir="8100000">
              <a:srgbClr val="000000">
                <a:alpha val="16000"/>
              </a:srgbClr>
            </a:outerShdw>
          </a:effectLst>
        </p:spPr>
      </p:sp>
      <p:sp>
        <p:nvSpPr>
          <p:cNvPr id="12" name="Shape 10"/>
          <p:cNvSpPr/>
          <p:nvPr/>
        </p:nvSpPr>
        <p:spPr>
          <a:xfrm>
            <a:off x="3337560" y="1965960"/>
            <a:ext cx="2670048" cy="594360"/>
          </a:xfrm>
          <a:prstGeom prst="rect">
            <a:avLst/>
          </a:prstGeom>
          <a:solidFill>
            <a:srgbClr val="2C5364"/>
          </a:solidFill>
          <a:ln/>
        </p:spPr>
      </p:sp>
      <p:sp>
        <p:nvSpPr>
          <p:cNvPr id="13" name="Text 11"/>
          <p:cNvSpPr/>
          <p:nvPr/>
        </p:nvSpPr>
        <p:spPr>
          <a:xfrm>
            <a:off x="3447288" y="1965960"/>
            <a:ext cx="2450592" cy="594360"/>
          </a:xfrm>
          <a:prstGeom prst="rect">
            <a:avLst/>
          </a:prstGeom>
          <a:noFill/>
          <a:ln/>
        </p:spPr>
        <p:txBody>
          <a:bodyPr wrap="square" lIns="0" tIns="0" rIns="0" bIns="0" rtlCol="0" anchor="ctr"/>
          <a:lstStyle/>
          <a:p>
            <a:pPr algn="ctr" indent="0" marL="0">
              <a:buNone/>
            </a:pPr>
            <a:r>
              <a:rPr lang="en-US" sz="1450" b="1" dirty="0">
                <a:solidFill>
                  <a:srgbClr val="FFFFFF"/>
                </a:solidFill>
              </a:rPr>
              <a:t>Explainability engine</a:t>
            </a:r>
            <a:endParaRPr lang="en-US" sz="1450" dirty="0"/>
          </a:p>
        </p:txBody>
      </p:sp>
      <p:sp>
        <p:nvSpPr>
          <p:cNvPr id="14" name="Text 12"/>
          <p:cNvSpPr/>
          <p:nvPr/>
        </p:nvSpPr>
        <p:spPr>
          <a:xfrm>
            <a:off x="3520440" y="2743200"/>
            <a:ext cx="2304288" cy="1828800"/>
          </a:xfrm>
          <a:prstGeom prst="rect">
            <a:avLst/>
          </a:prstGeom>
          <a:noFill/>
          <a:ln/>
        </p:spPr>
        <p:txBody>
          <a:bodyPr wrap="square" rtlCol="0" anchor="ctr"/>
          <a:lstStyle/>
          <a:p>
            <a:pPr indent="0" marL="0">
              <a:lnSpc>
                <a:spcPct val="120000"/>
              </a:lnSpc>
              <a:buNone/>
            </a:pPr>
            <a:r>
              <a:rPr lang="en-US" sz="1350" dirty="0">
                <a:solidFill>
                  <a:srgbClr val="1F2D3D"/>
                </a:solidFill>
              </a:rPr>
              <a:t>Transparent linguistic credibility signals - no black box.</a:t>
            </a:r>
            <a:endParaRPr lang="en-US" sz="1350" dirty="0"/>
          </a:p>
        </p:txBody>
      </p:sp>
      <p:sp>
        <p:nvSpPr>
          <p:cNvPr id="15" name="Shape 13"/>
          <p:cNvSpPr/>
          <p:nvPr/>
        </p:nvSpPr>
        <p:spPr>
          <a:xfrm>
            <a:off x="6126480" y="1965960"/>
            <a:ext cx="2670048" cy="2743200"/>
          </a:xfrm>
          <a:prstGeom prst="roundRect">
            <a:avLst>
              <a:gd name="adj" fmla="val 2740"/>
            </a:avLst>
          </a:prstGeom>
          <a:solidFill>
            <a:srgbClr val="FFFFFF"/>
          </a:solidFill>
          <a:ln w="12700">
            <a:solidFill>
              <a:srgbClr val="E2E8F0"/>
            </a:solidFill>
            <a:prstDash val="solid"/>
          </a:ln>
          <a:effectLst>
            <a:outerShdw sx="100000" sy="100000" kx="0" ky="0" algn="bl" rotWithShape="0" blurRad="88900" dist="38100" dir="8100000">
              <a:srgbClr val="000000">
                <a:alpha val="16000"/>
              </a:srgbClr>
            </a:outerShdw>
          </a:effectLst>
        </p:spPr>
      </p:sp>
      <p:sp>
        <p:nvSpPr>
          <p:cNvPr id="16" name="Shape 14"/>
          <p:cNvSpPr/>
          <p:nvPr/>
        </p:nvSpPr>
        <p:spPr>
          <a:xfrm>
            <a:off x="6126480" y="1965960"/>
            <a:ext cx="2670048" cy="594360"/>
          </a:xfrm>
          <a:prstGeom prst="rect">
            <a:avLst/>
          </a:prstGeom>
          <a:solidFill>
            <a:srgbClr val="203A43"/>
          </a:solidFill>
          <a:ln/>
        </p:spPr>
      </p:sp>
      <p:sp>
        <p:nvSpPr>
          <p:cNvPr id="17" name="Text 15"/>
          <p:cNvSpPr/>
          <p:nvPr/>
        </p:nvSpPr>
        <p:spPr>
          <a:xfrm>
            <a:off x="6236208" y="1965960"/>
            <a:ext cx="2450592" cy="594360"/>
          </a:xfrm>
          <a:prstGeom prst="rect">
            <a:avLst/>
          </a:prstGeom>
          <a:noFill/>
          <a:ln/>
        </p:spPr>
        <p:txBody>
          <a:bodyPr wrap="square" lIns="0" tIns="0" rIns="0" bIns="0" rtlCol="0" anchor="ctr"/>
          <a:lstStyle/>
          <a:p>
            <a:pPr algn="ctr" indent="0" marL="0">
              <a:buNone/>
            </a:pPr>
            <a:r>
              <a:rPr lang="en-US" sz="1450" b="1" dirty="0">
                <a:solidFill>
                  <a:srgbClr val="FFFFFF"/>
                </a:solidFill>
              </a:rPr>
              <a:t>RAG fact-check</a:t>
            </a:r>
            <a:endParaRPr lang="en-US" sz="1450" dirty="0"/>
          </a:p>
        </p:txBody>
      </p:sp>
      <p:sp>
        <p:nvSpPr>
          <p:cNvPr id="18" name="Text 16"/>
          <p:cNvSpPr/>
          <p:nvPr/>
        </p:nvSpPr>
        <p:spPr>
          <a:xfrm>
            <a:off x="6309360" y="2743200"/>
            <a:ext cx="2304288" cy="1828800"/>
          </a:xfrm>
          <a:prstGeom prst="rect">
            <a:avLst/>
          </a:prstGeom>
          <a:noFill/>
          <a:ln/>
        </p:spPr>
        <p:txBody>
          <a:bodyPr wrap="square" rtlCol="0" anchor="ctr"/>
          <a:lstStyle/>
          <a:p>
            <a:pPr indent="0" marL="0">
              <a:lnSpc>
                <a:spcPct val="120000"/>
              </a:lnSpc>
              <a:buNone/>
            </a:pPr>
            <a:r>
              <a:rPr lang="en-US" sz="1350" dirty="0">
                <a:solidFill>
                  <a:srgbClr val="1F2D3D"/>
                </a:solidFill>
              </a:rPr>
              <a:t>Semantic retrieval of verified statements to ground the verdict.</a:t>
            </a:r>
            <a:endParaRPr lang="en-US" sz="1350" dirty="0"/>
          </a:p>
        </p:txBody>
      </p:sp>
      <p:sp>
        <p:nvSpPr>
          <p:cNvPr id="19" name="Shape 17"/>
          <p:cNvSpPr/>
          <p:nvPr/>
        </p:nvSpPr>
        <p:spPr>
          <a:xfrm>
            <a:off x="8915400" y="1965960"/>
            <a:ext cx="2670048" cy="2743200"/>
          </a:xfrm>
          <a:prstGeom prst="roundRect">
            <a:avLst>
              <a:gd name="adj" fmla="val 2740"/>
            </a:avLst>
          </a:prstGeom>
          <a:solidFill>
            <a:srgbClr val="FFFFFF"/>
          </a:solidFill>
          <a:ln w="12700">
            <a:solidFill>
              <a:srgbClr val="E2E8F0"/>
            </a:solidFill>
            <a:prstDash val="solid"/>
          </a:ln>
          <a:effectLst>
            <a:outerShdw sx="100000" sy="100000" kx="0" ky="0" algn="bl" rotWithShape="0" blurRad="88900" dist="38100" dir="8100000">
              <a:srgbClr val="000000">
                <a:alpha val="16000"/>
              </a:srgbClr>
            </a:outerShdw>
          </a:effectLst>
        </p:spPr>
      </p:sp>
      <p:sp>
        <p:nvSpPr>
          <p:cNvPr id="20" name="Shape 18"/>
          <p:cNvSpPr/>
          <p:nvPr/>
        </p:nvSpPr>
        <p:spPr>
          <a:xfrm>
            <a:off x="8915400" y="1965960"/>
            <a:ext cx="2670048" cy="594360"/>
          </a:xfrm>
          <a:prstGeom prst="rect">
            <a:avLst/>
          </a:prstGeom>
          <a:solidFill>
            <a:srgbClr val="11998E"/>
          </a:solidFill>
          <a:ln/>
        </p:spPr>
      </p:sp>
      <p:sp>
        <p:nvSpPr>
          <p:cNvPr id="21" name="Text 19"/>
          <p:cNvSpPr/>
          <p:nvPr/>
        </p:nvSpPr>
        <p:spPr>
          <a:xfrm>
            <a:off x="9025128" y="1965960"/>
            <a:ext cx="2450592" cy="594360"/>
          </a:xfrm>
          <a:prstGeom prst="rect">
            <a:avLst/>
          </a:prstGeom>
          <a:noFill/>
          <a:ln/>
        </p:spPr>
        <p:txBody>
          <a:bodyPr wrap="square" lIns="0" tIns="0" rIns="0" bIns="0" rtlCol="0" anchor="ctr"/>
          <a:lstStyle/>
          <a:p>
            <a:pPr algn="ctr" indent="0" marL="0">
              <a:buNone/>
            </a:pPr>
            <a:r>
              <a:rPr lang="en-US" sz="1450" b="1" dirty="0">
                <a:solidFill>
                  <a:srgbClr val="FFFFFF"/>
                </a:solidFill>
              </a:rPr>
              <a:t>Agentic GenAI</a:t>
            </a:r>
            <a:endParaRPr lang="en-US" sz="1450" dirty="0"/>
          </a:p>
        </p:txBody>
      </p:sp>
      <p:sp>
        <p:nvSpPr>
          <p:cNvPr id="22" name="Text 20"/>
          <p:cNvSpPr/>
          <p:nvPr/>
        </p:nvSpPr>
        <p:spPr>
          <a:xfrm>
            <a:off x="9098280" y="2743200"/>
            <a:ext cx="2304288" cy="1828800"/>
          </a:xfrm>
          <a:prstGeom prst="rect">
            <a:avLst/>
          </a:prstGeom>
          <a:noFill/>
          <a:ln/>
        </p:spPr>
        <p:txBody>
          <a:bodyPr wrap="square" rtlCol="0" anchor="ctr"/>
          <a:lstStyle/>
          <a:p>
            <a:pPr indent="0" marL="0">
              <a:lnSpc>
                <a:spcPct val="120000"/>
              </a:lnSpc>
              <a:buNone/>
            </a:pPr>
            <a:r>
              <a:rPr lang="en-US" sz="1350" dirty="0">
                <a:solidFill>
                  <a:srgbClr val="1F2D3D"/>
                </a:solidFill>
              </a:rPr>
              <a:t>3 agents + local-LLM explanation with an offline template fallback.</a:t>
            </a:r>
            <a:endParaRPr lang="en-US" sz="1350" dirty="0"/>
          </a:p>
        </p:txBody>
      </p:sp>
      <p:sp>
        <p:nvSpPr>
          <p:cNvPr id="23" name="Shape 21"/>
          <p:cNvSpPr/>
          <p:nvPr/>
        </p:nvSpPr>
        <p:spPr>
          <a:xfrm>
            <a:off x="548640" y="4983480"/>
            <a:ext cx="11064240" cy="868680"/>
          </a:xfrm>
          <a:prstGeom prst="roundRect">
            <a:avLst>
              <a:gd name="adj" fmla="val 8421"/>
            </a:avLst>
          </a:prstGeom>
          <a:solidFill>
            <a:srgbClr val="0F2027"/>
          </a:solidFill>
          <a:ln w="12700">
            <a:solidFill>
              <a:srgbClr val="E2E8F0"/>
            </a:solidFill>
            <a:prstDash val="solid"/>
          </a:ln>
          <a:effectLst>
            <a:outerShdw sx="100000" sy="100000" kx="0" ky="0" algn="bl" rotWithShape="0" blurRad="88900" dist="38100" dir="8100000">
              <a:srgbClr val="000000">
                <a:alpha val="16000"/>
              </a:srgbClr>
            </a:outerShdw>
          </a:effectLst>
        </p:spPr>
      </p:sp>
      <p:sp>
        <p:nvSpPr>
          <p:cNvPr id="24" name="Text 22"/>
          <p:cNvSpPr/>
          <p:nvPr/>
        </p:nvSpPr>
        <p:spPr>
          <a:xfrm>
            <a:off x="868680" y="4983480"/>
            <a:ext cx="10424160" cy="868680"/>
          </a:xfrm>
          <a:prstGeom prst="rect">
            <a:avLst/>
          </a:prstGeom>
          <a:noFill/>
          <a:ln/>
        </p:spPr>
        <p:txBody>
          <a:bodyPr wrap="square" lIns="0" tIns="0" rIns="0" bIns="0" rtlCol="0" anchor="ctr"/>
          <a:lstStyle/>
          <a:p>
            <a:pPr indent="0" marL="0">
              <a:buNone/>
            </a:pPr>
            <a:r>
              <a:rPr lang="en-US" sz="1600" b="1" dirty="0">
                <a:solidFill>
                  <a:srgbClr val="9BE3D8"/>
                </a:solidFill>
              </a:rPr>
              <a:t>Outcome:  </a:t>
            </a:r>
            <a:pPr indent="0" marL="0">
              <a:buNone/>
            </a:pPr>
            <a:r>
              <a:rPr lang="en-US" sz="1600" dirty="0">
                <a:solidFill>
                  <a:srgbClr val="FFFFFF"/>
                </a:solidFill>
              </a:rPr>
              <a:t>94.2% accuracy  -  0.947 ROC-AUC  -  fully offline, no API key  -  live, explainable verdicts in milliseconds.</a:t>
            </a:r>
            <a:endParaRPr lang="en-US" sz="1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566928"/>
            <a:ext cx="146304" cy="384048"/>
          </a:xfrm>
          <a:prstGeom prst="rect">
            <a:avLst/>
          </a:prstGeom>
          <a:solidFill>
            <a:srgbClr val="11998E"/>
          </a:solidFill>
          <a:ln/>
        </p:spPr>
      </p:sp>
      <p:sp>
        <p:nvSpPr>
          <p:cNvPr id="3" name="Text 1"/>
          <p:cNvSpPr/>
          <p:nvPr/>
        </p:nvSpPr>
        <p:spPr>
          <a:xfrm>
            <a:off x="822960" y="502920"/>
            <a:ext cx="10789920" cy="548640"/>
          </a:xfrm>
          <a:prstGeom prst="rect">
            <a:avLst/>
          </a:prstGeom>
          <a:noFill/>
          <a:ln/>
        </p:spPr>
        <p:txBody>
          <a:bodyPr wrap="square" lIns="0" tIns="0" rIns="0" bIns="0" rtlCol="0" anchor="ctr"/>
          <a:lstStyle/>
          <a:p>
            <a:pPr algn="l" indent="0" marL="0">
              <a:buNone/>
            </a:pPr>
            <a:r>
              <a:rPr lang="en-US" sz="2800" b="1" dirty="0">
                <a:solidFill>
                  <a:srgbClr val="203A43"/>
                </a:solidFill>
                <a:latin typeface="Calibri" pitchFamily="34" charset="0"/>
                <a:ea typeface="Calibri" pitchFamily="34" charset="-122"/>
                <a:cs typeface="Calibri" pitchFamily="34" charset="-120"/>
              </a:rPr>
              <a:t>System Architecture</a:t>
            </a:r>
            <a:endParaRPr lang="en-US" sz="2800" dirty="0"/>
          </a:p>
        </p:txBody>
      </p:sp>
      <p:sp>
        <p:nvSpPr>
          <p:cNvPr id="4" name="Text 2"/>
          <p:cNvSpPr/>
          <p:nvPr/>
        </p:nvSpPr>
        <p:spPr>
          <a:xfrm>
            <a:off x="548640" y="6437376"/>
            <a:ext cx="5486400" cy="274320"/>
          </a:xfrm>
          <a:prstGeom prst="rect">
            <a:avLst/>
          </a:prstGeom>
          <a:noFill/>
          <a:ln/>
        </p:spPr>
        <p:txBody>
          <a:bodyPr wrap="square" rtlCol="0" anchor="ctr"/>
          <a:lstStyle/>
          <a:p>
            <a:pPr algn="l" indent="0" marL="0">
              <a:buNone/>
            </a:pPr>
            <a:r>
              <a:rPr lang="en-US" sz="900" dirty="0">
                <a:solidFill>
                  <a:srgbClr val="64748B"/>
                </a:solidFill>
              </a:rPr>
              <a:t>TruthLens AI</a:t>
            </a:r>
            <a:endParaRPr lang="en-US" sz="900" dirty="0"/>
          </a:p>
        </p:txBody>
      </p:sp>
      <p:sp>
        <p:nvSpPr>
          <p:cNvPr id="5" name="Text 3"/>
          <p:cNvSpPr/>
          <p:nvPr/>
        </p:nvSpPr>
        <p:spPr>
          <a:xfrm>
            <a:off x="10058400" y="6437376"/>
            <a:ext cx="1581912" cy="274320"/>
          </a:xfrm>
          <a:prstGeom prst="rect">
            <a:avLst/>
          </a:prstGeom>
          <a:noFill/>
          <a:ln/>
        </p:spPr>
        <p:txBody>
          <a:bodyPr wrap="square" rtlCol="0" anchor="ctr"/>
          <a:lstStyle/>
          <a:p>
            <a:pPr algn="r" indent="0" marL="0">
              <a:buNone/>
            </a:pPr>
            <a:r>
              <a:rPr lang="en-US" sz="900" dirty="0">
                <a:solidFill>
                  <a:srgbClr val="64748B"/>
                </a:solidFill>
              </a:rPr>
              <a:t>6 / 20</a:t>
            </a:r>
            <a:endParaRPr lang="en-US" sz="900" dirty="0"/>
          </a:p>
        </p:txBody>
      </p:sp>
      <p:pic>
        <p:nvPicPr>
          <p:cNvPr id="6" name="Image 0" descr="/sessions/kind-great-lamport/mnt/Minor digre poject/images/architecture.png">    </p:cNvPr>
          <p:cNvPicPr>
            <a:picLocks noChangeAspect="1"/>
          </p:cNvPicPr>
          <p:nvPr/>
        </p:nvPicPr>
        <p:blipFill>
          <a:blip r:embed="rId1"/>
          <a:stretch>
            <a:fillRect/>
          </a:stretch>
        </p:blipFill>
        <p:spPr>
          <a:xfrm>
            <a:off x="940526" y="1325880"/>
            <a:ext cx="7171509" cy="4937760"/>
          </a:xfrm>
          <a:prstGeom prst="rect">
            <a:avLst/>
          </a:prstGeom>
        </p:spPr>
      </p:pic>
      <p:sp>
        <p:nvSpPr>
          <p:cNvPr id="7" name="Shape 4"/>
          <p:cNvSpPr/>
          <p:nvPr/>
        </p:nvSpPr>
        <p:spPr>
          <a:xfrm>
            <a:off x="8686800" y="1463040"/>
            <a:ext cx="2926080" cy="4572000"/>
          </a:xfrm>
          <a:prstGeom prst="roundRect">
            <a:avLst>
              <a:gd name="adj" fmla="val 2500"/>
            </a:avLst>
          </a:prstGeom>
          <a:solidFill>
            <a:srgbClr val="F4F7FA"/>
          </a:solidFill>
          <a:ln w="12700">
            <a:solidFill>
              <a:srgbClr val="E2E8F0"/>
            </a:solidFill>
            <a:prstDash val="solid"/>
          </a:ln>
          <a:effectLst>
            <a:outerShdw sx="100000" sy="100000" kx="0" ky="0" algn="bl" rotWithShape="0" blurRad="88900" dist="38100" dir="8100000">
              <a:srgbClr val="000000">
                <a:alpha val="16000"/>
              </a:srgbClr>
            </a:outerShdw>
          </a:effectLst>
        </p:spPr>
      </p:sp>
      <p:sp>
        <p:nvSpPr>
          <p:cNvPr id="8" name="Text 5"/>
          <p:cNvSpPr/>
          <p:nvPr/>
        </p:nvSpPr>
        <p:spPr>
          <a:xfrm>
            <a:off x="8869680" y="1600200"/>
            <a:ext cx="2560320" cy="365760"/>
          </a:xfrm>
          <a:prstGeom prst="rect">
            <a:avLst/>
          </a:prstGeom>
          <a:noFill/>
          <a:ln/>
        </p:spPr>
        <p:txBody>
          <a:bodyPr wrap="square" rtlCol="0" anchor="ctr"/>
          <a:lstStyle/>
          <a:p>
            <a:pPr indent="0" marL="0">
              <a:buNone/>
            </a:pPr>
            <a:r>
              <a:rPr lang="en-US" sz="1500" b="1" dirty="0">
                <a:solidFill>
                  <a:srgbClr val="11998E"/>
                </a:solidFill>
              </a:rPr>
              <a:t>Layers</a:t>
            </a:r>
            <a:endParaRPr lang="en-US" sz="1500" dirty="0"/>
          </a:p>
        </p:txBody>
      </p:sp>
      <p:sp>
        <p:nvSpPr>
          <p:cNvPr id="9" name="Text 6"/>
          <p:cNvSpPr/>
          <p:nvPr/>
        </p:nvSpPr>
        <p:spPr>
          <a:xfrm>
            <a:off x="8869680" y="2057400"/>
            <a:ext cx="2606040" cy="3749040"/>
          </a:xfrm>
          <a:prstGeom prst="rect">
            <a:avLst/>
          </a:prstGeom>
          <a:noFill/>
          <a:ln/>
        </p:spPr>
        <p:txBody>
          <a:bodyPr wrap="square" rtlCol="0" anchor="ctr"/>
          <a:lstStyle/>
          <a:p>
            <a:pPr marL="342900" indent="-342900">
              <a:lnSpc>
                <a:spcPct val="125000"/>
              </a:lnSpc>
              <a:spcAft>
                <a:spcPts val="1000"/>
              </a:spcAft>
              <a:buSzPct val="100000"/>
              <a:buChar char="•"/>
            </a:pPr>
            <a:r>
              <a:rPr lang="en-US" sz="1350" dirty="0">
                <a:solidFill>
                  <a:srgbClr val="1F2D3D"/>
                </a:solidFill>
              </a:rPr>
              <a:t>Streamlit UI</a:t>
            </a:r>
            <a:endParaRPr lang="en-US" sz="1350" dirty="0"/>
          </a:p>
          <a:p>
            <a:pPr marL="342900" indent="-342900">
              <a:lnSpc>
                <a:spcPct val="125000"/>
              </a:lnSpc>
              <a:spcAft>
                <a:spcPts val="1000"/>
              </a:spcAft>
              <a:buSzPct val="100000"/>
              <a:buChar char="•"/>
            </a:pPr>
            <a:r>
              <a:rPr lang="en-US" sz="1350" dirty="0">
                <a:solidFill>
                  <a:srgbClr val="1F2D3D"/>
                </a:solidFill>
              </a:rPr>
              <a:t>Agent Orchestrator</a:t>
            </a:r>
            <a:endParaRPr lang="en-US" sz="1350" dirty="0"/>
          </a:p>
          <a:p>
            <a:pPr marL="342900" indent="-342900">
              <a:lnSpc>
                <a:spcPct val="125000"/>
              </a:lnSpc>
              <a:spcAft>
                <a:spcPts val="1000"/>
              </a:spcAft>
              <a:buSzPct val="100000"/>
              <a:buChar char="•"/>
            </a:pPr>
            <a:r>
              <a:rPr lang="en-US" sz="1350" dirty="0">
                <a:solidFill>
                  <a:srgbClr val="1F2D3D"/>
                </a:solidFill>
              </a:rPr>
              <a:t>3 specialised agents</a:t>
            </a:r>
            <a:endParaRPr lang="en-US" sz="1350" dirty="0"/>
          </a:p>
          <a:p>
            <a:pPr marL="342900" indent="-342900">
              <a:lnSpc>
                <a:spcPct val="125000"/>
              </a:lnSpc>
              <a:spcAft>
                <a:spcPts val="1000"/>
              </a:spcAft>
              <a:buSzPct val="100000"/>
              <a:buChar char="•"/>
            </a:pPr>
            <a:r>
              <a:rPr lang="en-US" sz="1350" dirty="0">
                <a:solidFill>
                  <a:srgbClr val="1F2D3D"/>
                </a:solidFill>
              </a:rPr>
              <a:t>ML model / signals+LLM / RAG</a:t>
            </a:r>
            <a:endParaRPr lang="en-US" sz="1350" dirty="0"/>
          </a:p>
          <a:p>
            <a:pPr marL="342900" indent="-342900">
              <a:lnSpc>
                <a:spcPct val="125000"/>
              </a:lnSpc>
              <a:spcAft>
                <a:spcPts val="1000"/>
              </a:spcAft>
              <a:buSzPct val="100000"/>
              <a:buChar char="•"/>
            </a:pPr>
            <a:r>
              <a:rPr lang="en-US" sz="1350" dirty="0">
                <a:solidFill>
                  <a:srgbClr val="1F2D3D"/>
                </a:solidFill>
              </a:rPr>
              <a:t>Data + artifacts layer</a:t>
            </a:r>
            <a:endParaRPr lang="en-US" sz="13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566928"/>
            <a:ext cx="146304" cy="384048"/>
          </a:xfrm>
          <a:prstGeom prst="rect">
            <a:avLst/>
          </a:prstGeom>
          <a:solidFill>
            <a:srgbClr val="11998E"/>
          </a:solidFill>
          <a:ln/>
        </p:spPr>
      </p:sp>
      <p:sp>
        <p:nvSpPr>
          <p:cNvPr id="3" name="Text 1"/>
          <p:cNvSpPr/>
          <p:nvPr/>
        </p:nvSpPr>
        <p:spPr>
          <a:xfrm>
            <a:off x="822960" y="502920"/>
            <a:ext cx="10789920" cy="548640"/>
          </a:xfrm>
          <a:prstGeom prst="rect">
            <a:avLst/>
          </a:prstGeom>
          <a:noFill/>
          <a:ln/>
        </p:spPr>
        <p:txBody>
          <a:bodyPr wrap="square" lIns="0" tIns="0" rIns="0" bIns="0" rtlCol="0" anchor="ctr"/>
          <a:lstStyle/>
          <a:p>
            <a:pPr algn="l" indent="0" marL="0">
              <a:buNone/>
            </a:pPr>
            <a:r>
              <a:rPr lang="en-US" sz="2800" b="1" dirty="0">
                <a:solidFill>
                  <a:srgbClr val="203A43"/>
                </a:solidFill>
                <a:latin typeface="Calibri" pitchFamily="34" charset="0"/>
                <a:ea typeface="Calibri" pitchFamily="34" charset="-122"/>
                <a:cs typeface="Calibri" pitchFamily="34" charset="-120"/>
              </a:rPr>
              <a:t>Technology Stack</a:t>
            </a:r>
            <a:endParaRPr lang="en-US" sz="2800" dirty="0"/>
          </a:p>
        </p:txBody>
      </p:sp>
      <p:sp>
        <p:nvSpPr>
          <p:cNvPr id="4" name="Text 2"/>
          <p:cNvSpPr/>
          <p:nvPr/>
        </p:nvSpPr>
        <p:spPr>
          <a:xfrm>
            <a:off x="548640" y="6437376"/>
            <a:ext cx="5486400" cy="274320"/>
          </a:xfrm>
          <a:prstGeom prst="rect">
            <a:avLst/>
          </a:prstGeom>
          <a:noFill/>
          <a:ln/>
        </p:spPr>
        <p:txBody>
          <a:bodyPr wrap="square" rtlCol="0" anchor="ctr"/>
          <a:lstStyle/>
          <a:p>
            <a:pPr algn="l" indent="0" marL="0">
              <a:buNone/>
            </a:pPr>
            <a:r>
              <a:rPr lang="en-US" sz="900" dirty="0">
                <a:solidFill>
                  <a:srgbClr val="64748B"/>
                </a:solidFill>
              </a:rPr>
              <a:t>TruthLens AI</a:t>
            </a:r>
            <a:endParaRPr lang="en-US" sz="900" dirty="0"/>
          </a:p>
        </p:txBody>
      </p:sp>
      <p:sp>
        <p:nvSpPr>
          <p:cNvPr id="5" name="Text 3"/>
          <p:cNvSpPr/>
          <p:nvPr/>
        </p:nvSpPr>
        <p:spPr>
          <a:xfrm>
            <a:off x="10058400" y="6437376"/>
            <a:ext cx="1581912" cy="274320"/>
          </a:xfrm>
          <a:prstGeom prst="rect">
            <a:avLst/>
          </a:prstGeom>
          <a:noFill/>
          <a:ln/>
        </p:spPr>
        <p:txBody>
          <a:bodyPr wrap="square" rtlCol="0" anchor="ctr"/>
          <a:lstStyle/>
          <a:p>
            <a:pPr algn="r" indent="0" marL="0">
              <a:buNone/>
            </a:pPr>
            <a:r>
              <a:rPr lang="en-US" sz="900" dirty="0">
                <a:solidFill>
                  <a:srgbClr val="64748B"/>
                </a:solidFill>
              </a:rPr>
              <a:t>7 / 20</a:t>
            </a:r>
            <a:endParaRPr lang="en-US" sz="900" dirty="0"/>
          </a:p>
        </p:txBody>
      </p:sp>
      <p:sp>
        <p:nvSpPr>
          <p:cNvPr id="6" name="Shape 4"/>
          <p:cNvSpPr/>
          <p:nvPr/>
        </p:nvSpPr>
        <p:spPr>
          <a:xfrm>
            <a:off x="548640" y="1463040"/>
            <a:ext cx="5550408" cy="1417320"/>
          </a:xfrm>
          <a:prstGeom prst="roundRect">
            <a:avLst>
              <a:gd name="adj" fmla="val 5161"/>
            </a:avLst>
          </a:prstGeom>
          <a:solidFill>
            <a:srgbClr val="FFFFFF"/>
          </a:solidFill>
          <a:ln w="12700">
            <a:solidFill>
              <a:srgbClr val="E2E8F0"/>
            </a:solidFill>
            <a:prstDash val="solid"/>
          </a:ln>
          <a:effectLst>
            <a:outerShdw sx="100000" sy="100000" kx="0" ky="0" algn="bl" rotWithShape="0" blurRad="88900" dist="38100" dir="8100000">
              <a:srgbClr val="000000">
                <a:alpha val="16000"/>
              </a:srgbClr>
            </a:outerShdw>
          </a:effectLst>
        </p:spPr>
      </p:sp>
      <p:sp>
        <p:nvSpPr>
          <p:cNvPr id="7" name="Shape 5"/>
          <p:cNvSpPr/>
          <p:nvPr/>
        </p:nvSpPr>
        <p:spPr>
          <a:xfrm>
            <a:off x="548640" y="1463040"/>
            <a:ext cx="128016" cy="1417320"/>
          </a:xfrm>
          <a:prstGeom prst="rect">
            <a:avLst/>
          </a:prstGeom>
          <a:solidFill>
            <a:srgbClr val="11998E"/>
          </a:solidFill>
          <a:ln/>
        </p:spPr>
      </p:sp>
      <p:sp>
        <p:nvSpPr>
          <p:cNvPr id="8" name="Text 6"/>
          <p:cNvSpPr/>
          <p:nvPr/>
        </p:nvSpPr>
        <p:spPr>
          <a:xfrm>
            <a:off x="868680" y="1627632"/>
            <a:ext cx="5001768" cy="411480"/>
          </a:xfrm>
          <a:prstGeom prst="rect">
            <a:avLst/>
          </a:prstGeom>
          <a:noFill/>
          <a:ln/>
        </p:spPr>
        <p:txBody>
          <a:bodyPr wrap="square" lIns="0" tIns="0" rIns="0" bIns="0" rtlCol="0" anchor="ctr"/>
          <a:lstStyle/>
          <a:p>
            <a:pPr indent="0" marL="0">
              <a:buNone/>
            </a:pPr>
            <a:r>
              <a:rPr lang="en-US" sz="1600" b="1" dirty="0">
                <a:solidFill>
                  <a:srgbClr val="203A43"/>
                </a:solidFill>
              </a:rPr>
              <a:t>Language &amp; ML</a:t>
            </a:r>
            <a:endParaRPr lang="en-US" sz="1600" dirty="0"/>
          </a:p>
        </p:txBody>
      </p:sp>
      <p:sp>
        <p:nvSpPr>
          <p:cNvPr id="9" name="Text 7"/>
          <p:cNvSpPr/>
          <p:nvPr/>
        </p:nvSpPr>
        <p:spPr>
          <a:xfrm>
            <a:off x="868680" y="2103120"/>
            <a:ext cx="5001768" cy="640080"/>
          </a:xfrm>
          <a:prstGeom prst="rect">
            <a:avLst/>
          </a:prstGeom>
          <a:noFill/>
          <a:ln/>
        </p:spPr>
        <p:txBody>
          <a:bodyPr wrap="square" lIns="0" tIns="0" rIns="0" bIns="0" rtlCol="0" anchor="ctr"/>
          <a:lstStyle/>
          <a:p>
            <a:pPr indent="0" marL="0">
              <a:buNone/>
            </a:pPr>
            <a:r>
              <a:rPr lang="en-US" sz="1350" dirty="0">
                <a:solidFill>
                  <a:srgbClr val="1F2D3D"/>
                </a:solidFill>
              </a:rPr>
              <a:t>Python 3 - scikit-learn - NumPy - pandas</a:t>
            </a:r>
            <a:endParaRPr lang="en-US" sz="1350" dirty="0"/>
          </a:p>
        </p:txBody>
      </p:sp>
      <p:sp>
        <p:nvSpPr>
          <p:cNvPr id="10" name="Shape 8"/>
          <p:cNvSpPr/>
          <p:nvPr/>
        </p:nvSpPr>
        <p:spPr>
          <a:xfrm>
            <a:off x="6089904" y="1463040"/>
            <a:ext cx="5550408" cy="1417320"/>
          </a:xfrm>
          <a:prstGeom prst="roundRect">
            <a:avLst>
              <a:gd name="adj" fmla="val 5161"/>
            </a:avLst>
          </a:prstGeom>
          <a:solidFill>
            <a:srgbClr val="FFFFFF"/>
          </a:solidFill>
          <a:ln w="12700">
            <a:solidFill>
              <a:srgbClr val="E2E8F0"/>
            </a:solidFill>
            <a:prstDash val="solid"/>
          </a:ln>
          <a:effectLst>
            <a:outerShdw sx="100000" sy="100000" kx="0" ky="0" algn="bl" rotWithShape="0" blurRad="88900" dist="38100" dir="8100000">
              <a:srgbClr val="000000">
                <a:alpha val="16000"/>
              </a:srgbClr>
            </a:outerShdw>
          </a:effectLst>
        </p:spPr>
      </p:sp>
      <p:sp>
        <p:nvSpPr>
          <p:cNvPr id="11" name="Shape 9"/>
          <p:cNvSpPr/>
          <p:nvPr/>
        </p:nvSpPr>
        <p:spPr>
          <a:xfrm>
            <a:off x="6089904" y="1463040"/>
            <a:ext cx="128016" cy="1417320"/>
          </a:xfrm>
          <a:prstGeom prst="rect">
            <a:avLst/>
          </a:prstGeom>
          <a:solidFill>
            <a:srgbClr val="11998E"/>
          </a:solidFill>
          <a:ln/>
        </p:spPr>
      </p:sp>
      <p:sp>
        <p:nvSpPr>
          <p:cNvPr id="12" name="Text 10"/>
          <p:cNvSpPr/>
          <p:nvPr/>
        </p:nvSpPr>
        <p:spPr>
          <a:xfrm>
            <a:off x="6409944" y="1627632"/>
            <a:ext cx="5001768" cy="411480"/>
          </a:xfrm>
          <a:prstGeom prst="rect">
            <a:avLst/>
          </a:prstGeom>
          <a:noFill/>
          <a:ln/>
        </p:spPr>
        <p:txBody>
          <a:bodyPr wrap="square" lIns="0" tIns="0" rIns="0" bIns="0" rtlCol="0" anchor="ctr"/>
          <a:lstStyle/>
          <a:p>
            <a:pPr indent="0" marL="0">
              <a:buNone/>
            </a:pPr>
            <a:r>
              <a:rPr lang="en-US" sz="1600" b="1" dirty="0">
                <a:solidFill>
                  <a:srgbClr val="203A43"/>
                </a:solidFill>
              </a:rPr>
              <a:t>Interface</a:t>
            </a:r>
            <a:endParaRPr lang="en-US" sz="1600" dirty="0"/>
          </a:p>
        </p:txBody>
      </p:sp>
      <p:sp>
        <p:nvSpPr>
          <p:cNvPr id="13" name="Text 11"/>
          <p:cNvSpPr/>
          <p:nvPr/>
        </p:nvSpPr>
        <p:spPr>
          <a:xfrm>
            <a:off x="6409944" y="2103120"/>
            <a:ext cx="5001768" cy="640080"/>
          </a:xfrm>
          <a:prstGeom prst="rect">
            <a:avLst/>
          </a:prstGeom>
          <a:noFill/>
          <a:ln/>
        </p:spPr>
        <p:txBody>
          <a:bodyPr wrap="square" lIns="0" tIns="0" rIns="0" bIns="0" rtlCol="0" anchor="ctr"/>
          <a:lstStyle/>
          <a:p>
            <a:pPr indent="0" marL="0">
              <a:buNone/>
            </a:pPr>
            <a:r>
              <a:rPr lang="en-US" sz="1350" dirty="0">
                <a:solidFill>
                  <a:srgbClr val="1F2D3D"/>
                </a:solidFill>
              </a:rPr>
              <a:t>Streamlit - Plotly / Matplotlib</a:t>
            </a:r>
            <a:endParaRPr lang="en-US" sz="1350" dirty="0"/>
          </a:p>
        </p:txBody>
      </p:sp>
      <p:sp>
        <p:nvSpPr>
          <p:cNvPr id="14" name="Shape 12"/>
          <p:cNvSpPr/>
          <p:nvPr/>
        </p:nvSpPr>
        <p:spPr>
          <a:xfrm>
            <a:off x="548640" y="2999232"/>
            <a:ext cx="5550408" cy="1417320"/>
          </a:xfrm>
          <a:prstGeom prst="roundRect">
            <a:avLst>
              <a:gd name="adj" fmla="val 5161"/>
            </a:avLst>
          </a:prstGeom>
          <a:solidFill>
            <a:srgbClr val="FFFFFF"/>
          </a:solidFill>
          <a:ln w="12700">
            <a:solidFill>
              <a:srgbClr val="E2E8F0"/>
            </a:solidFill>
            <a:prstDash val="solid"/>
          </a:ln>
          <a:effectLst>
            <a:outerShdw sx="100000" sy="100000" kx="0" ky="0" algn="bl" rotWithShape="0" blurRad="88900" dist="38100" dir="8100000">
              <a:srgbClr val="000000">
                <a:alpha val="16000"/>
              </a:srgbClr>
            </a:outerShdw>
          </a:effectLst>
        </p:spPr>
      </p:sp>
      <p:sp>
        <p:nvSpPr>
          <p:cNvPr id="15" name="Shape 13"/>
          <p:cNvSpPr/>
          <p:nvPr/>
        </p:nvSpPr>
        <p:spPr>
          <a:xfrm>
            <a:off x="548640" y="2999232"/>
            <a:ext cx="128016" cy="1417320"/>
          </a:xfrm>
          <a:prstGeom prst="rect">
            <a:avLst/>
          </a:prstGeom>
          <a:solidFill>
            <a:srgbClr val="11998E"/>
          </a:solidFill>
          <a:ln/>
        </p:spPr>
      </p:sp>
      <p:sp>
        <p:nvSpPr>
          <p:cNvPr id="16" name="Text 14"/>
          <p:cNvSpPr/>
          <p:nvPr/>
        </p:nvSpPr>
        <p:spPr>
          <a:xfrm>
            <a:off x="868680" y="3163824"/>
            <a:ext cx="5001768" cy="411480"/>
          </a:xfrm>
          <a:prstGeom prst="rect">
            <a:avLst/>
          </a:prstGeom>
          <a:noFill/>
          <a:ln/>
        </p:spPr>
        <p:txBody>
          <a:bodyPr wrap="square" lIns="0" tIns="0" rIns="0" bIns="0" rtlCol="0" anchor="ctr"/>
          <a:lstStyle/>
          <a:p>
            <a:pPr indent="0" marL="0">
              <a:buNone/>
            </a:pPr>
            <a:r>
              <a:rPr lang="en-US" sz="1600" b="1" dirty="0">
                <a:solidFill>
                  <a:srgbClr val="203A43"/>
                </a:solidFill>
              </a:rPr>
              <a:t>Retrieval (RAG)</a:t>
            </a:r>
            <a:endParaRPr lang="en-US" sz="1600" dirty="0"/>
          </a:p>
        </p:txBody>
      </p:sp>
      <p:sp>
        <p:nvSpPr>
          <p:cNvPr id="17" name="Text 15"/>
          <p:cNvSpPr/>
          <p:nvPr/>
        </p:nvSpPr>
        <p:spPr>
          <a:xfrm>
            <a:off x="868680" y="3639312"/>
            <a:ext cx="5001768" cy="640080"/>
          </a:xfrm>
          <a:prstGeom prst="rect">
            <a:avLst/>
          </a:prstGeom>
          <a:noFill/>
          <a:ln/>
        </p:spPr>
        <p:txBody>
          <a:bodyPr wrap="square" lIns="0" tIns="0" rIns="0" bIns="0" rtlCol="0" anchor="ctr"/>
          <a:lstStyle/>
          <a:p>
            <a:pPr indent="0" marL="0">
              <a:buNone/>
            </a:pPr>
            <a:r>
              <a:rPr lang="en-US" sz="1350" dirty="0">
                <a:solidFill>
                  <a:srgbClr val="1F2D3D"/>
                </a:solidFill>
              </a:rPr>
              <a:t>FAISS + sentence-transformers - TF-IDF fallback</a:t>
            </a:r>
            <a:endParaRPr lang="en-US" sz="1350" dirty="0"/>
          </a:p>
        </p:txBody>
      </p:sp>
      <p:sp>
        <p:nvSpPr>
          <p:cNvPr id="18" name="Shape 16"/>
          <p:cNvSpPr/>
          <p:nvPr/>
        </p:nvSpPr>
        <p:spPr>
          <a:xfrm>
            <a:off x="6089904" y="2999232"/>
            <a:ext cx="5550408" cy="1417320"/>
          </a:xfrm>
          <a:prstGeom prst="roundRect">
            <a:avLst>
              <a:gd name="adj" fmla="val 5161"/>
            </a:avLst>
          </a:prstGeom>
          <a:solidFill>
            <a:srgbClr val="FFFFFF"/>
          </a:solidFill>
          <a:ln w="12700">
            <a:solidFill>
              <a:srgbClr val="E2E8F0"/>
            </a:solidFill>
            <a:prstDash val="solid"/>
          </a:ln>
          <a:effectLst>
            <a:outerShdw sx="100000" sy="100000" kx="0" ky="0" algn="bl" rotWithShape="0" blurRad="88900" dist="38100" dir="8100000">
              <a:srgbClr val="000000">
                <a:alpha val="16000"/>
              </a:srgbClr>
            </a:outerShdw>
          </a:effectLst>
        </p:spPr>
      </p:sp>
      <p:sp>
        <p:nvSpPr>
          <p:cNvPr id="19" name="Shape 17"/>
          <p:cNvSpPr/>
          <p:nvPr/>
        </p:nvSpPr>
        <p:spPr>
          <a:xfrm>
            <a:off x="6089904" y="2999232"/>
            <a:ext cx="128016" cy="1417320"/>
          </a:xfrm>
          <a:prstGeom prst="rect">
            <a:avLst/>
          </a:prstGeom>
          <a:solidFill>
            <a:srgbClr val="11998E"/>
          </a:solidFill>
          <a:ln/>
        </p:spPr>
      </p:sp>
      <p:sp>
        <p:nvSpPr>
          <p:cNvPr id="20" name="Text 18"/>
          <p:cNvSpPr/>
          <p:nvPr/>
        </p:nvSpPr>
        <p:spPr>
          <a:xfrm>
            <a:off x="6409944" y="3163824"/>
            <a:ext cx="5001768" cy="411480"/>
          </a:xfrm>
          <a:prstGeom prst="rect">
            <a:avLst/>
          </a:prstGeom>
          <a:noFill/>
          <a:ln/>
        </p:spPr>
        <p:txBody>
          <a:bodyPr wrap="square" lIns="0" tIns="0" rIns="0" bIns="0" rtlCol="0" anchor="ctr"/>
          <a:lstStyle/>
          <a:p>
            <a:pPr indent="0" marL="0">
              <a:buNone/>
            </a:pPr>
            <a:r>
              <a:rPr lang="en-US" sz="1600" b="1" dirty="0">
                <a:solidFill>
                  <a:srgbClr val="203A43"/>
                </a:solidFill>
              </a:rPr>
              <a:t>Generative AI</a:t>
            </a:r>
            <a:endParaRPr lang="en-US" sz="1600" dirty="0"/>
          </a:p>
        </p:txBody>
      </p:sp>
      <p:sp>
        <p:nvSpPr>
          <p:cNvPr id="21" name="Text 19"/>
          <p:cNvSpPr/>
          <p:nvPr/>
        </p:nvSpPr>
        <p:spPr>
          <a:xfrm>
            <a:off x="6409944" y="3639312"/>
            <a:ext cx="5001768" cy="640080"/>
          </a:xfrm>
          <a:prstGeom prst="rect">
            <a:avLst/>
          </a:prstGeom>
          <a:noFill/>
          <a:ln/>
        </p:spPr>
        <p:txBody>
          <a:bodyPr wrap="square" lIns="0" tIns="0" rIns="0" bIns="0" rtlCol="0" anchor="ctr"/>
          <a:lstStyle/>
          <a:p>
            <a:pPr indent="0" marL="0">
              <a:buNone/>
            </a:pPr>
            <a:r>
              <a:rPr lang="en-US" sz="1350" dirty="0">
                <a:solidFill>
                  <a:srgbClr val="1F2D3D"/>
                </a:solidFill>
              </a:rPr>
              <a:t>Ollama (local LLM) - deterministic template fallback</a:t>
            </a:r>
            <a:endParaRPr lang="en-US" sz="1350" dirty="0"/>
          </a:p>
        </p:txBody>
      </p:sp>
      <p:sp>
        <p:nvSpPr>
          <p:cNvPr id="22" name="Shape 20"/>
          <p:cNvSpPr/>
          <p:nvPr/>
        </p:nvSpPr>
        <p:spPr>
          <a:xfrm>
            <a:off x="548640" y="4535424"/>
            <a:ext cx="5550408" cy="1417320"/>
          </a:xfrm>
          <a:prstGeom prst="roundRect">
            <a:avLst>
              <a:gd name="adj" fmla="val 5161"/>
            </a:avLst>
          </a:prstGeom>
          <a:solidFill>
            <a:srgbClr val="FFFFFF"/>
          </a:solidFill>
          <a:ln w="12700">
            <a:solidFill>
              <a:srgbClr val="E2E8F0"/>
            </a:solidFill>
            <a:prstDash val="solid"/>
          </a:ln>
          <a:effectLst>
            <a:outerShdw sx="100000" sy="100000" kx="0" ky="0" algn="bl" rotWithShape="0" blurRad="88900" dist="38100" dir="8100000">
              <a:srgbClr val="000000">
                <a:alpha val="16000"/>
              </a:srgbClr>
            </a:outerShdw>
          </a:effectLst>
        </p:spPr>
      </p:sp>
      <p:sp>
        <p:nvSpPr>
          <p:cNvPr id="23" name="Shape 21"/>
          <p:cNvSpPr/>
          <p:nvPr/>
        </p:nvSpPr>
        <p:spPr>
          <a:xfrm>
            <a:off x="548640" y="4535424"/>
            <a:ext cx="128016" cy="1417320"/>
          </a:xfrm>
          <a:prstGeom prst="rect">
            <a:avLst/>
          </a:prstGeom>
          <a:solidFill>
            <a:srgbClr val="11998E"/>
          </a:solidFill>
          <a:ln/>
        </p:spPr>
      </p:sp>
      <p:sp>
        <p:nvSpPr>
          <p:cNvPr id="24" name="Text 22"/>
          <p:cNvSpPr/>
          <p:nvPr/>
        </p:nvSpPr>
        <p:spPr>
          <a:xfrm>
            <a:off x="868680" y="4700016"/>
            <a:ext cx="5001768" cy="411480"/>
          </a:xfrm>
          <a:prstGeom prst="rect">
            <a:avLst/>
          </a:prstGeom>
          <a:noFill/>
          <a:ln/>
        </p:spPr>
        <p:txBody>
          <a:bodyPr wrap="square" lIns="0" tIns="0" rIns="0" bIns="0" rtlCol="0" anchor="ctr"/>
          <a:lstStyle/>
          <a:p>
            <a:pPr indent="0" marL="0">
              <a:buNone/>
            </a:pPr>
            <a:r>
              <a:rPr lang="en-US" sz="1600" b="1" dirty="0">
                <a:solidFill>
                  <a:srgbClr val="203A43"/>
                </a:solidFill>
              </a:rPr>
              <a:t>Agents</a:t>
            </a:r>
            <a:endParaRPr lang="en-US" sz="1600" dirty="0"/>
          </a:p>
        </p:txBody>
      </p:sp>
      <p:sp>
        <p:nvSpPr>
          <p:cNvPr id="25" name="Text 23"/>
          <p:cNvSpPr/>
          <p:nvPr/>
        </p:nvSpPr>
        <p:spPr>
          <a:xfrm>
            <a:off x="868680" y="5175504"/>
            <a:ext cx="5001768" cy="640080"/>
          </a:xfrm>
          <a:prstGeom prst="rect">
            <a:avLst/>
          </a:prstGeom>
          <a:noFill/>
          <a:ln/>
        </p:spPr>
        <p:txBody>
          <a:bodyPr wrap="square" lIns="0" tIns="0" rIns="0" bIns="0" rtlCol="0" anchor="ctr"/>
          <a:lstStyle/>
          <a:p>
            <a:pPr indent="0" marL="0">
              <a:buNone/>
            </a:pPr>
            <a:r>
              <a:rPr lang="en-US" sz="1350" dirty="0">
                <a:solidFill>
                  <a:srgbClr val="1F2D3D"/>
                </a:solidFill>
              </a:rPr>
              <a:t>Custom multi-agent orchestrator (CrewAI-style)</a:t>
            </a:r>
            <a:endParaRPr lang="en-US" sz="1350" dirty="0"/>
          </a:p>
        </p:txBody>
      </p:sp>
      <p:sp>
        <p:nvSpPr>
          <p:cNvPr id="26" name="Shape 24"/>
          <p:cNvSpPr/>
          <p:nvPr/>
        </p:nvSpPr>
        <p:spPr>
          <a:xfrm>
            <a:off x="6089904" y="4535424"/>
            <a:ext cx="5550408" cy="1417320"/>
          </a:xfrm>
          <a:prstGeom prst="roundRect">
            <a:avLst>
              <a:gd name="adj" fmla="val 5161"/>
            </a:avLst>
          </a:prstGeom>
          <a:solidFill>
            <a:srgbClr val="FFFFFF"/>
          </a:solidFill>
          <a:ln w="12700">
            <a:solidFill>
              <a:srgbClr val="E2E8F0"/>
            </a:solidFill>
            <a:prstDash val="solid"/>
          </a:ln>
          <a:effectLst>
            <a:outerShdw sx="100000" sy="100000" kx="0" ky="0" algn="bl" rotWithShape="0" blurRad="88900" dist="38100" dir="8100000">
              <a:srgbClr val="000000">
                <a:alpha val="16000"/>
              </a:srgbClr>
            </a:outerShdw>
          </a:effectLst>
        </p:spPr>
      </p:sp>
      <p:sp>
        <p:nvSpPr>
          <p:cNvPr id="27" name="Shape 25"/>
          <p:cNvSpPr/>
          <p:nvPr/>
        </p:nvSpPr>
        <p:spPr>
          <a:xfrm>
            <a:off x="6089904" y="4535424"/>
            <a:ext cx="128016" cy="1417320"/>
          </a:xfrm>
          <a:prstGeom prst="rect">
            <a:avLst/>
          </a:prstGeom>
          <a:solidFill>
            <a:srgbClr val="11998E"/>
          </a:solidFill>
          <a:ln/>
        </p:spPr>
      </p:sp>
      <p:sp>
        <p:nvSpPr>
          <p:cNvPr id="28" name="Text 26"/>
          <p:cNvSpPr/>
          <p:nvPr/>
        </p:nvSpPr>
        <p:spPr>
          <a:xfrm>
            <a:off x="6409944" y="4700016"/>
            <a:ext cx="5001768" cy="411480"/>
          </a:xfrm>
          <a:prstGeom prst="rect">
            <a:avLst/>
          </a:prstGeom>
          <a:noFill/>
          <a:ln/>
        </p:spPr>
        <p:txBody>
          <a:bodyPr wrap="square" lIns="0" tIns="0" rIns="0" bIns="0" rtlCol="0" anchor="ctr"/>
          <a:lstStyle/>
          <a:p>
            <a:pPr indent="0" marL="0">
              <a:buNone/>
            </a:pPr>
            <a:r>
              <a:rPr lang="en-US" sz="1600" b="1" dirty="0">
                <a:solidFill>
                  <a:srgbClr val="203A43"/>
                </a:solidFill>
              </a:rPr>
              <a:t>Tooling &amp; QA</a:t>
            </a:r>
            <a:endParaRPr lang="en-US" sz="1600" dirty="0"/>
          </a:p>
        </p:txBody>
      </p:sp>
      <p:sp>
        <p:nvSpPr>
          <p:cNvPr id="29" name="Text 27"/>
          <p:cNvSpPr/>
          <p:nvPr/>
        </p:nvSpPr>
        <p:spPr>
          <a:xfrm>
            <a:off x="6409944" y="5175504"/>
            <a:ext cx="5001768" cy="640080"/>
          </a:xfrm>
          <a:prstGeom prst="rect">
            <a:avLst/>
          </a:prstGeom>
          <a:noFill/>
          <a:ln/>
        </p:spPr>
        <p:txBody>
          <a:bodyPr wrap="square" lIns="0" tIns="0" rIns="0" bIns="0" rtlCol="0" anchor="ctr"/>
          <a:lstStyle/>
          <a:p>
            <a:pPr indent="0" marL="0">
              <a:buNone/>
            </a:pPr>
            <a:r>
              <a:rPr lang="en-US" sz="1350" dirty="0">
                <a:solidFill>
                  <a:srgbClr val="1F2D3D"/>
                </a:solidFill>
              </a:rPr>
              <a:t>pytest - joblib - Git - modular package layout</a:t>
            </a:r>
            <a:endParaRPr lang="en-US" sz="13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566928"/>
            <a:ext cx="146304" cy="384048"/>
          </a:xfrm>
          <a:prstGeom prst="rect">
            <a:avLst/>
          </a:prstGeom>
          <a:solidFill>
            <a:srgbClr val="11998E"/>
          </a:solidFill>
          <a:ln/>
        </p:spPr>
      </p:sp>
      <p:sp>
        <p:nvSpPr>
          <p:cNvPr id="3" name="Text 1"/>
          <p:cNvSpPr/>
          <p:nvPr/>
        </p:nvSpPr>
        <p:spPr>
          <a:xfrm>
            <a:off x="822960" y="502920"/>
            <a:ext cx="10789920" cy="548640"/>
          </a:xfrm>
          <a:prstGeom prst="rect">
            <a:avLst/>
          </a:prstGeom>
          <a:noFill/>
          <a:ln/>
        </p:spPr>
        <p:txBody>
          <a:bodyPr wrap="square" lIns="0" tIns="0" rIns="0" bIns="0" rtlCol="0" anchor="ctr"/>
          <a:lstStyle/>
          <a:p>
            <a:pPr algn="l" indent="0" marL="0">
              <a:buNone/>
            </a:pPr>
            <a:r>
              <a:rPr lang="en-US" sz="2800" b="1" dirty="0">
                <a:solidFill>
                  <a:srgbClr val="203A43"/>
                </a:solidFill>
                <a:latin typeface="Calibri" pitchFamily="34" charset="0"/>
                <a:ea typeface="Calibri" pitchFamily="34" charset="-122"/>
                <a:cs typeface="Calibri" pitchFamily="34" charset="-120"/>
              </a:rPr>
              <a:t>Dataset</a:t>
            </a:r>
            <a:endParaRPr lang="en-US" sz="2800" dirty="0"/>
          </a:p>
        </p:txBody>
      </p:sp>
      <p:sp>
        <p:nvSpPr>
          <p:cNvPr id="4" name="Text 2"/>
          <p:cNvSpPr/>
          <p:nvPr/>
        </p:nvSpPr>
        <p:spPr>
          <a:xfrm>
            <a:off x="548640" y="6437376"/>
            <a:ext cx="5486400" cy="274320"/>
          </a:xfrm>
          <a:prstGeom prst="rect">
            <a:avLst/>
          </a:prstGeom>
          <a:noFill/>
          <a:ln/>
        </p:spPr>
        <p:txBody>
          <a:bodyPr wrap="square" rtlCol="0" anchor="ctr"/>
          <a:lstStyle/>
          <a:p>
            <a:pPr algn="l" indent="0" marL="0">
              <a:buNone/>
            </a:pPr>
            <a:r>
              <a:rPr lang="en-US" sz="900" dirty="0">
                <a:solidFill>
                  <a:srgbClr val="64748B"/>
                </a:solidFill>
              </a:rPr>
              <a:t>TruthLens AI</a:t>
            </a:r>
            <a:endParaRPr lang="en-US" sz="900" dirty="0"/>
          </a:p>
        </p:txBody>
      </p:sp>
      <p:sp>
        <p:nvSpPr>
          <p:cNvPr id="5" name="Text 3"/>
          <p:cNvSpPr/>
          <p:nvPr/>
        </p:nvSpPr>
        <p:spPr>
          <a:xfrm>
            <a:off x="10058400" y="6437376"/>
            <a:ext cx="1581912" cy="274320"/>
          </a:xfrm>
          <a:prstGeom prst="rect">
            <a:avLst/>
          </a:prstGeom>
          <a:noFill/>
          <a:ln/>
        </p:spPr>
        <p:txBody>
          <a:bodyPr wrap="square" rtlCol="0" anchor="ctr"/>
          <a:lstStyle/>
          <a:p>
            <a:pPr algn="r" indent="0" marL="0">
              <a:buNone/>
            </a:pPr>
            <a:r>
              <a:rPr lang="en-US" sz="900" dirty="0">
                <a:solidFill>
                  <a:srgbClr val="64748B"/>
                </a:solidFill>
              </a:rPr>
              <a:t>8 / 20</a:t>
            </a:r>
            <a:endParaRPr lang="en-US" sz="900" dirty="0"/>
          </a:p>
        </p:txBody>
      </p:sp>
      <p:pic>
        <p:nvPicPr>
          <p:cNvPr id="6" name="Image 0" descr="/sessions/kind-great-lamport/mnt/Minor digre poject/images/dataset_distribution.png">    </p:cNvPr>
          <p:cNvPicPr>
            <a:picLocks noChangeAspect="1"/>
          </p:cNvPicPr>
          <p:nvPr/>
        </p:nvPicPr>
        <p:blipFill>
          <a:blip r:embed="rId1"/>
          <a:stretch>
            <a:fillRect/>
          </a:stretch>
        </p:blipFill>
        <p:spPr>
          <a:xfrm>
            <a:off x="6766560" y="2106573"/>
            <a:ext cx="4846320" cy="3193495"/>
          </a:xfrm>
          <a:prstGeom prst="rect">
            <a:avLst/>
          </a:prstGeom>
        </p:spPr>
      </p:pic>
      <p:sp>
        <p:nvSpPr>
          <p:cNvPr id="7" name="Shape 4"/>
          <p:cNvSpPr/>
          <p:nvPr/>
        </p:nvSpPr>
        <p:spPr>
          <a:xfrm>
            <a:off x="548640" y="1508760"/>
            <a:ext cx="5852160" cy="960120"/>
          </a:xfrm>
          <a:prstGeom prst="roundRect">
            <a:avLst>
              <a:gd name="adj" fmla="val 7619"/>
            </a:avLst>
          </a:prstGeom>
          <a:solidFill>
            <a:srgbClr val="FFFFFF"/>
          </a:solidFill>
          <a:ln w="12700">
            <a:solidFill>
              <a:srgbClr val="E2E8F0"/>
            </a:solidFill>
            <a:prstDash val="solid"/>
          </a:ln>
          <a:effectLst>
            <a:outerShdw sx="100000" sy="100000" kx="0" ky="0" algn="bl" rotWithShape="0" blurRad="88900" dist="38100" dir="8100000">
              <a:srgbClr val="000000">
                <a:alpha val="16000"/>
              </a:srgbClr>
            </a:outerShdw>
          </a:effectLst>
        </p:spPr>
      </p:sp>
      <p:sp>
        <p:nvSpPr>
          <p:cNvPr id="8" name="Text 5"/>
          <p:cNvSpPr/>
          <p:nvPr/>
        </p:nvSpPr>
        <p:spPr>
          <a:xfrm>
            <a:off x="777240" y="1508760"/>
            <a:ext cx="2286000" cy="960120"/>
          </a:xfrm>
          <a:prstGeom prst="rect">
            <a:avLst/>
          </a:prstGeom>
          <a:noFill/>
          <a:ln/>
        </p:spPr>
        <p:txBody>
          <a:bodyPr wrap="square" lIns="0" tIns="0" rIns="0" bIns="0" rtlCol="0" anchor="ctr"/>
          <a:lstStyle/>
          <a:p>
            <a:pPr indent="0" marL="0">
              <a:buNone/>
            </a:pPr>
            <a:r>
              <a:rPr lang="en-US" sz="2600" b="1" dirty="0">
                <a:solidFill>
                  <a:srgbClr val="11998E"/>
                </a:solidFill>
              </a:rPr>
              <a:t>3,000</a:t>
            </a:r>
            <a:endParaRPr lang="en-US" sz="2600" dirty="0"/>
          </a:p>
        </p:txBody>
      </p:sp>
      <p:sp>
        <p:nvSpPr>
          <p:cNvPr id="9" name="Text 6"/>
          <p:cNvSpPr/>
          <p:nvPr/>
        </p:nvSpPr>
        <p:spPr>
          <a:xfrm>
            <a:off x="3108960" y="1508760"/>
            <a:ext cx="3108960" cy="960120"/>
          </a:xfrm>
          <a:prstGeom prst="rect">
            <a:avLst/>
          </a:prstGeom>
          <a:noFill/>
          <a:ln/>
        </p:spPr>
        <p:txBody>
          <a:bodyPr wrap="square" lIns="0" tIns="0" rIns="0" bIns="0" rtlCol="0" anchor="ctr"/>
          <a:lstStyle/>
          <a:p>
            <a:pPr indent="0" marL="0">
              <a:buNone/>
            </a:pPr>
            <a:r>
              <a:rPr lang="en-US" sz="1450" dirty="0">
                <a:solidFill>
                  <a:srgbClr val="1F2D3D"/>
                </a:solidFill>
              </a:rPr>
              <a:t>balanced articles</a:t>
            </a:r>
            <a:endParaRPr lang="en-US" sz="1450" dirty="0"/>
          </a:p>
        </p:txBody>
      </p:sp>
      <p:sp>
        <p:nvSpPr>
          <p:cNvPr id="10" name="Shape 7"/>
          <p:cNvSpPr/>
          <p:nvPr/>
        </p:nvSpPr>
        <p:spPr>
          <a:xfrm>
            <a:off x="548640" y="2587752"/>
            <a:ext cx="5852160" cy="960120"/>
          </a:xfrm>
          <a:prstGeom prst="roundRect">
            <a:avLst>
              <a:gd name="adj" fmla="val 7619"/>
            </a:avLst>
          </a:prstGeom>
          <a:solidFill>
            <a:srgbClr val="FFFFFF"/>
          </a:solidFill>
          <a:ln w="12700">
            <a:solidFill>
              <a:srgbClr val="E2E8F0"/>
            </a:solidFill>
            <a:prstDash val="solid"/>
          </a:ln>
          <a:effectLst>
            <a:outerShdw sx="100000" sy="100000" kx="0" ky="0" algn="bl" rotWithShape="0" blurRad="88900" dist="38100" dir="8100000">
              <a:srgbClr val="000000">
                <a:alpha val="16000"/>
              </a:srgbClr>
            </a:outerShdw>
          </a:effectLst>
        </p:spPr>
      </p:sp>
      <p:sp>
        <p:nvSpPr>
          <p:cNvPr id="11" name="Text 8"/>
          <p:cNvSpPr/>
          <p:nvPr/>
        </p:nvSpPr>
        <p:spPr>
          <a:xfrm>
            <a:off x="777240" y="2587752"/>
            <a:ext cx="2286000" cy="960120"/>
          </a:xfrm>
          <a:prstGeom prst="rect">
            <a:avLst/>
          </a:prstGeom>
          <a:noFill/>
          <a:ln/>
        </p:spPr>
        <p:txBody>
          <a:bodyPr wrap="square" lIns="0" tIns="0" rIns="0" bIns="0" rtlCol="0" anchor="ctr"/>
          <a:lstStyle/>
          <a:p>
            <a:pPr indent="0" marL="0">
              <a:buNone/>
            </a:pPr>
            <a:r>
              <a:rPr lang="en-US" sz="2600" b="1" dirty="0">
                <a:solidFill>
                  <a:srgbClr val="11998E"/>
                </a:solidFill>
              </a:rPr>
              <a:t>2,400 / 600</a:t>
            </a:r>
            <a:endParaRPr lang="en-US" sz="2600" dirty="0"/>
          </a:p>
        </p:txBody>
      </p:sp>
      <p:sp>
        <p:nvSpPr>
          <p:cNvPr id="12" name="Text 9"/>
          <p:cNvSpPr/>
          <p:nvPr/>
        </p:nvSpPr>
        <p:spPr>
          <a:xfrm>
            <a:off x="3108960" y="2587752"/>
            <a:ext cx="3108960" cy="960120"/>
          </a:xfrm>
          <a:prstGeom prst="rect">
            <a:avLst/>
          </a:prstGeom>
          <a:noFill/>
          <a:ln/>
        </p:spPr>
        <p:txBody>
          <a:bodyPr wrap="square" lIns="0" tIns="0" rIns="0" bIns="0" rtlCol="0" anchor="ctr"/>
          <a:lstStyle/>
          <a:p>
            <a:pPr indent="0" marL="0">
              <a:buNone/>
            </a:pPr>
            <a:r>
              <a:rPr lang="en-US" sz="1450" dirty="0">
                <a:solidFill>
                  <a:srgbClr val="1F2D3D"/>
                </a:solidFill>
              </a:rPr>
              <a:t>train / test split</a:t>
            </a:r>
            <a:endParaRPr lang="en-US" sz="1450" dirty="0"/>
          </a:p>
        </p:txBody>
      </p:sp>
      <p:sp>
        <p:nvSpPr>
          <p:cNvPr id="13" name="Shape 10"/>
          <p:cNvSpPr/>
          <p:nvPr/>
        </p:nvSpPr>
        <p:spPr>
          <a:xfrm>
            <a:off x="548640" y="3666744"/>
            <a:ext cx="5852160" cy="960120"/>
          </a:xfrm>
          <a:prstGeom prst="roundRect">
            <a:avLst>
              <a:gd name="adj" fmla="val 7619"/>
            </a:avLst>
          </a:prstGeom>
          <a:solidFill>
            <a:srgbClr val="FFFFFF"/>
          </a:solidFill>
          <a:ln w="12700">
            <a:solidFill>
              <a:srgbClr val="E2E8F0"/>
            </a:solidFill>
            <a:prstDash val="solid"/>
          </a:ln>
          <a:effectLst>
            <a:outerShdw sx="100000" sy="100000" kx="0" ky="0" algn="bl" rotWithShape="0" blurRad="88900" dist="38100" dir="8100000">
              <a:srgbClr val="000000">
                <a:alpha val="16000"/>
              </a:srgbClr>
            </a:outerShdw>
          </a:effectLst>
        </p:spPr>
      </p:sp>
      <p:sp>
        <p:nvSpPr>
          <p:cNvPr id="14" name="Text 11"/>
          <p:cNvSpPr/>
          <p:nvPr/>
        </p:nvSpPr>
        <p:spPr>
          <a:xfrm>
            <a:off x="777240" y="3666744"/>
            <a:ext cx="2286000" cy="960120"/>
          </a:xfrm>
          <a:prstGeom prst="rect">
            <a:avLst/>
          </a:prstGeom>
          <a:noFill/>
          <a:ln/>
        </p:spPr>
        <p:txBody>
          <a:bodyPr wrap="square" lIns="0" tIns="0" rIns="0" bIns="0" rtlCol="0" anchor="ctr"/>
          <a:lstStyle/>
          <a:p>
            <a:pPr indent="0" marL="0">
              <a:buNone/>
            </a:pPr>
            <a:r>
              <a:rPr lang="en-US" sz="2600" b="1" dirty="0">
                <a:solidFill>
                  <a:srgbClr val="11998E"/>
                </a:solidFill>
              </a:rPr>
              <a:t>~5%</a:t>
            </a:r>
            <a:endParaRPr lang="en-US" sz="2600" dirty="0"/>
          </a:p>
        </p:txBody>
      </p:sp>
      <p:sp>
        <p:nvSpPr>
          <p:cNvPr id="15" name="Text 12"/>
          <p:cNvSpPr/>
          <p:nvPr/>
        </p:nvSpPr>
        <p:spPr>
          <a:xfrm>
            <a:off x="3108960" y="3666744"/>
            <a:ext cx="3108960" cy="960120"/>
          </a:xfrm>
          <a:prstGeom prst="rect">
            <a:avLst/>
          </a:prstGeom>
          <a:noFill/>
          <a:ln/>
        </p:spPr>
        <p:txBody>
          <a:bodyPr wrap="square" lIns="0" tIns="0" rIns="0" bIns="0" rtlCol="0" anchor="ctr"/>
          <a:lstStyle/>
          <a:p>
            <a:pPr indent="0" marL="0">
              <a:buNone/>
            </a:pPr>
            <a:r>
              <a:rPr lang="en-US" sz="1450" dirty="0">
                <a:solidFill>
                  <a:srgbClr val="1F2D3D"/>
                </a:solidFill>
              </a:rPr>
              <a:t>injected label noise</a:t>
            </a:r>
            <a:endParaRPr lang="en-US" sz="1450" dirty="0"/>
          </a:p>
        </p:txBody>
      </p:sp>
      <p:sp>
        <p:nvSpPr>
          <p:cNvPr id="16" name="Shape 13"/>
          <p:cNvSpPr/>
          <p:nvPr/>
        </p:nvSpPr>
        <p:spPr>
          <a:xfrm>
            <a:off x="548640" y="4745736"/>
            <a:ext cx="5852160" cy="960120"/>
          </a:xfrm>
          <a:prstGeom prst="roundRect">
            <a:avLst>
              <a:gd name="adj" fmla="val 7619"/>
            </a:avLst>
          </a:prstGeom>
          <a:solidFill>
            <a:srgbClr val="FFFFFF"/>
          </a:solidFill>
          <a:ln w="12700">
            <a:solidFill>
              <a:srgbClr val="E2E8F0"/>
            </a:solidFill>
            <a:prstDash val="solid"/>
          </a:ln>
          <a:effectLst>
            <a:outerShdw sx="100000" sy="100000" kx="0" ky="0" algn="bl" rotWithShape="0" blurRad="88900" dist="38100" dir="8100000">
              <a:srgbClr val="000000">
                <a:alpha val="16000"/>
              </a:srgbClr>
            </a:outerShdw>
          </a:effectLst>
        </p:spPr>
      </p:sp>
      <p:sp>
        <p:nvSpPr>
          <p:cNvPr id="17" name="Text 14"/>
          <p:cNvSpPr/>
          <p:nvPr/>
        </p:nvSpPr>
        <p:spPr>
          <a:xfrm>
            <a:off x="777240" y="4745736"/>
            <a:ext cx="2286000" cy="960120"/>
          </a:xfrm>
          <a:prstGeom prst="rect">
            <a:avLst/>
          </a:prstGeom>
          <a:noFill/>
          <a:ln/>
        </p:spPr>
        <p:txBody>
          <a:bodyPr wrap="square" lIns="0" tIns="0" rIns="0" bIns="0" rtlCol="0" anchor="ctr"/>
          <a:lstStyle/>
          <a:p>
            <a:pPr indent="0" marL="0">
              <a:buNone/>
            </a:pPr>
            <a:r>
              <a:rPr lang="en-US" sz="2600" b="1" dirty="0">
                <a:solidFill>
                  <a:srgbClr val="11998E"/>
                </a:solidFill>
              </a:rPr>
              <a:t>18</a:t>
            </a:r>
            <a:endParaRPr lang="en-US" sz="2600" dirty="0"/>
          </a:p>
        </p:txBody>
      </p:sp>
      <p:sp>
        <p:nvSpPr>
          <p:cNvPr id="18" name="Text 15"/>
          <p:cNvSpPr/>
          <p:nvPr/>
        </p:nvSpPr>
        <p:spPr>
          <a:xfrm>
            <a:off x="3108960" y="4745736"/>
            <a:ext cx="3108960" cy="960120"/>
          </a:xfrm>
          <a:prstGeom prst="rect">
            <a:avLst/>
          </a:prstGeom>
          <a:noFill/>
          <a:ln/>
        </p:spPr>
        <p:txBody>
          <a:bodyPr wrap="square" lIns="0" tIns="0" rIns="0" bIns="0" rtlCol="0" anchor="ctr"/>
          <a:lstStyle/>
          <a:p>
            <a:pPr indent="0" marL="0">
              <a:buNone/>
            </a:pPr>
            <a:r>
              <a:rPr lang="en-US" sz="1450" dirty="0">
                <a:solidFill>
                  <a:srgbClr val="1F2D3D"/>
                </a:solidFill>
              </a:rPr>
              <a:t>KB reference statements</a:t>
            </a:r>
            <a:endParaRPr lang="en-US" sz="1450" dirty="0"/>
          </a:p>
        </p:txBody>
      </p:sp>
      <p:sp>
        <p:nvSpPr>
          <p:cNvPr id="19" name="Text 16"/>
          <p:cNvSpPr/>
          <p:nvPr/>
        </p:nvSpPr>
        <p:spPr>
          <a:xfrm>
            <a:off x="548640" y="5897880"/>
            <a:ext cx="11064240" cy="457200"/>
          </a:xfrm>
          <a:prstGeom prst="rect">
            <a:avLst/>
          </a:prstGeom>
          <a:noFill/>
          <a:ln/>
        </p:spPr>
        <p:txBody>
          <a:bodyPr wrap="square" rtlCol="0" anchor="ctr"/>
          <a:lstStyle/>
          <a:p>
            <a:pPr indent="0" marL="0">
              <a:buNone/>
            </a:pPr>
            <a:r>
              <a:rPr lang="en-US" sz="1250" i="1" dirty="0">
                <a:solidFill>
                  <a:srgbClr val="64748B"/>
                </a:solidFill>
              </a:rPr>
              <a:t>Schema: title, text, label (0=REAL, 1=FAKE). Auto-loads the real Kaggle set if True.csv / Fake.csv are added.</a:t>
            </a:r>
            <a:endParaRPr lang="en-US" sz="12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566928"/>
            <a:ext cx="146304" cy="384048"/>
          </a:xfrm>
          <a:prstGeom prst="rect">
            <a:avLst/>
          </a:prstGeom>
          <a:solidFill>
            <a:srgbClr val="11998E"/>
          </a:solidFill>
          <a:ln/>
        </p:spPr>
      </p:sp>
      <p:sp>
        <p:nvSpPr>
          <p:cNvPr id="3" name="Text 1"/>
          <p:cNvSpPr/>
          <p:nvPr/>
        </p:nvSpPr>
        <p:spPr>
          <a:xfrm>
            <a:off x="822960" y="502920"/>
            <a:ext cx="10789920" cy="548640"/>
          </a:xfrm>
          <a:prstGeom prst="rect">
            <a:avLst/>
          </a:prstGeom>
          <a:noFill/>
          <a:ln/>
        </p:spPr>
        <p:txBody>
          <a:bodyPr wrap="square" lIns="0" tIns="0" rIns="0" bIns="0" rtlCol="0" anchor="ctr"/>
          <a:lstStyle/>
          <a:p>
            <a:pPr algn="l" indent="0" marL="0">
              <a:buNone/>
            </a:pPr>
            <a:r>
              <a:rPr lang="en-US" sz="2800" b="1" dirty="0">
                <a:solidFill>
                  <a:srgbClr val="203A43"/>
                </a:solidFill>
                <a:latin typeface="Calibri" pitchFamily="34" charset="0"/>
                <a:ea typeface="Calibri" pitchFamily="34" charset="-122"/>
                <a:cs typeface="Calibri" pitchFamily="34" charset="-120"/>
              </a:rPr>
              <a:t>Machine Learning Model</a:t>
            </a:r>
            <a:endParaRPr lang="en-US" sz="2800" dirty="0"/>
          </a:p>
        </p:txBody>
      </p:sp>
      <p:sp>
        <p:nvSpPr>
          <p:cNvPr id="4" name="Text 2"/>
          <p:cNvSpPr/>
          <p:nvPr/>
        </p:nvSpPr>
        <p:spPr>
          <a:xfrm>
            <a:off x="548640" y="6437376"/>
            <a:ext cx="5486400" cy="274320"/>
          </a:xfrm>
          <a:prstGeom prst="rect">
            <a:avLst/>
          </a:prstGeom>
          <a:noFill/>
          <a:ln/>
        </p:spPr>
        <p:txBody>
          <a:bodyPr wrap="square" rtlCol="0" anchor="ctr"/>
          <a:lstStyle/>
          <a:p>
            <a:pPr algn="l" indent="0" marL="0">
              <a:buNone/>
            </a:pPr>
            <a:r>
              <a:rPr lang="en-US" sz="900" dirty="0">
                <a:solidFill>
                  <a:srgbClr val="64748B"/>
                </a:solidFill>
              </a:rPr>
              <a:t>TruthLens AI</a:t>
            </a:r>
            <a:endParaRPr lang="en-US" sz="900" dirty="0"/>
          </a:p>
        </p:txBody>
      </p:sp>
      <p:sp>
        <p:nvSpPr>
          <p:cNvPr id="5" name="Text 3"/>
          <p:cNvSpPr/>
          <p:nvPr/>
        </p:nvSpPr>
        <p:spPr>
          <a:xfrm>
            <a:off x="10058400" y="6437376"/>
            <a:ext cx="1581912" cy="274320"/>
          </a:xfrm>
          <a:prstGeom prst="rect">
            <a:avLst/>
          </a:prstGeom>
          <a:noFill/>
          <a:ln/>
        </p:spPr>
        <p:txBody>
          <a:bodyPr wrap="square" rtlCol="0" anchor="ctr"/>
          <a:lstStyle/>
          <a:p>
            <a:pPr algn="r" indent="0" marL="0">
              <a:buNone/>
            </a:pPr>
            <a:r>
              <a:rPr lang="en-US" sz="900" dirty="0">
                <a:solidFill>
                  <a:srgbClr val="64748B"/>
                </a:solidFill>
              </a:rPr>
              <a:t>9 / 20</a:t>
            </a:r>
            <a:endParaRPr lang="en-US" sz="900" dirty="0"/>
          </a:p>
        </p:txBody>
      </p:sp>
      <p:sp>
        <p:nvSpPr>
          <p:cNvPr id="6" name="Shape 4"/>
          <p:cNvSpPr/>
          <p:nvPr/>
        </p:nvSpPr>
        <p:spPr>
          <a:xfrm>
            <a:off x="548640" y="1417320"/>
            <a:ext cx="5486400" cy="4434840"/>
          </a:xfrm>
          <a:prstGeom prst="roundRect">
            <a:avLst>
              <a:gd name="adj" fmla="val 1649"/>
            </a:avLst>
          </a:prstGeom>
          <a:solidFill>
            <a:srgbClr val="FFFFFF"/>
          </a:solidFill>
          <a:ln w="12700">
            <a:solidFill>
              <a:srgbClr val="E2E8F0"/>
            </a:solidFill>
            <a:prstDash val="solid"/>
          </a:ln>
          <a:effectLst>
            <a:outerShdw sx="100000" sy="100000" kx="0" ky="0" algn="bl" rotWithShape="0" blurRad="88900" dist="38100" dir="8100000">
              <a:srgbClr val="000000">
                <a:alpha val="16000"/>
              </a:srgbClr>
            </a:outerShdw>
          </a:effectLst>
        </p:spPr>
      </p:sp>
      <p:sp>
        <p:nvSpPr>
          <p:cNvPr id="7" name="Text 5"/>
          <p:cNvSpPr/>
          <p:nvPr/>
        </p:nvSpPr>
        <p:spPr>
          <a:xfrm>
            <a:off x="822960" y="1600200"/>
            <a:ext cx="4937760" cy="365760"/>
          </a:xfrm>
          <a:prstGeom prst="rect">
            <a:avLst/>
          </a:prstGeom>
          <a:noFill/>
          <a:ln/>
        </p:spPr>
        <p:txBody>
          <a:bodyPr wrap="square" rtlCol="0" anchor="ctr"/>
          <a:lstStyle/>
          <a:p>
            <a:pPr indent="0" marL="0">
              <a:buNone/>
            </a:pPr>
            <a:r>
              <a:rPr lang="en-US" sz="1600" b="1" dirty="0">
                <a:solidFill>
                  <a:srgbClr val="11998E"/>
                </a:solidFill>
              </a:rPr>
              <a:t>Pipeline</a:t>
            </a:r>
            <a:endParaRPr lang="en-US" sz="1600" dirty="0"/>
          </a:p>
        </p:txBody>
      </p:sp>
      <p:sp>
        <p:nvSpPr>
          <p:cNvPr id="8" name="Text 6"/>
          <p:cNvSpPr/>
          <p:nvPr/>
        </p:nvSpPr>
        <p:spPr>
          <a:xfrm>
            <a:off x="868680" y="2103120"/>
            <a:ext cx="5029200" cy="2194560"/>
          </a:xfrm>
          <a:prstGeom prst="rect">
            <a:avLst/>
          </a:prstGeom>
          <a:noFill/>
          <a:ln/>
        </p:spPr>
        <p:txBody>
          <a:bodyPr wrap="square" rtlCol="0" anchor="ctr"/>
          <a:lstStyle/>
          <a:p>
            <a:pPr indent="0" marL="0">
              <a:lnSpc>
                <a:spcPct val="130000"/>
              </a:lnSpc>
              <a:spcAft>
                <a:spcPts val="900"/>
              </a:spcAft>
              <a:buNone/>
            </a:pPr>
            <a:r>
              <a:rPr lang="en-US" sz="1450" dirty="0">
                <a:solidFill>
                  <a:srgbClr val="1F2D3D"/>
                </a:solidFill>
              </a:rPr>
              <a:t>1.  Clean text (URLs / HTML / stopwords removed)</a:t>
            </a:r>
            <a:endParaRPr lang="en-US" sz="1450" dirty="0"/>
          </a:p>
          <a:p>
            <a:pPr indent="0" marL="0">
              <a:lnSpc>
                <a:spcPct val="130000"/>
              </a:lnSpc>
              <a:spcAft>
                <a:spcPts val="900"/>
              </a:spcAft>
              <a:buNone/>
            </a:pPr>
            <a:r>
              <a:rPr lang="en-US" sz="1450" dirty="0">
                <a:solidFill>
                  <a:srgbClr val="1F2D3D"/>
                </a:solidFill>
              </a:rPr>
              <a:t>2.  TF-IDF vectorise (unigrams + bigrams)</a:t>
            </a:r>
            <a:endParaRPr lang="en-US" sz="1450" dirty="0"/>
          </a:p>
          <a:p>
            <a:pPr indent="0" marL="0">
              <a:lnSpc>
                <a:spcPct val="130000"/>
              </a:lnSpc>
              <a:spcAft>
                <a:spcPts val="900"/>
              </a:spcAft>
              <a:buNone/>
            </a:pPr>
            <a:r>
              <a:rPr lang="en-US" sz="1450" dirty="0">
                <a:solidFill>
                  <a:srgbClr val="1F2D3D"/>
                </a:solidFill>
              </a:rPr>
              <a:t>3.  Logistic Regression (balanced, calibrated P)</a:t>
            </a:r>
            <a:endParaRPr lang="en-US" sz="1450" dirty="0"/>
          </a:p>
          <a:p>
            <a:pPr indent="0" marL="0">
              <a:lnSpc>
                <a:spcPct val="130000"/>
              </a:lnSpc>
              <a:spcAft>
                <a:spcPts val="900"/>
              </a:spcAft>
              <a:buNone/>
            </a:pPr>
            <a:r>
              <a:rPr lang="en-US" sz="1450" dirty="0">
                <a:solidFill>
                  <a:srgbClr val="1F2D3D"/>
                </a:solidFill>
              </a:rPr>
              <a:t>4.  Term attribution = coef x tf-idf  -&gt;  explainable</a:t>
            </a:r>
            <a:endParaRPr lang="en-US" sz="1450" dirty="0"/>
          </a:p>
        </p:txBody>
      </p:sp>
      <p:sp>
        <p:nvSpPr>
          <p:cNvPr id="9" name="Text 7"/>
          <p:cNvSpPr/>
          <p:nvPr/>
        </p:nvSpPr>
        <p:spPr>
          <a:xfrm>
            <a:off x="822960" y="4343400"/>
            <a:ext cx="5120640" cy="365760"/>
          </a:xfrm>
          <a:prstGeom prst="rect">
            <a:avLst/>
          </a:prstGeom>
          <a:noFill/>
          <a:ln/>
        </p:spPr>
        <p:txBody>
          <a:bodyPr wrap="square" rtlCol="0" anchor="ctr"/>
          <a:lstStyle/>
          <a:p>
            <a:pPr indent="0" marL="0">
              <a:buNone/>
            </a:pPr>
            <a:r>
              <a:rPr lang="en-US" sz="1400" b="1" dirty="0">
                <a:solidFill>
                  <a:srgbClr val="203A43"/>
                </a:solidFill>
              </a:rPr>
              <a:t>Why TF-IDF + Logistic Regression?</a:t>
            </a:r>
            <a:endParaRPr lang="en-US" sz="1400" dirty="0"/>
          </a:p>
        </p:txBody>
      </p:sp>
      <p:sp>
        <p:nvSpPr>
          <p:cNvPr id="10" name="Text 8"/>
          <p:cNvSpPr/>
          <p:nvPr/>
        </p:nvSpPr>
        <p:spPr>
          <a:xfrm>
            <a:off x="868680" y="4709160"/>
            <a:ext cx="5029200" cy="914400"/>
          </a:xfrm>
          <a:prstGeom prst="rect">
            <a:avLst/>
          </a:prstGeom>
          <a:noFill/>
          <a:ln/>
        </p:spPr>
        <p:txBody>
          <a:bodyPr wrap="square" rtlCol="0" anchor="ctr"/>
          <a:lstStyle/>
          <a:p>
            <a:pPr indent="0" marL="0">
              <a:lnSpc>
                <a:spcPct val="120000"/>
              </a:lnSpc>
              <a:buNone/>
            </a:pPr>
            <a:r>
              <a:rPr lang="en-US" sz="1350" dirty="0">
                <a:solidFill>
                  <a:srgbClr val="1F2D3D"/>
                </a:solidFill>
              </a:rPr>
              <a:t>Fast, low-data friendly, and fully interpretable - you can see exactly which words drove every decision.</a:t>
            </a:r>
            <a:endParaRPr lang="en-US" sz="1350" dirty="0"/>
          </a:p>
        </p:txBody>
      </p:sp>
      <p:sp>
        <p:nvSpPr>
          <p:cNvPr id="11" name="Shape 9"/>
          <p:cNvSpPr/>
          <p:nvPr/>
        </p:nvSpPr>
        <p:spPr>
          <a:xfrm>
            <a:off x="6309360" y="1417320"/>
            <a:ext cx="5303520" cy="4434840"/>
          </a:xfrm>
          <a:prstGeom prst="roundRect">
            <a:avLst>
              <a:gd name="adj" fmla="val 1649"/>
            </a:avLst>
          </a:prstGeom>
          <a:solidFill>
            <a:srgbClr val="0F2027"/>
          </a:solidFill>
          <a:ln w="12700">
            <a:solidFill>
              <a:srgbClr val="E2E8F0"/>
            </a:solidFill>
            <a:prstDash val="solid"/>
          </a:ln>
          <a:effectLst>
            <a:outerShdw sx="100000" sy="100000" kx="0" ky="0" algn="bl" rotWithShape="0" blurRad="88900" dist="38100" dir="8100000">
              <a:srgbClr val="000000">
                <a:alpha val="16000"/>
              </a:srgbClr>
            </a:outerShdw>
          </a:effectLst>
        </p:spPr>
      </p:sp>
      <p:sp>
        <p:nvSpPr>
          <p:cNvPr id="12" name="Text 10"/>
          <p:cNvSpPr/>
          <p:nvPr/>
        </p:nvSpPr>
        <p:spPr>
          <a:xfrm>
            <a:off x="6583680" y="1645920"/>
            <a:ext cx="4754880" cy="365760"/>
          </a:xfrm>
          <a:prstGeom prst="rect">
            <a:avLst/>
          </a:prstGeom>
          <a:noFill/>
          <a:ln/>
        </p:spPr>
        <p:txBody>
          <a:bodyPr wrap="square" rtlCol="0" anchor="ctr"/>
          <a:lstStyle/>
          <a:p>
            <a:pPr indent="0" marL="0">
              <a:buNone/>
            </a:pPr>
            <a:r>
              <a:rPr lang="en-US" sz="1500" b="1" dirty="0">
                <a:solidFill>
                  <a:srgbClr val="9BE3D8"/>
                </a:solidFill>
              </a:rPr>
              <a:t>Trained model - key facts</a:t>
            </a:r>
            <a:endParaRPr lang="en-US" sz="1500" dirty="0"/>
          </a:p>
        </p:txBody>
      </p:sp>
      <p:sp>
        <p:nvSpPr>
          <p:cNvPr id="13" name="Text 11"/>
          <p:cNvSpPr/>
          <p:nvPr/>
        </p:nvSpPr>
        <p:spPr>
          <a:xfrm>
            <a:off x="6583680" y="2194560"/>
            <a:ext cx="2468880" cy="502920"/>
          </a:xfrm>
          <a:prstGeom prst="rect">
            <a:avLst/>
          </a:prstGeom>
          <a:noFill/>
          <a:ln/>
        </p:spPr>
        <p:txBody>
          <a:bodyPr wrap="square" lIns="0" tIns="0" rIns="0" bIns="0" rtlCol="0" anchor="ctr"/>
          <a:lstStyle/>
          <a:p>
            <a:pPr indent="0" marL="0">
              <a:buNone/>
            </a:pPr>
            <a:r>
              <a:rPr lang="en-US" sz="1450" dirty="0">
                <a:solidFill>
                  <a:srgbClr val="FFFFFF"/>
                </a:solidFill>
              </a:rPr>
              <a:t>Algorithm</a:t>
            </a:r>
            <a:endParaRPr lang="en-US" sz="1450" dirty="0"/>
          </a:p>
        </p:txBody>
      </p:sp>
      <p:sp>
        <p:nvSpPr>
          <p:cNvPr id="14" name="Text 12"/>
          <p:cNvSpPr/>
          <p:nvPr/>
        </p:nvSpPr>
        <p:spPr>
          <a:xfrm>
            <a:off x="9052560" y="2194560"/>
            <a:ext cx="2377440" cy="502920"/>
          </a:xfrm>
          <a:prstGeom prst="rect">
            <a:avLst/>
          </a:prstGeom>
          <a:noFill/>
          <a:ln/>
        </p:spPr>
        <p:txBody>
          <a:bodyPr wrap="square" lIns="0" tIns="0" rIns="0" bIns="0" rtlCol="0" anchor="ctr"/>
          <a:lstStyle/>
          <a:p>
            <a:pPr algn="r" indent="0" marL="0">
              <a:buNone/>
            </a:pPr>
            <a:r>
              <a:rPr lang="en-US" sz="1450" b="1" dirty="0">
                <a:solidFill>
                  <a:srgbClr val="9BE3D8"/>
                </a:solidFill>
              </a:rPr>
              <a:t>TF-IDF + LogReg</a:t>
            </a:r>
            <a:endParaRPr lang="en-US" sz="1450" dirty="0"/>
          </a:p>
        </p:txBody>
      </p:sp>
      <p:sp>
        <p:nvSpPr>
          <p:cNvPr id="15" name="Shape 13"/>
          <p:cNvSpPr/>
          <p:nvPr/>
        </p:nvSpPr>
        <p:spPr>
          <a:xfrm>
            <a:off x="6583680" y="2761488"/>
            <a:ext cx="4846320" cy="0"/>
          </a:xfrm>
          <a:prstGeom prst="line">
            <a:avLst/>
          </a:prstGeom>
          <a:noFill/>
          <a:ln w="12700">
            <a:solidFill>
              <a:srgbClr val="2C5364"/>
            </a:solidFill>
            <a:prstDash val="solid"/>
          </a:ln>
        </p:spPr>
      </p:sp>
      <p:sp>
        <p:nvSpPr>
          <p:cNvPr id="16" name="Text 14"/>
          <p:cNvSpPr/>
          <p:nvPr/>
        </p:nvSpPr>
        <p:spPr>
          <a:xfrm>
            <a:off x="6583680" y="2871216"/>
            <a:ext cx="2468880" cy="502920"/>
          </a:xfrm>
          <a:prstGeom prst="rect">
            <a:avLst/>
          </a:prstGeom>
          <a:noFill/>
          <a:ln/>
        </p:spPr>
        <p:txBody>
          <a:bodyPr wrap="square" lIns="0" tIns="0" rIns="0" bIns="0" rtlCol="0" anchor="ctr"/>
          <a:lstStyle/>
          <a:p>
            <a:pPr indent="0" marL="0">
              <a:buNone/>
            </a:pPr>
            <a:r>
              <a:rPr lang="en-US" sz="1450" dirty="0">
                <a:solidFill>
                  <a:srgbClr val="FFFFFF"/>
                </a:solidFill>
              </a:rPr>
              <a:t>Vocabulary</a:t>
            </a:r>
            <a:endParaRPr lang="en-US" sz="1450" dirty="0"/>
          </a:p>
        </p:txBody>
      </p:sp>
      <p:sp>
        <p:nvSpPr>
          <p:cNvPr id="17" name="Text 15"/>
          <p:cNvSpPr/>
          <p:nvPr/>
        </p:nvSpPr>
        <p:spPr>
          <a:xfrm>
            <a:off x="9052560" y="2871216"/>
            <a:ext cx="2377440" cy="502920"/>
          </a:xfrm>
          <a:prstGeom prst="rect">
            <a:avLst/>
          </a:prstGeom>
          <a:noFill/>
          <a:ln/>
        </p:spPr>
        <p:txBody>
          <a:bodyPr wrap="square" lIns="0" tIns="0" rIns="0" bIns="0" rtlCol="0" anchor="ctr"/>
          <a:lstStyle/>
          <a:p>
            <a:pPr algn="r" indent="0" marL="0">
              <a:buNone/>
            </a:pPr>
            <a:r>
              <a:rPr lang="en-US" sz="1450" b="1" dirty="0">
                <a:solidFill>
                  <a:srgbClr val="9BE3D8"/>
                </a:solidFill>
              </a:rPr>
              <a:t>1,500 features</a:t>
            </a:r>
            <a:endParaRPr lang="en-US" sz="1450" dirty="0"/>
          </a:p>
        </p:txBody>
      </p:sp>
      <p:sp>
        <p:nvSpPr>
          <p:cNvPr id="18" name="Shape 16"/>
          <p:cNvSpPr/>
          <p:nvPr/>
        </p:nvSpPr>
        <p:spPr>
          <a:xfrm>
            <a:off x="6583680" y="3438144"/>
            <a:ext cx="4846320" cy="0"/>
          </a:xfrm>
          <a:prstGeom prst="line">
            <a:avLst/>
          </a:prstGeom>
          <a:noFill/>
          <a:ln w="12700">
            <a:solidFill>
              <a:srgbClr val="2C5364"/>
            </a:solidFill>
            <a:prstDash val="solid"/>
          </a:ln>
        </p:spPr>
      </p:sp>
      <p:sp>
        <p:nvSpPr>
          <p:cNvPr id="19" name="Text 17"/>
          <p:cNvSpPr/>
          <p:nvPr/>
        </p:nvSpPr>
        <p:spPr>
          <a:xfrm>
            <a:off x="6583680" y="3547872"/>
            <a:ext cx="2468880" cy="502920"/>
          </a:xfrm>
          <a:prstGeom prst="rect">
            <a:avLst/>
          </a:prstGeom>
          <a:noFill/>
          <a:ln/>
        </p:spPr>
        <p:txBody>
          <a:bodyPr wrap="square" lIns="0" tIns="0" rIns="0" bIns="0" rtlCol="0" anchor="ctr"/>
          <a:lstStyle/>
          <a:p>
            <a:pPr indent="0" marL="0">
              <a:buNone/>
            </a:pPr>
            <a:r>
              <a:rPr lang="en-US" sz="1450" dirty="0">
                <a:solidFill>
                  <a:srgbClr val="FFFFFF"/>
                </a:solidFill>
              </a:rPr>
              <a:t>Cross-val</a:t>
            </a:r>
            <a:endParaRPr lang="en-US" sz="1450" dirty="0"/>
          </a:p>
        </p:txBody>
      </p:sp>
      <p:sp>
        <p:nvSpPr>
          <p:cNvPr id="20" name="Text 18"/>
          <p:cNvSpPr/>
          <p:nvPr/>
        </p:nvSpPr>
        <p:spPr>
          <a:xfrm>
            <a:off x="9052560" y="3547872"/>
            <a:ext cx="2377440" cy="502920"/>
          </a:xfrm>
          <a:prstGeom prst="rect">
            <a:avLst/>
          </a:prstGeom>
          <a:noFill/>
          <a:ln/>
        </p:spPr>
        <p:txBody>
          <a:bodyPr wrap="square" lIns="0" tIns="0" rIns="0" bIns="0" rtlCol="0" anchor="ctr"/>
          <a:lstStyle/>
          <a:p>
            <a:pPr algn="r" indent="0" marL="0">
              <a:buNone/>
            </a:pPr>
            <a:r>
              <a:rPr lang="en-US" sz="1450" b="1" dirty="0">
                <a:solidFill>
                  <a:srgbClr val="9BE3D8"/>
                </a:solidFill>
              </a:rPr>
              <a:t>94.8% (+/- 0.8%)</a:t>
            </a:r>
            <a:endParaRPr lang="en-US" sz="1450" dirty="0"/>
          </a:p>
        </p:txBody>
      </p:sp>
      <p:sp>
        <p:nvSpPr>
          <p:cNvPr id="21" name="Shape 19"/>
          <p:cNvSpPr/>
          <p:nvPr/>
        </p:nvSpPr>
        <p:spPr>
          <a:xfrm>
            <a:off x="6583680" y="4114800"/>
            <a:ext cx="4846320" cy="0"/>
          </a:xfrm>
          <a:prstGeom prst="line">
            <a:avLst/>
          </a:prstGeom>
          <a:noFill/>
          <a:ln w="12700">
            <a:solidFill>
              <a:srgbClr val="2C5364"/>
            </a:solidFill>
            <a:prstDash val="solid"/>
          </a:ln>
        </p:spPr>
      </p:sp>
      <p:sp>
        <p:nvSpPr>
          <p:cNvPr id="22" name="Text 20"/>
          <p:cNvSpPr/>
          <p:nvPr/>
        </p:nvSpPr>
        <p:spPr>
          <a:xfrm>
            <a:off x="6583680" y="4224528"/>
            <a:ext cx="2468880" cy="502920"/>
          </a:xfrm>
          <a:prstGeom prst="rect">
            <a:avLst/>
          </a:prstGeom>
          <a:noFill/>
          <a:ln/>
        </p:spPr>
        <p:txBody>
          <a:bodyPr wrap="square" lIns="0" tIns="0" rIns="0" bIns="0" rtlCol="0" anchor="ctr"/>
          <a:lstStyle/>
          <a:p>
            <a:pPr indent="0" marL="0">
              <a:buNone/>
            </a:pPr>
            <a:r>
              <a:rPr lang="en-US" sz="1450" dirty="0">
                <a:solidFill>
                  <a:srgbClr val="FFFFFF"/>
                </a:solidFill>
              </a:rPr>
              <a:t>Test accuracy</a:t>
            </a:r>
            <a:endParaRPr lang="en-US" sz="1450" dirty="0"/>
          </a:p>
        </p:txBody>
      </p:sp>
      <p:sp>
        <p:nvSpPr>
          <p:cNvPr id="23" name="Text 21"/>
          <p:cNvSpPr/>
          <p:nvPr/>
        </p:nvSpPr>
        <p:spPr>
          <a:xfrm>
            <a:off x="9052560" y="4224528"/>
            <a:ext cx="2377440" cy="502920"/>
          </a:xfrm>
          <a:prstGeom prst="rect">
            <a:avLst/>
          </a:prstGeom>
          <a:noFill/>
          <a:ln/>
        </p:spPr>
        <p:txBody>
          <a:bodyPr wrap="square" lIns="0" tIns="0" rIns="0" bIns="0" rtlCol="0" anchor="ctr"/>
          <a:lstStyle/>
          <a:p>
            <a:pPr algn="r" indent="0" marL="0">
              <a:buNone/>
            </a:pPr>
            <a:r>
              <a:rPr lang="en-US" sz="1450" b="1" dirty="0">
                <a:solidFill>
                  <a:srgbClr val="9BE3D8"/>
                </a:solidFill>
              </a:rPr>
              <a:t>94.2%</a:t>
            </a:r>
            <a:endParaRPr lang="en-US" sz="1450" dirty="0"/>
          </a:p>
        </p:txBody>
      </p:sp>
      <p:sp>
        <p:nvSpPr>
          <p:cNvPr id="24" name="Shape 22"/>
          <p:cNvSpPr/>
          <p:nvPr/>
        </p:nvSpPr>
        <p:spPr>
          <a:xfrm>
            <a:off x="6583680" y="4791456"/>
            <a:ext cx="4846320" cy="0"/>
          </a:xfrm>
          <a:prstGeom prst="line">
            <a:avLst/>
          </a:prstGeom>
          <a:noFill/>
          <a:ln w="12700">
            <a:solidFill>
              <a:srgbClr val="2C5364"/>
            </a:solidFill>
            <a:prstDash val="solid"/>
          </a:ln>
        </p:spPr>
      </p:sp>
      <p:sp>
        <p:nvSpPr>
          <p:cNvPr id="25" name="Text 23"/>
          <p:cNvSpPr/>
          <p:nvPr/>
        </p:nvSpPr>
        <p:spPr>
          <a:xfrm>
            <a:off x="6583680" y="4901184"/>
            <a:ext cx="2468880" cy="502920"/>
          </a:xfrm>
          <a:prstGeom prst="rect">
            <a:avLst/>
          </a:prstGeom>
          <a:noFill/>
          <a:ln/>
        </p:spPr>
        <p:txBody>
          <a:bodyPr wrap="square" lIns="0" tIns="0" rIns="0" bIns="0" rtlCol="0" anchor="ctr"/>
          <a:lstStyle/>
          <a:p>
            <a:pPr indent="0" marL="0">
              <a:buNone/>
            </a:pPr>
            <a:r>
              <a:rPr lang="en-US" sz="1450" dirty="0">
                <a:solidFill>
                  <a:srgbClr val="FFFFFF"/>
                </a:solidFill>
              </a:rPr>
              <a:t>ROC-AUC</a:t>
            </a:r>
            <a:endParaRPr lang="en-US" sz="1450" dirty="0"/>
          </a:p>
        </p:txBody>
      </p:sp>
      <p:sp>
        <p:nvSpPr>
          <p:cNvPr id="26" name="Text 24"/>
          <p:cNvSpPr/>
          <p:nvPr/>
        </p:nvSpPr>
        <p:spPr>
          <a:xfrm>
            <a:off x="9052560" y="4901184"/>
            <a:ext cx="2377440" cy="502920"/>
          </a:xfrm>
          <a:prstGeom prst="rect">
            <a:avLst/>
          </a:prstGeom>
          <a:noFill/>
          <a:ln/>
        </p:spPr>
        <p:txBody>
          <a:bodyPr wrap="square" lIns="0" tIns="0" rIns="0" bIns="0" rtlCol="0" anchor="ctr"/>
          <a:lstStyle/>
          <a:p>
            <a:pPr algn="r" indent="0" marL="0">
              <a:buNone/>
            </a:pPr>
            <a:r>
              <a:rPr lang="en-US" sz="1450" b="1" dirty="0">
                <a:solidFill>
                  <a:srgbClr val="9BE3D8"/>
                </a:solidFill>
              </a:rPr>
              <a:t>0.947</a:t>
            </a:r>
            <a:endParaRPr lang="en-US" sz="1450" dirty="0"/>
          </a:p>
        </p:txBody>
      </p:sp>
      <p:sp>
        <p:nvSpPr>
          <p:cNvPr id="27" name="Shape 25"/>
          <p:cNvSpPr/>
          <p:nvPr/>
        </p:nvSpPr>
        <p:spPr>
          <a:xfrm>
            <a:off x="6583680" y="5468112"/>
            <a:ext cx="4846320" cy="0"/>
          </a:xfrm>
          <a:prstGeom prst="line">
            <a:avLst/>
          </a:prstGeom>
          <a:noFill/>
          <a:ln w="12700">
            <a:solidFill>
              <a:srgbClr val="2C5364"/>
            </a:solidFill>
            <a:prstDash val="solid"/>
          </a:ln>
        </p:spPr>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566928"/>
            <a:ext cx="146304" cy="384048"/>
          </a:xfrm>
          <a:prstGeom prst="rect">
            <a:avLst/>
          </a:prstGeom>
          <a:solidFill>
            <a:srgbClr val="11998E"/>
          </a:solidFill>
          <a:ln/>
        </p:spPr>
      </p:sp>
      <p:sp>
        <p:nvSpPr>
          <p:cNvPr id="3" name="Text 1"/>
          <p:cNvSpPr/>
          <p:nvPr/>
        </p:nvSpPr>
        <p:spPr>
          <a:xfrm>
            <a:off x="822960" y="502920"/>
            <a:ext cx="10789920" cy="548640"/>
          </a:xfrm>
          <a:prstGeom prst="rect">
            <a:avLst/>
          </a:prstGeom>
          <a:noFill/>
          <a:ln/>
        </p:spPr>
        <p:txBody>
          <a:bodyPr wrap="square" lIns="0" tIns="0" rIns="0" bIns="0" rtlCol="0" anchor="ctr"/>
          <a:lstStyle/>
          <a:p>
            <a:pPr algn="l" indent="0" marL="0">
              <a:buNone/>
            </a:pPr>
            <a:r>
              <a:rPr lang="en-US" sz="2800" b="1" dirty="0">
                <a:solidFill>
                  <a:srgbClr val="203A43"/>
                </a:solidFill>
                <a:latin typeface="Calibri" pitchFamily="34" charset="0"/>
                <a:ea typeface="Calibri" pitchFamily="34" charset="-122"/>
                <a:cs typeface="Calibri" pitchFamily="34" charset="-120"/>
              </a:rPr>
              <a:t>Generative AI / Agentic AI Components</a:t>
            </a:r>
            <a:endParaRPr lang="en-US" sz="2800" dirty="0"/>
          </a:p>
        </p:txBody>
      </p:sp>
      <p:sp>
        <p:nvSpPr>
          <p:cNvPr id="4" name="Text 2"/>
          <p:cNvSpPr/>
          <p:nvPr/>
        </p:nvSpPr>
        <p:spPr>
          <a:xfrm>
            <a:off x="548640" y="6437376"/>
            <a:ext cx="5486400" cy="274320"/>
          </a:xfrm>
          <a:prstGeom prst="rect">
            <a:avLst/>
          </a:prstGeom>
          <a:noFill/>
          <a:ln/>
        </p:spPr>
        <p:txBody>
          <a:bodyPr wrap="square" rtlCol="0" anchor="ctr"/>
          <a:lstStyle/>
          <a:p>
            <a:pPr algn="l" indent="0" marL="0">
              <a:buNone/>
            </a:pPr>
            <a:r>
              <a:rPr lang="en-US" sz="900" dirty="0">
                <a:solidFill>
                  <a:srgbClr val="64748B"/>
                </a:solidFill>
              </a:rPr>
              <a:t>TruthLens AI</a:t>
            </a:r>
            <a:endParaRPr lang="en-US" sz="900" dirty="0"/>
          </a:p>
        </p:txBody>
      </p:sp>
      <p:sp>
        <p:nvSpPr>
          <p:cNvPr id="5" name="Text 3"/>
          <p:cNvSpPr/>
          <p:nvPr/>
        </p:nvSpPr>
        <p:spPr>
          <a:xfrm>
            <a:off x="10058400" y="6437376"/>
            <a:ext cx="1581912" cy="274320"/>
          </a:xfrm>
          <a:prstGeom prst="rect">
            <a:avLst/>
          </a:prstGeom>
          <a:noFill/>
          <a:ln/>
        </p:spPr>
        <p:txBody>
          <a:bodyPr wrap="square" rtlCol="0" anchor="ctr"/>
          <a:lstStyle/>
          <a:p>
            <a:pPr algn="r" indent="0" marL="0">
              <a:buNone/>
            </a:pPr>
            <a:r>
              <a:rPr lang="en-US" sz="900" dirty="0">
                <a:solidFill>
                  <a:srgbClr val="64748B"/>
                </a:solidFill>
              </a:rPr>
              <a:t>10 / 20</a:t>
            </a:r>
            <a:endParaRPr lang="en-US" sz="900" dirty="0"/>
          </a:p>
        </p:txBody>
      </p:sp>
      <p:sp>
        <p:nvSpPr>
          <p:cNvPr id="6" name="Shape 4"/>
          <p:cNvSpPr/>
          <p:nvPr/>
        </p:nvSpPr>
        <p:spPr>
          <a:xfrm>
            <a:off x="548640" y="1463040"/>
            <a:ext cx="3611880" cy="2788920"/>
          </a:xfrm>
          <a:prstGeom prst="roundRect">
            <a:avLst>
              <a:gd name="adj" fmla="val 2623"/>
            </a:avLst>
          </a:prstGeom>
          <a:solidFill>
            <a:srgbClr val="FFFFFF"/>
          </a:solidFill>
          <a:ln w="12700">
            <a:solidFill>
              <a:srgbClr val="E2E8F0"/>
            </a:solidFill>
            <a:prstDash val="solid"/>
          </a:ln>
          <a:effectLst>
            <a:outerShdw sx="100000" sy="100000" kx="0" ky="0" algn="bl" rotWithShape="0" blurRad="88900" dist="38100" dir="8100000">
              <a:srgbClr val="000000">
                <a:alpha val="16000"/>
              </a:srgbClr>
            </a:outerShdw>
          </a:effectLst>
        </p:spPr>
      </p:sp>
      <p:sp>
        <p:nvSpPr>
          <p:cNvPr id="7" name="Shape 5"/>
          <p:cNvSpPr/>
          <p:nvPr/>
        </p:nvSpPr>
        <p:spPr>
          <a:xfrm>
            <a:off x="822960" y="1737360"/>
            <a:ext cx="548640" cy="548640"/>
          </a:xfrm>
          <a:prstGeom prst="ellipse">
            <a:avLst/>
          </a:prstGeom>
          <a:solidFill>
            <a:srgbClr val="11998E"/>
          </a:solidFill>
          <a:ln/>
        </p:spPr>
      </p:sp>
      <p:sp>
        <p:nvSpPr>
          <p:cNvPr id="8" name="Text 6"/>
          <p:cNvSpPr/>
          <p:nvPr/>
        </p:nvSpPr>
        <p:spPr>
          <a:xfrm>
            <a:off x="822960" y="1737360"/>
            <a:ext cx="548640" cy="548640"/>
          </a:xfrm>
          <a:prstGeom prst="rect">
            <a:avLst/>
          </a:prstGeom>
          <a:noFill/>
          <a:ln/>
        </p:spPr>
        <p:txBody>
          <a:bodyPr wrap="square" lIns="0" tIns="0" rIns="0" bIns="0" rtlCol="0" anchor="ctr"/>
          <a:lstStyle/>
          <a:p>
            <a:pPr algn="ctr" indent="0" marL="0">
              <a:buNone/>
            </a:pPr>
            <a:r>
              <a:rPr lang="en-US" sz="1500" b="1" dirty="0">
                <a:solidFill>
                  <a:srgbClr val="FFFFFF"/>
                </a:solidFill>
              </a:rPr>
              <a:t>1</a:t>
            </a:r>
            <a:endParaRPr lang="en-US" sz="1500" dirty="0"/>
          </a:p>
        </p:txBody>
      </p:sp>
      <p:sp>
        <p:nvSpPr>
          <p:cNvPr id="9" name="Text 7"/>
          <p:cNvSpPr/>
          <p:nvPr/>
        </p:nvSpPr>
        <p:spPr>
          <a:xfrm>
            <a:off x="1508760" y="1755648"/>
            <a:ext cx="2514600" cy="548640"/>
          </a:xfrm>
          <a:prstGeom prst="rect">
            <a:avLst/>
          </a:prstGeom>
          <a:noFill/>
          <a:ln/>
        </p:spPr>
        <p:txBody>
          <a:bodyPr wrap="square" lIns="0" tIns="0" rIns="0" bIns="0" rtlCol="0" anchor="ctr"/>
          <a:lstStyle/>
          <a:p>
            <a:pPr indent="0" marL="0">
              <a:buNone/>
            </a:pPr>
            <a:r>
              <a:rPr lang="en-US" sz="1550" b="1" dirty="0">
                <a:solidFill>
                  <a:srgbClr val="203A43"/>
                </a:solidFill>
              </a:rPr>
              <a:t>ClassifierAgent</a:t>
            </a:r>
            <a:endParaRPr lang="en-US" sz="1550" dirty="0"/>
          </a:p>
        </p:txBody>
      </p:sp>
      <p:sp>
        <p:nvSpPr>
          <p:cNvPr id="10" name="Text 8"/>
          <p:cNvSpPr/>
          <p:nvPr/>
        </p:nvSpPr>
        <p:spPr>
          <a:xfrm>
            <a:off x="822960" y="2514600"/>
            <a:ext cx="3063240" cy="1554480"/>
          </a:xfrm>
          <a:prstGeom prst="rect">
            <a:avLst/>
          </a:prstGeom>
          <a:noFill/>
          <a:ln/>
        </p:spPr>
        <p:txBody>
          <a:bodyPr wrap="square" rtlCol="0" anchor="ctr"/>
          <a:lstStyle/>
          <a:p>
            <a:pPr indent="0" marL="0">
              <a:lnSpc>
                <a:spcPct val="125000"/>
              </a:lnSpc>
              <a:buNone/>
            </a:pPr>
            <a:r>
              <a:rPr lang="en-US" sz="1350" dirty="0">
                <a:solidFill>
                  <a:srgbClr val="1F2D3D"/>
                </a:solidFill>
              </a:rPr>
              <a:t>Runs the ML model - returns P(fake) and the most influential terms.</a:t>
            </a:r>
            <a:endParaRPr lang="en-US" sz="1350" dirty="0"/>
          </a:p>
        </p:txBody>
      </p:sp>
      <p:sp>
        <p:nvSpPr>
          <p:cNvPr id="11" name="Shape 9"/>
          <p:cNvSpPr/>
          <p:nvPr/>
        </p:nvSpPr>
        <p:spPr>
          <a:xfrm>
            <a:off x="4279392" y="1463040"/>
            <a:ext cx="3611880" cy="2788920"/>
          </a:xfrm>
          <a:prstGeom prst="roundRect">
            <a:avLst>
              <a:gd name="adj" fmla="val 2623"/>
            </a:avLst>
          </a:prstGeom>
          <a:solidFill>
            <a:srgbClr val="FFFFFF"/>
          </a:solidFill>
          <a:ln w="12700">
            <a:solidFill>
              <a:srgbClr val="E2E8F0"/>
            </a:solidFill>
            <a:prstDash val="solid"/>
          </a:ln>
          <a:effectLst>
            <a:outerShdw sx="100000" sy="100000" kx="0" ky="0" algn="bl" rotWithShape="0" blurRad="88900" dist="38100" dir="8100000">
              <a:srgbClr val="000000">
                <a:alpha val="16000"/>
              </a:srgbClr>
            </a:outerShdw>
          </a:effectLst>
        </p:spPr>
      </p:sp>
      <p:sp>
        <p:nvSpPr>
          <p:cNvPr id="12" name="Shape 10"/>
          <p:cNvSpPr/>
          <p:nvPr/>
        </p:nvSpPr>
        <p:spPr>
          <a:xfrm>
            <a:off x="4553712" y="1737360"/>
            <a:ext cx="548640" cy="548640"/>
          </a:xfrm>
          <a:prstGeom prst="ellipse">
            <a:avLst/>
          </a:prstGeom>
          <a:solidFill>
            <a:srgbClr val="2C5364"/>
          </a:solidFill>
          <a:ln/>
        </p:spPr>
      </p:sp>
      <p:sp>
        <p:nvSpPr>
          <p:cNvPr id="13" name="Text 11"/>
          <p:cNvSpPr/>
          <p:nvPr/>
        </p:nvSpPr>
        <p:spPr>
          <a:xfrm>
            <a:off x="4553712" y="1737360"/>
            <a:ext cx="548640" cy="548640"/>
          </a:xfrm>
          <a:prstGeom prst="rect">
            <a:avLst/>
          </a:prstGeom>
          <a:noFill/>
          <a:ln/>
        </p:spPr>
        <p:txBody>
          <a:bodyPr wrap="square" lIns="0" tIns="0" rIns="0" bIns="0" rtlCol="0" anchor="ctr"/>
          <a:lstStyle/>
          <a:p>
            <a:pPr algn="ctr" indent="0" marL="0">
              <a:buNone/>
            </a:pPr>
            <a:r>
              <a:rPr lang="en-US" sz="1500" b="1" dirty="0">
                <a:solidFill>
                  <a:srgbClr val="FFFFFF"/>
                </a:solidFill>
              </a:rPr>
              <a:t>2</a:t>
            </a:r>
            <a:endParaRPr lang="en-US" sz="1500" dirty="0"/>
          </a:p>
        </p:txBody>
      </p:sp>
      <p:sp>
        <p:nvSpPr>
          <p:cNvPr id="14" name="Text 12"/>
          <p:cNvSpPr/>
          <p:nvPr/>
        </p:nvSpPr>
        <p:spPr>
          <a:xfrm>
            <a:off x="5239512" y="1755648"/>
            <a:ext cx="2514600" cy="548640"/>
          </a:xfrm>
          <a:prstGeom prst="rect">
            <a:avLst/>
          </a:prstGeom>
          <a:noFill/>
          <a:ln/>
        </p:spPr>
        <p:txBody>
          <a:bodyPr wrap="square" lIns="0" tIns="0" rIns="0" bIns="0" rtlCol="0" anchor="ctr"/>
          <a:lstStyle/>
          <a:p>
            <a:pPr indent="0" marL="0">
              <a:buNone/>
            </a:pPr>
            <a:r>
              <a:rPr lang="en-US" sz="1550" b="1" dirty="0">
                <a:solidFill>
                  <a:srgbClr val="203A43"/>
                </a:solidFill>
              </a:rPr>
              <a:t>ExplainerAgent</a:t>
            </a:r>
            <a:endParaRPr lang="en-US" sz="1550" dirty="0"/>
          </a:p>
        </p:txBody>
      </p:sp>
      <p:sp>
        <p:nvSpPr>
          <p:cNvPr id="15" name="Text 13"/>
          <p:cNvSpPr/>
          <p:nvPr/>
        </p:nvSpPr>
        <p:spPr>
          <a:xfrm>
            <a:off x="4553712" y="2514600"/>
            <a:ext cx="3063240" cy="1554480"/>
          </a:xfrm>
          <a:prstGeom prst="rect">
            <a:avLst/>
          </a:prstGeom>
          <a:noFill/>
          <a:ln/>
        </p:spPr>
        <p:txBody>
          <a:bodyPr wrap="square" rtlCol="0" anchor="ctr"/>
          <a:lstStyle/>
          <a:p>
            <a:pPr indent="0" marL="0">
              <a:lnSpc>
                <a:spcPct val="125000"/>
              </a:lnSpc>
              <a:buNone/>
            </a:pPr>
            <a:r>
              <a:rPr lang="en-US" sz="1350" dirty="0">
                <a:solidFill>
                  <a:srgbClr val="1F2D3D"/>
                </a:solidFill>
              </a:rPr>
              <a:t>Extracts credibility signals; writes the explanation via local LLM or template.</a:t>
            </a:r>
            <a:endParaRPr lang="en-US" sz="1350" dirty="0"/>
          </a:p>
        </p:txBody>
      </p:sp>
      <p:sp>
        <p:nvSpPr>
          <p:cNvPr id="16" name="Shape 14"/>
          <p:cNvSpPr/>
          <p:nvPr/>
        </p:nvSpPr>
        <p:spPr>
          <a:xfrm>
            <a:off x="8010144" y="1463040"/>
            <a:ext cx="3611880" cy="2788920"/>
          </a:xfrm>
          <a:prstGeom prst="roundRect">
            <a:avLst>
              <a:gd name="adj" fmla="val 2623"/>
            </a:avLst>
          </a:prstGeom>
          <a:solidFill>
            <a:srgbClr val="FFFFFF"/>
          </a:solidFill>
          <a:ln w="12700">
            <a:solidFill>
              <a:srgbClr val="E2E8F0"/>
            </a:solidFill>
            <a:prstDash val="solid"/>
          </a:ln>
          <a:effectLst>
            <a:outerShdw sx="100000" sy="100000" kx="0" ky="0" algn="bl" rotWithShape="0" blurRad="88900" dist="38100" dir="8100000">
              <a:srgbClr val="000000">
                <a:alpha val="16000"/>
              </a:srgbClr>
            </a:outerShdw>
          </a:effectLst>
        </p:spPr>
      </p:sp>
      <p:sp>
        <p:nvSpPr>
          <p:cNvPr id="17" name="Shape 15"/>
          <p:cNvSpPr/>
          <p:nvPr/>
        </p:nvSpPr>
        <p:spPr>
          <a:xfrm>
            <a:off x="8284464" y="1737360"/>
            <a:ext cx="548640" cy="548640"/>
          </a:xfrm>
          <a:prstGeom prst="ellipse">
            <a:avLst/>
          </a:prstGeom>
          <a:solidFill>
            <a:srgbClr val="203A43"/>
          </a:solidFill>
          <a:ln/>
        </p:spPr>
      </p:sp>
      <p:sp>
        <p:nvSpPr>
          <p:cNvPr id="18" name="Text 16"/>
          <p:cNvSpPr/>
          <p:nvPr/>
        </p:nvSpPr>
        <p:spPr>
          <a:xfrm>
            <a:off x="8284464" y="1737360"/>
            <a:ext cx="548640" cy="548640"/>
          </a:xfrm>
          <a:prstGeom prst="rect">
            <a:avLst/>
          </a:prstGeom>
          <a:noFill/>
          <a:ln/>
        </p:spPr>
        <p:txBody>
          <a:bodyPr wrap="square" lIns="0" tIns="0" rIns="0" bIns="0" rtlCol="0" anchor="ctr"/>
          <a:lstStyle/>
          <a:p>
            <a:pPr algn="ctr" indent="0" marL="0">
              <a:buNone/>
            </a:pPr>
            <a:r>
              <a:rPr lang="en-US" sz="1500" b="1" dirty="0">
                <a:solidFill>
                  <a:srgbClr val="FFFFFF"/>
                </a:solidFill>
              </a:rPr>
              <a:t>3</a:t>
            </a:r>
            <a:endParaRPr lang="en-US" sz="1500" dirty="0"/>
          </a:p>
        </p:txBody>
      </p:sp>
      <p:sp>
        <p:nvSpPr>
          <p:cNvPr id="19" name="Text 17"/>
          <p:cNvSpPr/>
          <p:nvPr/>
        </p:nvSpPr>
        <p:spPr>
          <a:xfrm>
            <a:off x="8970264" y="1755648"/>
            <a:ext cx="2514600" cy="548640"/>
          </a:xfrm>
          <a:prstGeom prst="rect">
            <a:avLst/>
          </a:prstGeom>
          <a:noFill/>
          <a:ln/>
        </p:spPr>
        <p:txBody>
          <a:bodyPr wrap="square" lIns="0" tIns="0" rIns="0" bIns="0" rtlCol="0" anchor="ctr"/>
          <a:lstStyle/>
          <a:p>
            <a:pPr indent="0" marL="0">
              <a:buNone/>
            </a:pPr>
            <a:r>
              <a:rPr lang="en-US" sz="1550" b="1" dirty="0">
                <a:solidFill>
                  <a:srgbClr val="203A43"/>
                </a:solidFill>
              </a:rPr>
              <a:t>FactCheckAgent</a:t>
            </a:r>
            <a:endParaRPr lang="en-US" sz="1550" dirty="0"/>
          </a:p>
        </p:txBody>
      </p:sp>
      <p:sp>
        <p:nvSpPr>
          <p:cNvPr id="20" name="Text 18"/>
          <p:cNvSpPr/>
          <p:nvPr/>
        </p:nvSpPr>
        <p:spPr>
          <a:xfrm>
            <a:off x="8284464" y="2514600"/>
            <a:ext cx="3063240" cy="1554480"/>
          </a:xfrm>
          <a:prstGeom prst="rect">
            <a:avLst/>
          </a:prstGeom>
          <a:noFill/>
          <a:ln/>
        </p:spPr>
        <p:txBody>
          <a:bodyPr wrap="square" rtlCol="0" anchor="ctr"/>
          <a:lstStyle/>
          <a:p>
            <a:pPr indent="0" marL="0">
              <a:lnSpc>
                <a:spcPct val="125000"/>
              </a:lnSpc>
              <a:buNone/>
            </a:pPr>
            <a:r>
              <a:rPr lang="en-US" sz="1350" dirty="0">
                <a:solidFill>
                  <a:srgbClr val="1F2D3D"/>
                </a:solidFill>
              </a:rPr>
              <a:t>RAG: retrieves top-k verified statements to ground the verdict.</a:t>
            </a:r>
            <a:endParaRPr lang="en-US" sz="1350" dirty="0"/>
          </a:p>
        </p:txBody>
      </p:sp>
      <p:sp>
        <p:nvSpPr>
          <p:cNvPr id="21" name="Shape 19"/>
          <p:cNvSpPr/>
          <p:nvPr/>
        </p:nvSpPr>
        <p:spPr>
          <a:xfrm>
            <a:off x="548640" y="4526280"/>
            <a:ext cx="11064240" cy="1325880"/>
          </a:xfrm>
          <a:prstGeom prst="roundRect">
            <a:avLst>
              <a:gd name="adj" fmla="val 5517"/>
            </a:avLst>
          </a:prstGeom>
          <a:solidFill>
            <a:srgbClr val="F4F7FA"/>
          </a:solidFill>
          <a:ln w="12700">
            <a:solidFill>
              <a:srgbClr val="E2E8F0"/>
            </a:solidFill>
            <a:prstDash val="solid"/>
          </a:ln>
          <a:effectLst>
            <a:outerShdw sx="100000" sy="100000" kx="0" ky="0" algn="bl" rotWithShape="0" blurRad="88900" dist="38100" dir="8100000">
              <a:srgbClr val="000000">
                <a:alpha val="16000"/>
              </a:srgbClr>
            </a:outerShdw>
          </a:effectLst>
        </p:spPr>
      </p:sp>
      <p:sp>
        <p:nvSpPr>
          <p:cNvPr id="22" name="Text 20"/>
          <p:cNvSpPr/>
          <p:nvPr/>
        </p:nvSpPr>
        <p:spPr>
          <a:xfrm>
            <a:off x="822960" y="4663440"/>
            <a:ext cx="10607040" cy="365760"/>
          </a:xfrm>
          <a:prstGeom prst="rect">
            <a:avLst/>
          </a:prstGeom>
          <a:noFill/>
          <a:ln/>
        </p:spPr>
        <p:txBody>
          <a:bodyPr wrap="square" rtlCol="0" anchor="ctr"/>
          <a:lstStyle/>
          <a:p>
            <a:pPr indent="0" marL="0">
              <a:buNone/>
            </a:pPr>
            <a:r>
              <a:rPr lang="en-US" sz="1450" b="1" dirty="0">
                <a:solidFill>
                  <a:srgbClr val="11998E"/>
                </a:solidFill>
              </a:rPr>
              <a:t>Agentic orchestration + graceful degradation</a:t>
            </a:r>
            <a:endParaRPr lang="en-US" sz="1450" dirty="0"/>
          </a:p>
        </p:txBody>
      </p:sp>
      <p:sp>
        <p:nvSpPr>
          <p:cNvPr id="23" name="Text 21"/>
          <p:cNvSpPr/>
          <p:nvPr/>
        </p:nvSpPr>
        <p:spPr>
          <a:xfrm>
            <a:off x="822960" y="5029200"/>
            <a:ext cx="10607040" cy="777240"/>
          </a:xfrm>
          <a:prstGeom prst="rect">
            <a:avLst/>
          </a:prstGeom>
          <a:noFill/>
          <a:ln/>
        </p:spPr>
        <p:txBody>
          <a:bodyPr wrap="square" rtlCol="0" anchor="ctr"/>
          <a:lstStyle/>
          <a:p>
            <a:pPr indent="0" marL="0">
              <a:lnSpc>
                <a:spcPct val="115000"/>
              </a:lnSpc>
              <a:buNone/>
            </a:pPr>
            <a:r>
              <a:rPr lang="en-US" sz="1350" dirty="0">
                <a:solidFill>
                  <a:srgbClr val="1F2D3D"/>
                </a:solidFill>
              </a:rPr>
              <a:t>An orchestrator runs the agents in sequence, fuses their outputs (0.70 x model + 0.30 x signal-risk), and returns a verdict with a full reasoning trace. If no local LLM is present, explanations fall back to a deterministic template - so the GenAI layer ALWAYS works offline.</a:t>
            </a:r>
            <a:endParaRPr lang="en-US" sz="13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566928"/>
            <a:ext cx="146304" cy="384048"/>
          </a:xfrm>
          <a:prstGeom prst="rect">
            <a:avLst/>
          </a:prstGeom>
          <a:solidFill>
            <a:srgbClr val="11998E"/>
          </a:solidFill>
          <a:ln/>
        </p:spPr>
      </p:sp>
      <p:sp>
        <p:nvSpPr>
          <p:cNvPr id="3" name="Text 1"/>
          <p:cNvSpPr/>
          <p:nvPr/>
        </p:nvSpPr>
        <p:spPr>
          <a:xfrm>
            <a:off x="822960" y="502920"/>
            <a:ext cx="10789920" cy="548640"/>
          </a:xfrm>
          <a:prstGeom prst="rect">
            <a:avLst/>
          </a:prstGeom>
          <a:noFill/>
          <a:ln/>
        </p:spPr>
        <p:txBody>
          <a:bodyPr wrap="square" lIns="0" tIns="0" rIns="0" bIns="0" rtlCol="0" anchor="ctr"/>
          <a:lstStyle/>
          <a:p>
            <a:pPr algn="l" indent="0" marL="0">
              <a:buNone/>
            </a:pPr>
            <a:r>
              <a:rPr lang="en-US" sz="2800" b="1" dirty="0">
                <a:solidFill>
                  <a:srgbClr val="203A43"/>
                </a:solidFill>
                <a:latin typeface="Calibri" pitchFamily="34" charset="0"/>
                <a:ea typeface="Calibri" pitchFamily="34" charset="-122"/>
                <a:cs typeface="Calibri" pitchFamily="34" charset="-120"/>
              </a:rPr>
              <a:t>Workflow</a:t>
            </a:r>
            <a:endParaRPr lang="en-US" sz="2800" dirty="0"/>
          </a:p>
        </p:txBody>
      </p:sp>
      <p:sp>
        <p:nvSpPr>
          <p:cNvPr id="4" name="Text 2"/>
          <p:cNvSpPr/>
          <p:nvPr/>
        </p:nvSpPr>
        <p:spPr>
          <a:xfrm>
            <a:off x="548640" y="6437376"/>
            <a:ext cx="5486400" cy="274320"/>
          </a:xfrm>
          <a:prstGeom prst="rect">
            <a:avLst/>
          </a:prstGeom>
          <a:noFill/>
          <a:ln/>
        </p:spPr>
        <p:txBody>
          <a:bodyPr wrap="square" rtlCol="0" anchor="ctr"/>
          <a:lstStyle/>
          <a:p>
            <a:pPr algn="l" indent="0" marL="0">
              <a:buNone/>
            </a:pPr>
            <a:r>
              <a:rPr lang="en-US" sz="900" dirty="0">
                <a:solidFill>
                  <a:srgbClr val="64748B"/>
                </a:solidFill>
              </a:rPr>
              <a:t>TruthLens AI</a:t>
            </a:r>
            <a:endParaRPr lang="en-US" sz="900" dirty="0"/>
          </a:p>
        </p:txBody>
      </p:sp>
      <p:sp>
        <p:nvSpPr>
          <p:cNvPr id="5" name="Text 3"/>
          <p:cNvSpPr/>
          <p:nvPr/>
        </p:nvSpPr>
        <p:spPr>
          <a:xfrm>
            <a:off x="10058400" y="6437376"/>
            <a:ext cx="1581912" cy="274320"/>
          </a:xfrm>
          <a:prstGeom prst="rect">
            <a:avLst/>
          </a:prstGeom>
          <a:noFill/>
          <a:ln/>
        </p:spPr>
        <p:txBody>
          <a:bodyPr wrap="square" rtlCol="0" anchor="ctr"/>
          <a:lstStyle/>
          <a:p>
            <a:pPr algn="r" indent="0" marL="0">
              <a:buNone/>
            </a:pPr>
            <a:r>
              <a:rPr lang="en-US" sz="900" dirty="0">
                <a:solidFill>
                  <a:srgbClr val="64748B"/>
                </a:solidFill>
              </a:rPr>
              <a:t>11 / 20</a:t>
            </a:r>
            <a:endParaRPr lang="en-US" sz="900" dirty="0"/>
          </a:p>
        </p:txBody>
      </p:sp>
      <p:pic>
        <p:nvPicPr>
          <p:cNvPr id="6" name="Image 0" descr="/sessions/kind-great-lamport/mnt/Minor digre poject/images/workflow.png">    </p:cNvPr>
          <p:cNvPicPr>
            <a:picLocks noChangeAspect="1"/>
          </p:cNvPicPr>
          <p:nvPr/>
        </p:nvPicPr>
        <p:blipFill>
          <a:blip r:embed="rId1"/>
          <a:stretch>
            <a:fillRect/>
          </a:stretch>
        </p:blipFill>
        <p:spPr>
          <a:xfrm>
            <a:off x="4212536" y="1280160"/>
            <a:ext cx="3736448" cy="5029200"/>
          </a:xfrm>
          <a:prstGeom prst="rect">
            <a:avLst/>
          </a:prstGeom>
        </p:spPr>
      </p:pic>
      <p:sp>
        <p:nvSpPr>
          <p:cNvPr id="7" name="Shape 4"/>
          <p:cNvSpPr/>
          <p:nvPr/>
        </p:nvSpPr>
        <p:spPr>
          <a:xfrm>
            <a:off x="548640" y="1554480"/>
            <a:ext cx="3108960" cy="4297680"/>
          </a:xfrm>
          <a:prstGeom prst="roundRect">
            <a:avLst>
              <a:gd name="adj" fmla="val 2353"/>
            </a:avLst>
          </a:prstGeom>
          <a:solidFill>
            <a:srgbClr val="F4F7FA"/>
          </a:solidFill>
          <a:ln w="12700">
            <a:solidFill>
              <a:srgbClr val="E2E8F0"/>
            </a:solidFill>
            <a:prstDash val="solid"/>
          </a:ln>
          <a:effectLst>
            <a:outerShdw sx="100000" sy="100000" kx="0" ky="0" algn="bl" rotWithShape="0" blurRad="88900" dist="38100" dir="8100000">
              <a:srgbClr val="000000">
                <a:alpha val="16000"/>
              </a:srgbClr>
            </a:outerShdw>
          </a:effectLst>
        </p:spPr>
      </p:sp>
      <p:sp>
        <p:nvSpPr>
          <p:cNvPr id="8" name="Text 5"/>
          <p:cNvSpPr/>
          <p:nvPr/>
        </p:nvSpPr>
        <p:spPr>
          <a:xfrm>
            <a:off x="777240" y="1691640"/>
            <a:ext cx="2743200" cy="365760"/>
          </a:xfrm>
          <a:prstGeom prst="rect">
            <a:avLst/>
          </a:prstGeom>
          <a:noFill/>
          <a:ln/>
        </p:spPr>
        <p:txBody>
          <a:bodyPr wrap="square" rtlCol="0" anchor="ctr"/>
          <a:lstStyle/>
          <a:p>
            <a:pPr indent="0" marL="0">
              <a:buNone/>
            </a:pPr>
            <a:r>
              <a:rPr lang="en-US" sz="1500" b="1" dirty="0">
                <a:solidFill>
                  <a:srgbClr val="11998E"/>
                </a:solidFill>
              </a:rPr>
              <a:t>Flow</a:t>
            </a:r>
            <a:endParaRPr lang="en-US" sz="1500" dirty="0"/>
          </a:p>
        </p:txBody>
      </p:sp>
      <p:sp>
        <p:nvSpPr>
          <p:cNvPr id="9" name="Text 6"/>
          <p:cNvSpPr/>
          <p:nvPr/>
        </p:nvSpPr>
        <p:spPr>
          <a:xfrm>
            <a:off x="777240" y="2103120"/>
            <a:ext cx="2743200" cy="3657600"/>
          </a:xfrm>
          <a:prstGeom prst="rect">
            <a:avLst/>
          </a:prstGeom>
          <a:noFill/>
          <a:ln/>
        </p:spPr>
        <p:txBody>
          <a:bodyPr wrap="square" rtlCol="0" anchor="ctr"/>
          <a:lstStyle/>
          <a:p>
            <a:pPr marL="342900" indent="-342900">
              <a:lnSpc>
                <a:spcPct val="130000"/>
              </a:lnSpc>
              <a:spcAft>
                <a:spcPts val="700"/>
              </a:spcAft>
              <a:buSzPct val="100000"/>
              <a:buChar char="•"/>
            </a:pPr>
            <a:r>
              <a:rPr lang="en-US" sz="1350" dirty="0">
                <a:solidFill>
                  <a:srgbClr val="1F2D3D"/>
                </a:solidFill>
              </a:rPr>
              <a:t>Input article</a:t>
            </a:r>
            <a:endParaRPr lang="en-US" sz="1350" dirty="0"/>
          </a:p>
          <a:p>
            <a:pPr marL="342900" indent="-342900">
              <a:lnSpc>
                <a:spcPct val="130000"/>
              </a:lnSpc>
              <a:spcAft>
                <a:spcPts val="700"/>
              </a:spcAft>
              <a:buSzPct val="100000"/>
              <a:buChar char="•"/>
            </a:pPr>
            <a:r>
              <a:rPr lang="en-US" sz="1350" dirty="0">
                <a:solidFill>
                  <a:srgbClr val="1F2D3D"/>
                </a:solidFill>
              </a:rPr>
              <a:t>Preprocess</a:t>
            </a:r>
            <a:endParaRPr lang="en-US" sz="1350" dirty="0"/>
          </a:p>
          <a:p>
            <a:pPr marL="342900" indent="-342900">
              <a:lnSpc>
                <a:spcPct val="130000"/>
              </a:lnSpc>
              <a:spcAft>
                <a:spcPts val="700"/>
              </a:spcAft>
              <a:buSzPct val="100000"/>
              <a:buChar char="•"/>
            </a:pPr>
            <a:r>
              <a:rPr lang="en-US" sz="1350" dirty="0">
                <a:solidFill>
                  <a:srgbClr val="1F2D3D"/>
                </a:solidFill>
              </a:rPr>
              <a:t>Classify</a:t>
            </a:r>
            <a:endParaRPr lang="en-US" sz="1350" dirty="0"/>
          </a:p>
          <a:p>
            <a:pPr marL="342900" indent="-342900">
              <a:lnSpc>
                <a:spcPct val="130000"/>
              </a:lnSpc>
              <a:spcAft>
                <a:spcPts val="700"/>
              </a:spcAft>
              <a:buSzPct val="100000"/>
              <a:buChar char="•"/>
            </a:pPr>
            <a:r>
              <a:rPr lang="en-US" sz="1350" dirty="0">
                <a:solidFill>
                  <a:srgbClr val="1F2D3D"/>
                </a:solidFill>
              </a:rPr>
              <a:t>Explain</a:t>
            </a:r>
            <a:endParaRPr lang="en-US" sz="1350" dirty="0"/>
          </a:p>
          <a:p>
            <a:pPr marL="342900" indent="-342900">
              <a:lnSpc>
                <a:spcPct val="130000"/>
              </a:lnSpc>
              <a:spcAft>
                <a:spcPts val="700"/>
              </a:spcAft>
              <a:buSzPct val="100000"/>
              <a:buChar char="•"/>
            </a:pPr>
            <a:r>
              <a:rPr lang="en-US" sz="1350" dirty="0">
                <a:solidFill>
                  <a:srgbClr val="1F2D3D"/>
                </a:solidFill>
              </a:rPr>
              <a:t>Fact-check (RAG)</a:t>
            </a:r>
            <a:endParaRPr lang="en-US" sz="1350" dirty="0"/>
          </a:p>
          <a:p>
            <a:pPr marL="342900" indent="-342900">
              <a:lnSpc>
                <a:spcPct val="130000"/>
              </a:lnSpc>
              <a:spcAft>
                <a:spcPts val="700"/>
              </a:spcAft>
              <a:buSzPct val="100000"/>
              <a:buChar char="•"/>
            </a:pPr>
            <a:r>
              <a:rPr lang="en-US" sz="1350" dirty="0">
                <a:solidFill>
                  <a:srgbClr val="1F2D3D"/>
                </a:solidFill>
              </a:rPr>
              <a:t>Fuse scores</a:t>
            </a:r>
            <a:endParaRPr lang="en-US" sz="1350" dirty="0"/>
          </a:p>
          <a:p>
            <a:pPr marL="342900" indent="-342900">
              <a:lnSpc>
                <a:spcPct val="130000"/>
              </a:lnSpc>
              <a:spcAft>
                <a:spcPts val="700"/>
              </a:spcAft>
              <a:buSzPct val="100000"/>
              <a:buChar char="•"/>
            </a:pPr>
            <a:r>
              <a:rPr lang="en-US" sz="1350" dirty="0">
                <a:solidFill>
                  <a:srgbClr val="1F2D3D"/>
                </a:solidFill>
              </a:rPr>
              <a:t>Verdict + trace</a:t>
            </a:r>
            <a:endParaRPr lang="en-US" sz="1350" dirty="0"/>
          </a:p>
        </p:txBody>
      </p:sp>
      <p:sp>
        <p:nvSpPr>
          <p:cNvPr id="10" name="Shape 7"/>
          <p:cNvSpPr/>
          <p:nvPr/>
        </p:nvSpPr>
        <p:spPr>
          <a:xfrm>
            <a:off x="8503920" y="1554480"/>
            <a:ext cx="3108960" cy="4297680"/>
          </a:xfrm>
          <a:prstGeom prst="roundRect">
            <a:avLst>
              <a:gd name="adj" fmla="val 2353"/>
            </a:avLst>
          </a:prstGeom>
          <a:solidFill>
            <a:srgbClr val="0F2027"/>
          </a:solidFill>
          <a:ln w="12700">
            <a:solidFill>
              <a:srgbClr val="E2E8F0"/>
            </a:solidFill>
            <a:prstDash val="solid"/>
          </a:ln>
          <a:effectLst>
            <a:outerShdw sx="100000" sy="100000" kx="0" ky="0" algn="bl" rotWithShape="0" blurRad="88900" dist="38100" dir="8100000">
              <a:srgbClr val="000000">
                <a:alpha val="16000"/>
              </a:srgbClr>
            </a:outerShdw>
          </a:effectLst>
        </p:spPr>
      </p:sp>
      <p:sp>
        <p:nvSpPr>
          <p:cNvPr id="11" name="Text 8"/>
          <p:cNvSpPr/>
          <p:nvPr/>
        </p:nvSpPr>
        <p:spPr>
          <a:xfrm>
            <a:off x="8732520" y="1737360"/>
            <a:ext cx="2743200" cy="365760"/>
          </a:xfrm>
          <a:prstGeom prst="rect">
            <a:avLst/>
          </a:prstGeom>
          <a:noFill/>
          <a:ln/>
        </p:spPr>
        <p:txBody>
          <a:bodyPr wrap="square" rtlCol="0" anchor="ctr"/>
          <a:lstStyle/>
          <a:p>
            <a:pPr indent="0" marL="0">
              <a:buNone/>
            </a:pPr>
            <a:r>
              <a:rPr lang="en-US" sz="1500" b="1" dirty="0">
                <a:solidFill>
                  <a:srgbClr val="9BE3D8"/>
                </a:solidFill>
              </a:rPr>
              <a:t>Fusion</a:t>
            </a:r>
            <a:endParaRPr lang="en-US" sz="1500" dirty="0"/>
          </a:p>
        </p:txBody>
      </p:sp>
      <p:sp>
        <p:nvSpPr>
          <p:cNvPr id="12" name="Text 9"/>
          <p:cNvSpPr/>
          <p:nvPr/>
        </p:nvSpPr>
        <p:spPr>
          <a:xfrm>
            <a:off x="8732520" y="2286000"/>
            <a:ext cx="2743200" cy="365760"/>
          </a:xfrm>
          <a:prstGeom prst="rect">
            <a:avLst/>
          </a:prstGeom>
          <a:noFill/>
          <a:ln/>
        </p:spPr>
        <p:txBody>
          <a:bodyPr wrap="square" rtlCol="0" anchor="ctr"/>
          <a:lstStyle/>
          <a:p>
            <a:pPr indent="0" marL="0">
              <a:buNone/>
            </a:pPr>
            <a:r>
              <a:rPr lang="en-US" sz="1300" dirty="0">
                <a:solidFill>
                  <a:srgbClr val="FFFFFF"/>
                </a:solidFill>
              </a:rPr>
              <a:t>Final score</a:t>
            </a:r>
            <a:endParaRPr lang="en-US" sz="1300" dirty="0"/>
          </a:p>
        </p:txBody>
      </p:sp>
      <p:sp>
        <p:nvSpPr>
          <p:cNvPr id="13" name="Text 10"/>
          <p:cNvSpPr/>
          <p:nvPr/>
        </p:nvSpPr>
        <p:spPr>
          <a:xfrm>
            <a:off x="8732520" y="2697480"/>
            <a:ext cx="2743200" cy="914400"/>
          </a:xfrm>
          <a:prstGeom prst="rect">
            <a:avLst/>
          </a:prstGeom>
          <a:noFill/>
          <a:ln/>
        </p:spPr>
        <p:txBody>
          <a:bodyPr wrap="square" rtlCol="0" anchor="ctr"/>
          <a:lstStyle/>
          <a:p>
            <a:pPr indent="0" marL="0">
              <a:buNone/>
            </a:pPr>
            <a:r>
              <a:rPr lang="en-US" sz="1700" b="1" dirty="0">
                <a:solidFill>
                  <a:srgbClr val="9BE3D8"/>
                </a:solidFill>
              </a:rPr>
              <a:t>0.70 x model</a:t>
            </a:r>
            <a:endParaRPr lang="en-US" sz="1700" dirty="0"/>
          </a:p>
          <a:p>
            <a:pPr indent="0" marL="0">
              <a:buNone/>
            </a:pPr>
            <a:r>
              <a:rPr lang="en-US" sz="1700" b="1" dirty="0">
                <a:solidFill>
                  <a:srgbClr val="9BE3D8"/>
                </a:solidFill>
              </a:rPr>
              <a:t>+ 0.30 x signals</a:t>
            </a:r>
            <a:endParaRPr lang="en-US" sz="1700" dirty="0"/>
          </a:p>
        </p:txBody>
      </p:sp>
      <p:sp>
        <p:nvSpPr>
          <p:cNvPr id="14" name="Text 11"/>
          <p:cNvSpPr/>
          <p:nvPr/>
        </p:nvSpPr>
        <p:spPr>
          <a:xfrm>
            <a:off x="8732520" y="4023360"/>
            <a:ext cx="2743200" cy="1097280"/>
          </a:xfrm>
          <a:prstGeom prst="rect">
            <a:avLst/>
          </a:prstGeom>
          <a:noFill/>
          <a:ln/>
        </p:spPr>
        <p:txBody>
          <a:bodyPr wrap="square" rtlCol="0" anchor="ctr"/>
          <a:lstStyle/>
          <a:p>
            <a:pPr indent="0" marL="0">
              <a:lnSpc>
                <a:spcPct val="120000"/>
              </a:lnSpc>
              <a:buNone/>
            </a:pPr>
            <a:r>
              <a:rPr lang="en-US" sz="1350" dirty="0">
                <a:solidFill>
                  <a:srgbClr val="FFFFFF"/>
                </a:solidFill>
              </a:rPr>
              <a:t>Confidence band:</a:t>
            </a:r>
            <a:endParaRPr lang="en-US" sz="1350" dirty="0"/>
          </a:p>
          <a:p>
            <a:pPr indent="0" marL="0">
              <a:lnSpc>
                <a:spcPct val="120000"/>
              </a:lnSpc>
              <a:buNone/>
            </a:pPr>
            <a:r>
              <a:rPr lang="en-US" sz="1350" dirty="0">
                <a:solidFill>
                  <a:srgbClr val="FFFFFF"/>
                </a:solidFill>
              </a:rPr>
              <a:t>High / Medium / Low</a:t>
            </a:r>
            <a:endParaRPr lang="en-US" sz="13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566928"/>
            <a:ext cx="146304" cy="384048"/>
          </a:xfrm>
          <a:prstGeom prst="rect">
            <a:avLst/>
          </a:prstGeom>
          <a:solidFill>
            <a:srgbClr val="11998E"/>
          </a:solidFill>
          <a:ln/>
        </p:spPr>
      </p:sp>
      <p:sp>
        <p:nvSpPr>
          <p:cNvPr id="3" name="Text 1"/>
          <p:cNvSpPr/>
          <p:nvPr/>
        </p:nvSpPr>
        <p:spPr>
          <a:xfrm>
            <a:off x="822960" y="502920"/>
            <a:ext cx="10789920" cy="548640"/>
          </a:xfrm>
          <a:prstGeom prst="rect">
            <a:avLst/>
          </a:prstGeom>
          <a:noFill/>
          <a:ln/>
        </p:spPr>
        <p:txBody>
          <a:bodyPr wrap="square" lIns="0" tIns="0" rIns="0" bIns="0" rtlCol="0" anchor="ctr"/>
          <a:lstStyle/>
          <a:p>
            <a:pPr algn="l" indent="0" marL="0">
              <a:buNone/>
            </a:pPr>
            <a:r>
              <a:rPr lang="en-US" sz="2800" b="1" dirty="0">
                <a:solidFill>
                  <a:srgbClr val="203A43"/>
                </a:solidFill>
                <a:latin typeface="Calibri" pitchFamily="34" charset="0"/>
                <a:ea typeface="Calibri" pitchFamily="34" charset="-122"/>
                <a:cs typeface="Calibri" pitchFamily="34" charset="-120"/>
              </a:rPr>
              <a:t>Implementation</a:t>
            </a:r>
            <a:endParaRPr lang="en-US" sz="2800" dirty="0"/>
          </a:p>
        </p:txBody>
      </p:sp>
      <p:sp>
        <p:nvSpPr>
          <p:cNvPr id="4" name="Text 2"/>
          <p:cNvSpPr/>
          <p:nvPr/>
        </p:nvSpPr>
        <p:spPr>
          <a:xfrm>
            <a:off x="548640" y="6437376"/>
            <a:ext cx="5486400" cy="274320"/>
          </a:xfrm>
          <a:prstGeom prst="rect">
            <a:avLst/>
          </a:prstGeom>
          <a:noFill/>
          <a:ln/>
        </p:spPr>
        <p:txBody>
          <a:bodyPr wrap="square" rtlCol="0" anchor="ctr"/>
          <a:lstStyle/>
          <a:p>
            <a:pPr algn="l" indent="0" marL="0">
              <a:buNone/>
            </a:pPr>
            <a:r>
              <a:rPr lang="en-US" sz="900" dirty="0">
                <a:solidFill>
                  <a:srgbClr val="64748B"/>
                </a:solidFill>
              </a:rPr>
              <a:t>TruthLens AI</a:t>
            </a:r>
            <a:endParaRPr lang="en-US" sz="900" dirty="0"/>
          </a:p>
        </p:txBody>
      </p:sp>
      <p:sp>
        <p:nvSpPr>
          <p:cNvPr id="5" name="Text 3"/>
          <p:cNvSpPr/>
          <p:nvPr/>
        </p:nvSpPr>
        <p:spPr>
          <a:xfrm>
            <a:off x="10058400" y="6437376"/>
            <a:ext cx="1581912" cy="274320"/>
          </a:xfrm>
          <a:prstGeom prst="rect">
            <a:avLst/>
          </a:prstGeom>
          <a:noFill/>
          <a:ln/>
        </p:spPr>
        <p:txBody>
          <a:bodyPr wrap="square" rtlCol="0" anchor="ctr"/>
          <a:lstStyle/>
          <a:p>
            <a:pPr algn="r" indent="0" marL="0">
              <a:buNone/>
            </a:pPr>
            <a:r>
              <a:rPr lang="en-US" sz="900" dirty="0">
                <a:solidFill>
                  <a:srgbClr val="64748B"/>
                </a:solidFill>
              </a:rPr>
              <a:t>12 / 20</a:t>
            </a:r>
            <a:endParaRPr lang="en-US" sz="900" dirty="0"/>
          </a:p>
        </p:txBody>
      </p:sp>
      <p:sp>
        <p:nvSpPr>
          <p:cNvPr id="6" name="Shape 4"/>
          <p:cNvSpPr/>
          <p:nvPr/>
        </p:nvSpPr>
        <p:spPr>
          <a:xfrm>
            <a:off x="548640" y="1417320"/>
            <a:ext cx="5760720" cy="4434840"/>
          </a:xfrm>
          <a:prstGeom prst="roundRect">
            <a:avLst>
              <a:gd name="adj" fmla="val 1649"/>
            </a:avLst>
          </a:prstGeom>
          <a:solidFill>
            <a:srgbClr val="0F2027"/>
          </a:solidFill>
          <a:ln w="12700">
            <a:solidFill>
              <a:srgbClr val="E2E8F0"/>
            </a:solidFill>
            <a:prstDash val="solid"/>
          </a:ln>
          <a:effectLst>
            <a:outerShdw sx="100000" sy="100000" kx="0" ky="0" algn="bl" rotWithShape="0" blurRad="88900" dist="38100" dir="8100000">
              <a:srgbClr val="000000">
                <a:alpha val="16000"/>
              </a:srgbClr>
            </a:outerShdw>
          </a:effectLst>
        </p:spPr>
      </p:sp>
      <p:sp>
        <p:nvSpPr>
          <p:cNvPr id="7" name="Text 5"/>
          <p:cNvSpPr/>
          <p:nvPr/>
        </p:nvSpPr>
        <p:spPr>
          <a:xfrm>
            <a:off x="777240" y="1600200"/>
            <a:ext cx="5303520" cy="365760"/>
          </a:xfrm>
          <a:prstGeom prst="rect">
            <a:avLst/>
          </a:prstGeom>
          <a:noFill/>
          <a:ln/>
        </p:spPr>
        <p:txBody>
          <a:bodyPr wrap="square" rtlCol="0" anchor="ctr"/>
          <a:lstStyle/>
          <a:p>
            <a:pPr indent="0" marL="0">
              <a:buNone/>
            </a:pPr>
            <a:r>
              <a:rPr lang="en-US" sz="1500" b="1" dirty="0">
                <a:solidFill>
                  <a:srgbClr val="9BE3D8"/>
                </a:solidFill>
              </a:rPr>
              <a:t>Project structure</a:t>
            </a:r>
            <a:endParaRPr lang="en-US" sz="1500" dirty="0"/>
          </a:p>
        </p:txBody>
      </p:sp>
      <p:sp>
        <p:nvSpPr>
          <p:cNvPr id="8" name="Text 6"/>
          <p:cNvSpPr/>
          <p:nvPr/>
        </p:nvSpPr>
        <p:spPr>
          <a:xfrm>
            <a:off x="822960" y="2057400"/>
            <a:ext cx="5303520" cy="3657600"/>
          </a:xfrm>
          <a:prstGeom prst="rect">
            <a:avLst/>
          </a:prstGeom>
          <a:noFill/>
          <a:ln/>
        </p:spPr>
        <p:txBody>
          <a:bodyPr wrap="square" rtlCol="0" anchor="ctr"/>
          <a:lstStyle/>
          <a:p>
            <a:pPr indent="0" marL="0">
              <a:lnSpc>
                <a:spcPct val="115000"/>
              </a:lnSpc>
              <a:buNone/>
            </a:pPr>
            <a:r>
              <a:rPr lang="en-US" sz="1300" dirty="0">
                <a:solidFill>
                  <a:srgbClr val="9BE3D8"/>
                </a:solidFill>
                <a:latin typeface="Consolas" pitchFamily="34" charset="0"/>
                <a:ea typeface="Consolas" pitchFamily="34" charset="-122"/>
                <a:cs typeface="Consolas" pitchFamily="34" charset="-120"/>
              </a:rPr>
              <a:t>source_code/</a:t>
            </a:r>
            <a:endParaRPr lang="en-US" sz="1300" dirty="0"/>
          </a:p>
          <a:p>
            <a:pPr indent="0" marL="0">
              <a:lnSpc>
                <a:spcPct val="115000"/>
              </a:lnSpc>
              <a:buNone/>
            </a:pPr>
            <a:r>
              <a:rPr lang="en-US" sz="1300" dirty="0">
                <a:solidFill>
                  <a:srgbClr val="9BE3D8"/>
                </a:solidFill>
                <a:latin typeface="Consolas" pitchFamily="34" charset="0"/>
                <a:ea typeface="Consolas" pitchFamily="34" charset="-122"/>
                <a:cs typeface="Consolas" pitchFamily="34" charset="-120"/>
              </a:rPr>
              <a:t>  app.py            Streamlit UI</a:t>
            </a:r>
            <a:endParaRPr lang="en-US" sz="1300" dirty="0"/>
          </a:p>
          <a:p>
            <a:pPr indent="0" marL="0">
              <a:lnSpc>
                <a:spcPct val="115000"/>
              </a:lnSpc>
              <a:buNone/>
            </a:pPr>
            <a:r>
              <a:rPr lang="en-US" sz="1300" dirty="0">
                <a:solidFill>
                  <a:srgbClr val="9BE3D8"/>
                </a:solidFill>
                <a:latin typeface="Consolas" pitchFamily="34" charset="0"/>
                <a:ea typeface="Consolas" pitchFamily="34" charset="-122"/>
                <a:cs typeface="Consolas" pitchFamily="34" charset="-120"/>
              </a:rPr>
              <a:t>  src/</a:t>
            </a:r>
            <a:endParaRPr lang="en-US" sz="1300" dirty="0"/>
          </a:p>
          <a:p>
            <a:pPr indent="0" marL="0">
              <a:lnSpc>
                <a:spcPct val="115000"/>
              </a:lnSpc>
              <a:buNone/>
            </a:pPr>
            <a:r>
              <a:rPr lang="en-US" sz="1300" dirty="0">
                <a:solidFill>
                  <a:srgbClr val="9BE3D8"/>
                </a:solidFill>
                <a:latin typeface="Consolas" pitchFamily="34" charset="0"/>
                <a:ea typeface="Consolas" pitchFamily="34" charset="-122"/>
                <a:cs typeface="Consolas" pitchFamily="34" charset="-120"/>
              </a:rPr>
              <a:t>    config · preprocessing</a:t>
            </a:r>
            <a:endParaRPr lang="en-US" sz="1300" dirty="0"/>
          </a:p>
          <a:p>
            <a:pPr indent="0" marL="0">
              <a:lnSpc>
                <a:spcPct val="115000"/>
              </a:lnSpc>
              <a:buNone/>
            </a:pPr>
            <a:r>
              <a:rPr lang="en-US" sz="1300" dirty="0">
                <a:solidFill>
                  <a:srgbClr val="9BE3D8"/>
                </a:solidFill>
                <a:latin typeface="Consolas" pitchFamily="34" charset="0"/>
                <a:ea typeface="Consolas" pitchFamily="34" charset="-122"/>
                <a:cs typeface="Consolas" pitchFamily="34" charset="-120"/>
              </a:rPr>
              <a:t>    features · model · train</a:t>
            </a:r>
            <a:endParaRPr lang="en-US" sz="1300" dirty="0"/>
          </a:p>
          <a:p>
            <a:pPr indent="0" marL="0">
              <a:lnSpc>
                <a:spcPct val="115000"/>
              </a:lnSpc>
              <a:buNone/>
            </a:pPr>
            <a:r>
              <a:rPr lang="en-US" sz="1300" dirty="0">
                <a:solidFill>
                  <a:srgbClr val="9BE3D8"/>
                </a:solidFill>
                <a:latin typeface="Consolas" pitchFamily="34" charset="0"/>
                <a:ea typeface="Consolas" pitchFamily="34" charset="-122"/>
                <a:cs typeface="Consolas" pitchFamily="34" charset="-120"/>
              </a:rPr>
              <a:t>    retrieval · llm</a:t>
            </a:r>
            <a:endParaRPr lang="en-US" sz="1300" dirty="0"/>
          </a:p>
          <a:p>
            <a:pPr indent="0" marL="0">
              <a:lnSpc>
                <a:spcPct val="115000"/>
              </a:lnSpc>
              <a:buNone/>
            </a:pPr>
            <a:r>
              <a:rPr lang="en-US" sz="1300" dirty="0">
                <a:solidFill>
                  <a:srgbClr val="9BE3D8"/>
                </a:solidFill>
                <a:latin typeface="Consolas" pitchFamily="34" charset="0"/>
                <a:ea typeface="Consolas" pitchFamily="34" charset="-122"/>
                <a:cs typeface="Consolas" pitchFamily="34" charset="-120"/>
              </a:rPr>
              <a:t>    agents/  (4 modules)</a:t>
            </a:r>
            <a:endParaRPr lang="en-US" sz="1300" dirty="0"/>
          </a:p>
          <a:p>
            <a:pPr indent="0" marL="0">
              <a:lnSpc>
                <a:spcPct val="115000"/>
              </a:lnSpc>
              <a:buNone/>
            </a:pPr>
            <a:r>
              <a:rPr lang="en-US" sz="1300" dirty="0">
                <a:solidFill>
                  <a:srgbClr val="9BE3D8"/>
                </a:solidFill>
                <a:latin typeface="Consolas" pitchFamily="34" charset="0"/>
                <a:ea typeface="Consolas" pitchFamily="34" charset="-122"/>
                <a:cs typeface="Consolas" pitchFamily="34" charset="-120"/>
              </a:rPr>
              <a:t>  tests/   (pytest suite)</a:t>
            </a:r>
            <a:endParaRPr lang="en-US" sz="1300" dirty="0"/>
          </a:p>
          <a:p>
            <a:pPr indent="0" marL="0">
              <a:lnSpc>
                <a:spcPct val="115000"/>
              </a:lnSpc>
              <a:buNone/>
            </a:pPr>
            <a:r>
              <a:rPr lang="en-US" sz="1300" dirty="0">
                <a:solidFill>
                  <a:srgbClr val="9BE3D8"/>
                </a:solidFill>
                <a:latin typeface="Consolas" pitchFamily="34" charset="0"/>
                <a:ea typeface="Consolas" pitchFamily="34" charset="-122"/>
                <a:cs typeface="Consolas" pitchFamily="34" charset="-120"/>
              </a:rPr>
              <a:t>  models/  metrics.json</a:t>
            </a:r>
            <a:endParaRPr lang="en-US" sz="1300" dirty="0"/>
          </a:p>
        </p:txBody>
      </p:sp>
      <p:sp>
        <p:nvSpPr>
          <p:cNvPr id="9" name="Shape 7"/>
          <p:cNvSpPr/>
          <p:nvPr/>
        </p:nvSpPr>
        <p:spPr>
          <a:xfrm>
            <a:off x="6583680" y="1463040"/>
            <a:ext cx="5029200" cy="1024128"/>
          </a:xfrm>
          <a:prstGeom prst="roundRect">
            <a:avLst>
              <a:gd name="adj" fmla="val 7143"/>
            </a:avLst>
          </a:prstGeom>
          <a:solidFill>
            <a:srgbClr val="FFFFFF"/>
          </a:solidFill>
          <a:ln w="12700">
            <a:solidFill>
              <a:srgbClr val="E2E8F0"/>
            </a:solidFill>
            <a:prstDash val="solid"/>
          </a:ln>
          <a:effectLst>
            <a:outerShdw sx="100000" sy="100000" kx="0" ky="0" algn="bl" rotWithShape="0" blurRad="88900" dist="38100" dir="8100000">
              <a:srgbClr val="000000">
                <a:alpha val="16000"/>
              </a:srgbClr>
            </a:outerShdw>
          </a:effectLst>
        </p:spPr>
      </p:sp>
      <p:sp>
        <p:nvSpPr>
          <p:cNvPr id="10" name="Shape 8"/>
          <p:cNvSpPr/>
          <p:nvPr/>
        </p:nvSpPr>
        <p:spPr>
          <a:xfrm>
            <a:off x="6583680" y="1463040"/>
            <a:ext cx="118872" cy="1024128"/>
          </a:xfrm>
          <a:prstGeom prst="rect">
            <a:avLst/>
          </a:prstGeom>
          <a:solidFill>
            <a:srgbClr val="11998E"/>
          </a:solidFill>
          <a:ln/>
        </p:spPr>
      </p:sp>
      <p:sp>
        <p:nvSpPr>
          <p:cNvPr id="11" name="Text 9"/>
          <p:cNvSpPr/>
          <p:nvPr/>
        </p:nvSpPr>
        <p:spPr>
          <a:xfrm>
            <a:off x="6858000" y="1581912"/>
            <a:ext cx="4572000" cy="365760"/>
          </a:xfrm>
          <a:prstGeom prst="rect">
            <a:avLst/>
          </a:prstGeom>
          <a:noFill/>
          <a:ln/>
        </p:spPr>
        <p:txBody>
          <a:bodyPr wrap="square" lIns="0" tIns="0" rIns="0" bIns="0" rtlCol="0" anchor="ctr"/>
          <a:lstStyle/>
          <a:p>
            <a:pPr indent="0" marL="0">
              <a:buNone/>
            </a:pPr>
            <a:r>
              <a:rPr lang="en-US" sz="1450" b="1" dirty="0">
                <a:solidFill>
                  <a:srgbClr val="203A43"/>
                </a:solidFill>
              </a:rPr>
              <a:t>Modular package</a:t>
            </a:r>
            <a:endParaRPr lang="en-US" sz="1450" dirty="0"/>
          </a:p>
        </p:txBody>
      </p:sp>
      <p:sp>
        <p:nvSpPr>
          <p:cNvPr id="12" name="Text 10"/>
          <p:cNvSpPr/>
          <p:nvPr/>
        </p:nvSpPr>
        <p:spPr>
          <a:xfrm>
            <a:off x="6858000" y="1965960"/>
            <a:ext cx="4572000" cy="457200"/>
          </a:xfrm>
          <a:prstGeom prst="rect">
            <a:avLst/>
          </a:prstGeom>
          <a:noFill/>
          <a:ln/>
        </p:spPr>
        <p:txBody>
          <a:bodyPr wrap="square" lIns="0" tIns="0" rIns="0" bIns="0" rtlCol="0" anchor="ctr"/>
          <a:lstStyle/>
          <a:p>
            <a:pPr indent="0" marL="0">
              <a:buNone/>
            </a:pPr>
            <a:r>
              <a:rPr lang="en-US" sz="1250" dirty="0">
                <a:solidFill>
                  <a:srgbClr val="1F2D3D"/>
                </a:solidFill>
              </a:rPr>
              <a:t>Clear separation: UI, model, agents, retrieval.</a:t>
            </a:r>
            <a:endParaRPr lang="en-US" sz="1250" dirty="0"/>
          </a:p>
        </p:txBody>
      </p:sp>
      <p:sp>
        <p:nvSpPr>
          <p:cNvPr id="13" name="Shape 11"/>
          <p:cNvSpPr/>
          <p:nvPr/>
        </p:nvSpPr>
        <p:spPr>
          <a:xfrm>
            <a:off x="6583680" y="2578608"/>
            <a:ext cx="5029200" cy="1024128"/>
          </a:xfrm>
          <a:prstGeom prst="roundRect">
            <a:avLst>
              <a:gd name="adj" fmla="val 7143"/>
            </a:avLst>
          </a:prstGeom>
          <a:solidFill>
            <a:srgbClr val="FFFFFF"/>
          </a:solidFill>
          <a:ln w="12700">
            <a:solidFill>
              <a:srgbClr val="E2E8F0"/>
            </a:solidFill>
            <a:prstDash val="solid"/>
          </a:ln>
          <a:effectLst>
            <a:outerShdw sx="100000" sy="100000" kx="0" ky="0" algn="bl" rotWithShape="0" blurRad="88900" dist="38100" dir="8100000">
              <a:srgbClr val="000000">
                <a:alpha val="16000"/>
              </a:srgbClr>
            </a:outerShdw>
          </a:effectLst>
        </p:spPr>
      </p:sp>
      <p:sp>
        <p:nvSpPr>
          <p:cNvPr id="14" name="Shape 12"/>
          <p:cNvSpPr/>
          <p:nvPr/>
        </p:nvSpPr>
        <p:spPr>
          <a:xfrm>
            <a:off x="6583680" y="2578608"/>
            <a:ext cx="118872" cy="1024128"/>
          </a:xfrm>
          <a:prstGeom prst="rect">
            <a:avLst/>
          </a:prstGeom>
          <a:solidFill>
            <a:srgbClr val="11998E"/>
          </a:solidFill>
          <a:ln/>
        </p:spPr>
      </p:sp>
      <p:sp>
        <p:nvSpPr>
          <p:cNvPr id="15" name="Text 13"/>
          <p:cNvSpPr/>
          <p:nvPr/>
        </p:nvSpPr>
        <p:spPr>
          <a:xfrm>
            <a:off x="6858000" y="2697480"/>
            <a:ext cx="4572000" cy="365760"/>
          </a:xfrm>
          <a:prstGeom prst="rect">
            <a:avLst/>
          </a:prstGeom>
          <a:noFill/>
          <a:ln/>
        </p:spPr>
        <p:txBody>
          <a:bodyPr wrap="square" lIns="0" tIns="0" rIns="0" bIns="0" rtlCol="0" anchor="ctr"/>
          <a:lstStyle/>
          <a:p>
            <a:pPr indent="0" marL="0">
              <a:buNone/>
            </a:pPr>
            <a:r>
              <a:rPr lang="en-US" sz="1450" b="1" dirty="0">
                <a:solidFill>
                  <a:srgbClr val="203A43"/>
                </a:solidFill>
              </a:rPr>
              <a:t>Error handling</a:t>
            </a:r>
            <a:endParaRPr lang="en-US" sz="1450" dirty="0"/>
          </a:p>
        </p:txBody>
      </p:sp>
      <p:sp>
        <p:nvSpPr>
          <p:cNvPr id="16" name="Text 14"/>
          <p:cNvSpPr/>
          <p:nvPr/>
        </p:nvSpPr>
        <p:spPr>
          <a:xfrm>
            <a:off x="6858000" y="3081528"/>
            <a:ext cx="4572000" cy="457200"/>
          </a:xfrm>
          <a:prstGeom prst="rect">
            <a:avLst/>
          </a:prstGeom>
          <a:noFill/>
          <a:ln/>
        </p:spPr>
        <p:txBody>
          <a:bodyPr wrap="square" lIns="0" tIns="0" rIns="0" bIns="0" rtlCol="0" anchor="ctr"/>
          <a:lstStyle/>
          <a:p>
            <a:pPr indent="0" marL="0">
              <a:buNone/>
            </a:pPr>
            <a:r>
              <a:rPr lang="en-US" sz="1250" dirty="0">
                <a:solidFill>
                  <a:srgbClr val="1F2D3D"/>
                </a:solidFill>
              </a:rPr>
              <a:t>UI never crashes on bad input; safe LLM/retrieval fallbacks.</a:t>
            </a:r>
            <a:endParaRPr lang="en-US" sz="1250" dirty="0"/>
          </a:p>
        </p:txBody>
      </p:sp>
      <p:sp>
        <p:nvSpPr>
          <p:cNvPr id="17" name="Shape 15"/>
          <p:cNvSpPr/>
          <p:nvPr/>
        </p:nvSpPr>
        <p:spPr>
          <a:xfrm>
            <a:off x="6583680" y="3694176"/>
            <a:ext cx="5029200" cy="1024128"/>
          </a:xfrm>
          <a:prstGeom prst="roundRect">
            <a:avLst>
              <a:gd name="adj" fmla="val 7143"/>
            </a:avLst>
          </a:prstGeom>
          <a:solidFill>
            <a:srgbClr val="FFFFFF"/>
          </a:solidFill>
          <a:ln w="12700">
            <a:solidFill>
              <a:srgbClr val="E2E8F0"/>
            </a:solidFill>
            <a:prstDash val="solid"/>
          </a:ln>
          <a:effectLst>
            <a:outerShdw sx="100000" sy="100000" kx="0" ky="0" algn="bl" rotWithShape="0" blurRad="88900" dist="38100" dir="8100000">
              <a:srgbClr val="000000">
                <a:alpha val="16000"/>
              </a:srgbClr>
            </a:outerShdw>
          </a:effectLst>
        </p:spPr>
      </p:sp>
      <p:sp>
        <p:nvSpPr>
          <p:cNvPr id="18" name="Shape 16"/>
          <p:cNvSpPr/>
          <p:nvPr/>
        </p:nvSpPr>
        <p:spPr>
          <a:xfrm>
            <a:off x="6583680" y="3694176"/>
            <a:ext cx="118872" cy="1024128"/>
          </a:xfrm>
          <a:prstGeom prst="rect">
            <a:avLst/>
          </a:prstGeom>
          <a:solidFill>
            <a:srgbClr val="11998E"/>
          </a:solidFill>
          <a:ln/>
        </p:spPr>
      </p:sp>
      <p:sp>
        <p:nvSpPr>
          <p:cNvPr id="19" name="Text 17"/>
          <p:cNvSpPr/>
          <p:nvPr/>
        </p:nvSpPr>
        <p:spPr>
          <a:xfrm>
            <a:off x="6858000" y="3813048"/>
            <a:ext cx="4572000" cy="365760"/>
          </a:xfrm>
          <a:prstGeom prst="rect">
            <a:avLst/>
          </a:prstGeom>
          <a:noFill/>
          <a:ln/>
        </p:spPr>
        <p:txBody>
          <a:bodyPr wrap="square" lIns="0" tIns="0" rIns="0" bIns="0" rtlCol="0" anchor="ctr"/>
          <a:lstStyle/>
          <a:p>
            <a:pPr indent="0" marL="0">
              <a:buNone/>
            </a:pPr>
            <a:r>
              <a:rPr lang="en-US" sz="1450" b="1" dirty="0">
                <a:solidFill>
                  <a:srgbClr val="203A43"/>
                </a:solidFill>
              </a:rPr>
              <a:t>Tested</a:t>
            </a:r>
            <a:endParaRPr lang="en-US" sz="1450" dirty="0"/>
          </a:p>
        </p:txBody>
      </p:sp>
      <p:sp>
        <p:nvSpPr>
          <p:cNvPr id="20" name="Text 18"/>
          <p:cNvSpPr/>
          <p:nvPr/>
        </p:nvSpPr>
        <p:spPr>
          <a:xfrm>
            <a:off x="6858000" y="4197096"/>
            <a:ext cx="4572000" cy="457200"/>
          </a:xfrm>
          <a:prstGeom prst="rect">
            <a:avLst/>
          </a:prstGeom>
          <a:noFill/>
          <a:ln/>
        </p:spPr>
        <p:txBody>
          <a:bodyPr wrap="square" lIns="0" tIns="0" rIns="0" bIns="0" rtlCol="0" anchor="ctr"/>
          <a:lstStyle/>
          <a:p>
            <a:pPr indent="0" marL="0">
              <a:buNone/>
            </a:pPr>
            <a:r>
              <a:rPr lang="en-US" sz="1250" dirty="0">
                <a:solidFill>
                  <a:srgbClr val="1F2D3D"/>
                </a:solidFill>
              </a:rPr>
              <a:t>pytest covers preprocessing, signals, full pipeline.</a:t>
            </a:r>
            <a:endParaRPr lang="en-US" sz="1250" dirty="0"/>
          </a:p>
        </p:txBody>
      </p:sp>
      <p:sp>
        <p:nvSpPr>
          <p:cNvPr id="21" name="Shape 19"/>
          <p:cNvSpPr/>
          <p:nvPr/>
        </p:nvSpPr>
        <p:spPr>
          <a:xfrm>
            <a:off x="6583680" y="4809744"/>
            <a:ext cx="5029200" cy="1024128"/>
          </a:xfrm>
          <a:prstGeom prst="roundRect">
            <a:avLst>
              <a:gd name="adj" fmla="val 7143"/>
            </a:avLst>
          </a:prstGeom>
          <a:solidFill>
            <a:srgbClr val="FFFFFF"/>
          </a:solidFill>
          <a:ln w="12700">
            <a:solidFill>
              <a:srgbClr val="E2E8F0"/>
            </a:solidFill>
            <a:prstDash val="solid"/>
          </a:ln>
          <a:effectLst>
            <a:outerShdw sx="100000" sy="100000" kx="0" ky="0" algn="bl" rotWithShape="0" blurRad="88900" dist="38100" dir="8100000">
              <a:srgbClr val="000000">
                <a:alpha val="16000"/>
              </a:srgbClr>
            </a:outerShdw>
          </a:effectLst>
        </p:spPr>
      </p:sp>
      <p:sp>
        <p:nvSpPr>
          <p:cNvPr id="22" name="Shape 20"/>
          <p:cNvSpPr/>
          <p:nvPr/>
        </p:nvSpPr>
        <p:spPr>
          <a:xfrm>
            <a:off x="6583680" y="4809744"/>
            <a:ext cx="118872" cy="1024128"/>
          </a:xfrm>
          <a:prstGeom prst="rect">
            <a:avLst/>
          </a:prstGeom>
          <a:solidFill>
            <a:srgbClr val="11998E"/>
          </a:solidFill>
          <a:ln/>
        </p:spPr>
      </p:sp>
      <p:sp>
        <p:nvSpPr>
          <p:cNvPr id="23" name="Text 21"/>
          <p:cNvSpPr/>
          <p:nvPr/>
        </p:nvSpPr>
        <p:spPr>
          <a:xfrm>
            <a:off x="6858000" y="4928616"/>
            <a:ext cx="4572000" cy="365760"/>
          </a:xfrm>
          <a:prstGeom prst="rect">
            <a:avLst/>
          </a:prstGeom>
          <a:noFill/>
          <a:ln/>
        </p:spPr>
        <p:txBody>
          <a:bodyPr wrap="square" lIns="0" tIns="0" rIns="0" bIns="0" rtlCol="0" anchor="ctr"/>
          <a:lstStyle/>
          <a:p>
            <a:pPr indent="0" marL="0">
              <a:buNone/>
            </a:pPr>
            <a:r>
              <a:rPr lang="en-US" sz="1450" b="1" dirty="0">
                <a:solidFill>
                  <a:srgbClr val="203A43"/>
                </a:solidFill>
              </a:rPr>
              <a:t>One-command run</a:t>
            </a:r>
            <a:endParaRPr lang="en-US" sz="1450" dirty="0"/>
          </a:p>
        </p:txBody>
      </p:sp>
      <p:sp>
        <p:nvSpPr>
          <p:cNvPr id="24" name="Text 22"/>
          <p:cNvSpPr/>
          <p:nvPr/>
        </p:nvSpPr>
        <p:spPr>
          <a:xfrm>
            <a:off x="6858000" y="5312664"/>
            <a:ext cx="4572000" cy="457200"/>
          </a:xfrm>
          <a:prstGeom prst="rect">
            <a:avLst/>
          </a:prstGeom>
          <a:noFill/>
          <a:ln/>
        </p:spPr>
        <p:txBody>
          <a:bodyPr wrap="square" lIns="0" tIns="0" rIns="0" bIns="0" rtlCol="0" anchor="ctr"/>
          <a:lstStyle/>
          <a:p>
            <a:pPr indent="0" marL="0">
              <a:buNone/>
            </a:pPr>
            <a:r>
              <a:rPr lang="en-US" sz="1250" dirty="0">
                <a:solidFill>
                  <a:srgbClr val="1F2D3D"/>
                </a:solidFill>
              </a:rPr>
              <a:t>Auto-trains on first launch; run.bat / run.sh.</a:t>
            </a:r>
            <a:endParaRPr lang="en-US" sz="12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566928"/>
            <a:ext cx="146304" cy="384048"/>
          </a:xfrm>
          <a:prstGeom prst="rect">
            <a:avLst/>
          </a:prstGeom>
          <a:solidFill>
            <a:srgbClr val="11998E"/>
          </a:solidFill>
          <a:ln/>
        </p:spPr>
      </p:sp>
      <p:sp>
        <p:nvSpPr>
          <p:cNvPr id="3" name="Text 1"/>
          <p:cNvSpPr/>
          <p:nvPr/>
        </p:nvSpPr>
        <p:spPr>
          <a:xfrm>
            <a:off x="822960" y="502920"/>
            <a:ext cx="10789920" cy="548640"/>
          </a:xfrm>
          <a:prstGeom prst="rect">
            <a:avLst/>
          </a:prstGeom>
          <a:noFill/>
          <a:ln/>
        </p:spPr>
        <p:txBody>
          <a:bodyPr wrap="square" lIns="0" tIns="0" rIns="0" bIns="0" rtlCol="0" anchor="ctr"/>
          <a:lstStyle/>
          <a:p>
            <a:pPr algn="l" indent="0" marL="0">
              <a:buNone/>
            </a:pPr>
            <a:r>
              <a:rPr lang="en-US" sz="2800" b="1" dirty="0">
                <a:solidFill>
                  <a:srgbClr val="203A43"/>
                </a:solidFill>
                <a:latin typeface="Calibri" pitchFamily="34" charset="0"/>
                <a:ea typeface="Calibri" pitchFamily="34" charset="-122"/>
                <a:cs typeface="Calibri" pitchFamily="34" charset="-120"/>
              </a:rPr>
              <a:t>User Interface</a:t>
            </a:r>
            <a:endParaRPr lang="en-US" sz="2800" dirty="0"/>
          </a:p>
        </p:txBody>
      </p:sp>
      <p:sp>
        <p:nvSpPr>
          <p:cNvPr id="4" name="Text 2"/>
          <p:cNvSpPr/>
          <p:nvPr/>
        </p:nvSpPr>
        <p:spPr>
          <a:xfrm>
            <a:off x="548640" y="6437376"/>
            <a:ext cx="5486400" cy="274320"/>
          </a:xfrm>
          <a:prstGeom prst="rect">
            <a:avLst/>
          </a:prstGeom>
          <a:noFill/>
          <a:ln/>
        </p:spPr>
        <p:txBody>
          <a:bodyPr wrap="square" rtlCol="0" anchor="ctr"/>
          <a:lstStyle/>
          <a:p>
            <a:pPr algn="l" indent="0" marL="0">
              <a:buNone/>
            </a:pPr>
            <a:r>
              <a:rPr lang="en-US" sz="900" dirty="0">
                <a:solidFill>
                  <a:srgbClr val="64748B"/>
                </a:solidFill>
              </a:rPr>
              <a:t>TruthLens AI</a:t>
            </a:r>
            <a:endParaRPr lang="en-US" sz="900" dirty="0"/>
          </a:p>
        </p:txBody>
      </p:sp>
      <p:sp>
        <p:nvSpPr>
          <p:cNvPr id="5" name="Text 3"/>
          <p:cNvSpPr/>
          <p:nvPr/>
        </p:nvSpPr>
        <p:spPr>
          <a:xfrm>
            <a:off x="10058400" y="6437376"/>
            <a:ext cx="1581912" cy="274320"/>
          </a:xfrm>
          <a:prstGeom prst="rect">
            <a:avLst/>
          </a:prstGeom>
          <a:noFill/>
          <a:ln/>
        </p:spPr>
        <p:txBody>
          <a:bodyPr wrap="square" rtlCol="0" anchor="ctr"/>
          <a:lstStyle/>
          <a:p>
            <a:pPr algn="r" indent="0" marL="0">
              <a:buNone/>
            </a:pPr>
            <a:r>
              <a:rPr lang="en-US" sz="900" dirty="0">
                <a:solidFill>
                  <a:srgbClr val="64748B"/>
                </a:solidFill>
              </a:rPr>
              <a:t>13 / 20</a:t>
            </a:r>
            <a:endParaRPr lang="en-US" sz="900" dirty="0"/>
          </a:p>
        </p:txBody>
      </p:sp>
      <p:sp>
        <p:nvSpPr>
          <p:cNvPr id="6" name="Shape 4"/>
          <p:cNvSpPr/>
          <p:nvPr/>
        </p:nvSpPr>
        <p:spPr>
          <a:xfrm>
            <a:off x="548640" y="1371600"/>
            <a:ext cx="7040880" cy="4526280"/>
          </a:xfrm>
          <a:prstGeom prst="roundRect">
            <a:avLst>
              <a:gd name="adj" fmla="val 1616"/>
            </a:avLst>
          </a:prstGeom>
          <a:solidFill>
            <a:srgbClr val="FFFFFF"/>
          </a:solidFill>
          <a:ln w="12700">
            <a:solidFill>
              <a:srgbClr val="E2E8F0"/>
            </a:solidFill>
            <a:prstDash val="solid"/>
          </a:ln>
          <a:effectLst>
            <a:outerShdw sx="100000" sy="100000" kx="0" ky="0" algn="bl" rotWithShape="0" blurRad="88900" dist="38100" dir="8100000">
              <a:srgbClr val="000000">
                <a:alpha val="16000"/>
              </a:srgbClr>
            </a:outerShdw>
          </a:effectLst>
        </p:spPr>
      </p:sp>
      <p:sp>
        <p:nvSpPr>
          <p:cNvPr id="7" name="Shape 5"/>
          <p:cNvSpPr/>
          <p:nvPr/>
        </p:nvSpPr>
        <p:spPr>
          <a:xfrm>
            <a:off x="548640" y="1371600"/>
            <a:ext cx="7040880" cy="411480"/>
          </a:xfrm>
          <a:prstGeom prst="rect">
            <a:avLst/>
          </a:prstGeom>
          <a:solidFill>
            <a:srgbClr val="203A43"/>
          </a:solidFill>
          <a:ln/>
        </p:spPr>
      </p:sp>
      <p:sp>
        <p:nvSpPr>
          <p:cNvPr id="8" name="Shape 6"/>
          <p:cNvSpPr/>
          <p:nvPr/>
        </p:nvSpPr>
        <p:spPr>
          <a:xfrm>
            <a:off x="731520" y="1490472"/>
            <a:ext cx="146304" cy="146304"/>
          </a:xfrm>
          <a:prstGeom prst="ellipse">
            <a:avLst/>
          </a:prstGeom>
          <a:solidFill>
            <a:srgbClr val="C0392B"/>
          </a:solidFill>
          <a:ln/>
        </p:spPr>
      </p:sp>
      <p:sp>
        <p:nvSpPr>
          <p:cNvPr id="9" name="Shape 7"/>
          <p:cNvSpPr/>
          <p:nvPr/>
        </p:nvSpPr>
        <p:spPr>
          <a:xfrm>
            <a:off x="960120" y="1490472"/>
            <a:ext cx="146304" cy="146304"/>
          </a:xfrm>
          <a:prstGeom prst="ellipse">
            <a:avLst/>
          </a:prstGeom>
          <a:solidFill>
            <a:srgbClr val="E67E22"/>
          </a:solidFill>
          <a:ln/>
        </p:spPr>
      </p:sp>
      <p:sp>
        <p:nvSpPr>
          <p:cNvPr id="10" name="Shape 8"/>
          <p:cNvSpPr/>
          <p:nvPr/>
        </p:nvSpPr>
        <p:spPr>
          <a:xfrm>
            <a:off x="1188720" y="1490472"/>
            <a:ext cx="146304" cy="146304"/>
          </a:xfrm>
          <a:prstGeom prst="ellipse">
            <a:avLst/>
          </a:prstGeom>
          <a:solidFill>
            <a:srgbClr val="27AE60"/>
          </a:solidFill>
          <a:ln/>
        </p:spPr>
      </p:sp>
      <p:sp>
        <p:nvSpPr>
          <p:cNvPr id="11" name="Text 9"/>
          <p:cNvSpPr/>
          <p:nvPr/>
        </p:nvSpPr>
        <p:spPr>
          <a:xfrm>
            <a:off x="1554480" y="1371600"/>
            <a:ext cx="5852160" cy="411480"/>
          </a:xfrm>
          <a:prstGeom prst="rect">
            <a:avLst/>
          </a:prstGeom>
          <a:noFill/>
          <a:ln/>
        </p:spPr>
        <p:txBody>
          <a:bodyPr wrap="square" lIns="0" tIns="0" rIns="0" bIns="0" rtlCol="0" anchor="ctr"/>
          <a:lstStyle/>
          <a:p>
            <a:pPr indent="0" marL="0">
              <a:buNone/>
            </a:pPr>
            <a:r>
              <a:rPr lang="en-US" sz="1100" dirty="0">
                <a:solidFill>
                  <a:srgbClr val="9BE3D8"/>
                </a:solidFill>
              </a:rPr>
              <a:t>localhost:8501  -  TruthLens AI</a:t>
            </a:r>
            <a:endParaRPr lang="en-US" sz="1100" dirty="0"/>
          </a:p>
        </p:txBody>
      </p:sp>
      <p:sp>
        <p:nvSpPr>
          <p:cNvPr id="12" name="Shape 10"/>
          <p:cNvSpPr/>
          <p:nvPr/>
        </p:nvSpPr>
        <p:spPr>
          <a:xfrm>
            <a:off x="822960" y="1965960"/>
            <a:ext cx="6492240" cy="1051560"/>
          </a:xfrm>
          <a:prstGeom prst="roundRect">
            <a:avLst>
              <a:gd name="adj" fmla="val 5217"/>
            </a:avLst>
          </a:prstGeom>
          <a:solidFill>
            <a:srgbClr val="C31432"/>
          </a:solidFill>
          <a:ln/>
        </p:spPr>
      </p:sp>
      <p:sp>
        <p:nvSpPr>
          <p:cNvPr id="13" name="Text 11"/>
          <p:cNvSpPr/>
          <p:nvPr/>
        </p:nvSpPr>
        <p:spPr>
          <a:xfrm>
            <a:off x="1051560" y="2057400"/>
            <a:ext cx="4572000" cy="457200"/>
          </a:xfrm>
          <a:prstGeom prst="rect">
            <a:avLst/>
          </a:prstGeom>
          <a:noFill/>
          <a:ln/>
        </p:spPr>
        <p:txBody>
          <a:bodyPr wrap="square" lIns="0" tIns="0" rIns="0" bIns="0" rtlCol="0" anchor="ctr"/>
          <a:lstStyle/>
          <a:p>
            <a:pPr indent="0" marL="0">
              <a:buNone/>
            </a:pPr>
            <a:r>
              <a:rPr lang="en-US" sz="2000" b="1" dirty="0">
                <a:solidFill>
                  <a:srgbClr val="FFFFFF"/>
                </a:solidFill>
              </a:rPr>
              <a:t>Verdict: FAKE</a:t>
            </a:r>
            <a:endParaRPr lang="en-US" sz="2000" dirty="0"/>
          </a:p>
        </p:txBody>
      </p:sp>
      <p:sp>
        <p:nvSpPr>
          <p:cNvPr id="14" name="Text 12"/>
          <p:cNvSpPr/>
          <p:nvPr/>
        </p:nvSpPr>
        <p:spPr>
          <a:xfrm>
            <a:off x="1051560" y="2542032"/>
            <a:ext cx="6035040" cy="365760"/>
          </a:xfrm>
          <a:prstGeom prst="rect">
            <a:avLst/>
          </a:prstGeom>
          <a:noFill/>
          <a:ln/>
        </p:spPr>
        <p:txBody>
          <a:bodyPr wrap="square" lIns="0" tIns="0" rIns="0" bIns="0" rtlCol="0" anchor="ctr"/>
          <a:lstStyle/>
          <a:p>
            <a:pPr indent="0" marL="0">
              <a:buNone/>
            </a:pPr>
            <a:r>
              <a:rPr lang="en-US" sz="1200" dirty="0">
                <a:solidFill>
                  <a:srgbClr val="FFFFFF"/>
                </a:solidFill>
              </a:rPr>
              <a:t>Confidence: 91% (High) - Likely misinformation; verify before sharing.</a:t>
            </a:r>
            <a:endParaRPr lang="en-US" sz="1200" dirty="0"/>
          </a:p>
        </p:txBody>
      </p:sp>
      <p:sp>
        <p:nvSpPr>
          <p:cNvPr id="15" name="Shape 13"/>
          <p:cNvSpPr/>
          <p:nvPr/>
        </p:nvSpPr>
        <p:spPr>
          <a:xfrm>
            <a:off x="868680" y="3154680"/>
            <a:ext cx="1536192" cy="731520"/>
          </a:xfrm>
          <a:prstGeom prst="roundRect">
            <a:avLst>
              <a:gd name="adj" fmla="val 6250"/>
            </a:avLst>
          </a:prstGeom>
          <a:solidFill>
            <a:srgbClr val="F4F7FA"/>
          </a:solidFill>
          <a:ln w="12700">
            <a:solidFill>
              <a:srgbClr val="E2E8F0"/>
            </a:solidFill>
            <a:prstDash val="solid"/>
          </a:ln>
        </p:spPr>
      </p:sp>
      <p:sp>
        <p:nvSpPr>
          <p:cNvPr id="16" name="Text 14"/>
          <p:cNvSpPr/>
          <p:nvPr/>
        </p:nvSpPr>
        <p:spPr>
          <a:xfrm>
            <a:off x="868680" y="3200400"/>
            <a:ext cx="1536192" cy="365760"/>
          </a:xfrm>
          <a:prstGeom prst="rect">
            <a:avLst/>
          </a:prstGeom>
          <a:noFill/>
          <a:ln/>
        </p:spPr>
        <p:txBody>
          <a:bodyPr wrap="square" lIns="0" tIns="0" rIns="0" bIns="0" rtlCol="0" anchor="ctr"/>
          <a:lstStyle/>
          <a:p>
            <a:pPr algn="ctr" indent="0" marL="0">
              <a:buNone/>
            </a:pPr>
            <a:r>
              <a:rPr lang="en-US" sz="1600" b="1" dirty="0">
                <a:solidFill>
                  <a:srgbClr val="203A43"/>
                </a:solidFill>
              </a:rPr>
              <a:t>0.86</a:t>
            </a:r>
            <a:endParaRPr lang="en-US" sz="1600" dirty="0"/>
          </a:p>
        </p:txBody>
      </p:sp>
      <p:sp>
        <p:nvSpPr>
          <p:cNvPr id="17" name="Text 15"/>
          <p:cNvSpPr/>
          <p:nvPr/>
        </p:nvSpPr>
        <p:spPr>
          <a:xfrm>
            <a:off x="868680" y="3566160"/>
            <a:ext cx="1536192" cy="274320"/>
          </a:xfrm>
          <a:prstGeom prst="rect">
            <a:avLst/>
          </a:prstGeom>
          <a:noFill/>
          <a:ln/>
        </p:spPr>
        <p:txBody>
          <a:bodyPr wrap="square" lIns="0" tIns="0" rIns="0" bIns="0" rtlCol="0" anchor="ctr"/>
          <a:lstStyle/>
          <a:p>
            <a:pPr algn="ctr" indent="0" marL="0">
              <a:buNone/>
            </a:pPr>
            <a:r>
              <a:rPr lang="en-US" sz="1000" dirty="0">
                <a:solidFill>
                  <a:srgbClr val="64748B"/>
                </a:solidFill>
              </a:rPr>
              <a:t>Fused</a:t>
            </a:r>
            <a:endParaRPr lang="en-US" sz="1000" dirty="0"/>
          </a:p>
        </p:txBody>
      </p:sp>
      <p:sp>
        <p:nvSpPr>
          <p:cNvPr id="18" name="Shape 16"/>
          <p:cNvSpPr/>
          <p:nvPr/>
        </p:nvSpPr>
        <p:spPr>
          <a:xfrm>
            <a:off x="2496312" y="3154680"/>
            <a:ext cx="1536192" cy="731520"/>
          </a:xfrm>
          <a:prstGeom prst="roundRect">
            <a:avLst>
              <a:gd name="adj" fmla="val 6250"/>
            </a:avLst>
          </a:prstGeom>
          <a:solidFill>
            <a:srgbClr val="F4F7FA"/>
          </a:solidFill>
          <a:ln w="12700">
            <a:solidFill>
              <a:srgbClr val="E2E8F0"/>
            </a:solidFill>
            <a:prstDash val="solid"/>
          </a:ln>
        </p:spPr>
      </p:sp>
      <p:sp>
        <p:nvSpPr>
          <p:cNvPr id="19" name="Text 17"/>
          <p:cNvSpPr/>
          <p:nvPr/>
        </p:nvSpPr>
        <p:spPr>
          <a:xfrm>
            <a:off x="2496312" y="3200400"/>
            <a:ext cx="1536192" cy="365760"/>
          </a:xfrm>
          <a:prstGeom prst="rect">
            <a:avLst/>
          </a:prstGeom>
          <a:noFill/>
          <a:ln/>
        </p:spPr>
        <p:txBody>
          <a:bodyPr wrap="square" lIns="0" tIns="0" rIns="0" bIns="0" rtlCol="0" anchor="ctr"/>
          <a:lstStyle/>
          <a:p>
            <a:pPr algn="ctr" indent="0" marL="0">
              <a:buNone/>
            </a:pPr>
            <a:r>
              <a:rPr lang="en-US" sz="1600" b="1" dirty="0">
                <a:solidFill>
                  <a:srgbClr val="203A43"/>
                </a:solidFill>
              </a:rPr>
              <a:t>0.89</a:t>
            </a:r>
            <a:endParaRPr lang="en-US" sz="1600" dirty="0"/>
          </a:p>
        </p:txBody>
      </p:sp>
      <p:sp>
        <p:nvSpPr>
          <p:cNvPr id="20" name="Text 18"/>
          <p:cNvSpPr/>
          <p:nvPr/>
        </p:nvSpPr>
        <p:spPr>
          <a:xfrm>
            <a:off x="2496312" y="3566160"/>
            <a:ext cx="1536192" cy="274320"/>
          </a:xfrm>
          <a:prstGeom prst="rect">
            <a:avLst/>
          </a:prstGeom>
          <a:noFill/>
          <a:ln/>
        </p:spPr>
        <p:txBody>
          <a:bodyPr wrap="square" lIns="0" tIns="0" rIns="0" bIns="0" rtlCol="0" anchor="ctr"/>
          <a:lstStyle/>
          <a:p>
            <a:pPr algn="ctr" indent="0" marL="0">
              <a:buNone/>
            </a:pPr>
            <a:r>
              <a:rPr lang="en-US" sz="1000" dirty="0">
                <a:solidFill>
                  <a:srgbClr val="64748B"/>
                </a:solidFill>
              </a:rPr>
              <a:t>P(fake)</a:t>
            </a:r>
            <a:endParaRPr lang="en-US" sz="1000" dirty="0"/>
          </a:p>
        </p:txBody>
      </p:sp>
      <p:sp>
        <p:nvSpPr>
          <p:cNvPr id="21" name="Shape 19"/>
          <p:cNvSpPr/>
          <p:nvPr/>
        </p:nvSpPr>
        <p:spPr>
          <a:xfrm>
            <a:off x="4123944" y="3154680"/>
            <a:ext cx="1536192" cy="731520"/>
          </a:xfrm>
          <a:prstGeom prst="roundRect">
            <a:avLst>
              <a:gd name="adj" fmla="val 6250"/>
            </a:avLst>
          </a:prstGeom>
          <a:solidFill>
            <a:srgbClr val="F4F7FA"/>
          </a:solidFill>
          <a:ln w="12700">
            <a:solidFill>
              <a:srgbClr val="E2E8F0"/>
            </a:solidFill>
            <a:prstDash val="solid"/>
          </a:ln>
        </p:spPr>
      </p:sp>
      <p:sp>
        <p:nvSpPr>
          <p:cNvPr id="22" name="Text 20"/>
          <p:cNvSpPr/>
          <p:nvPr/>
        </p:nvSpPr>
        <p:spPr>
          <a:xfrm>
            <a:off x="4123944" y="3200400"/>
            <a:ext cx="1536192" cy="365760"/>
          </a:xfrm>
          <a:prstGeom prst="rect">
            <a:avLst/>
          </a:prstGeom>
          <a:noFill/>
          <a:ln/>
        </p:spPr>
        <p:txBody>
          <a:bodyPr wrap="square" lIns="0" tIns="0" rIns="0" bIns="0" rtlCol="0" anchor="ctr"/>
          <a:lstStyle/>
          <a:p>
            <a:pPr algn="ctr" indent="0" marL="0">
              <a:buNone/>
            </a:pPr>
            <a:r>
              <a:rPr lang="en-US" sz="1600" b="1" dirty="0">
                <a:solidFill>
                  <a:srgbClr val="203A43"/>
                </a:solidFill>
              </a:rPr>
              <a:t>0.78</a:t>
            </a:r>
            <a:endParaRPr lang="en-US" sz="1600" dirty="0"/>
          </a:p>
        </p:txBody>
      </p:sp>
      <p:sp>
        <p:nvSpPr>
          <p:cNvPr id="23" name="Text 21"/>
          <p:cNvSpPr/>
          <p:nvPr/>
        </p:nvSpPr>
        <p:spPr>
          <a:xfrm>
            <a:off x="4123944" y="3566160"/>
            <a:ext cx="1536192" cy="274320"/>
          </a:xfrm>
          <a:prstGeom prst="rect">
            <a:avLst/>
          </a:prstGeom>
          <a:noFill/>
          <a:ln/>
        </p:spPr>
        <p:txBody>
          <a:bodyPr wrap="square" lIns="0" tIns="0" rIns="0" bIns="0" rtlCol="0" anchor="ctr"/>
          <a:lstStyle/>
          <a:p>
            <a:pPr algn="ctr" indent="0" marL="0">
              <a:buNone/>
            </a:pPr>
            <a:r>
              <a:rPr lang="en-US" sz="1000" dirty="0">
                <a:solidFill>
                  <a:srgbClr val="64748B"/>
                </a:solidFill>
              </a:rPr>
              <a:t>Signal risk</a:t>
            </a:r>
            <a:endParaRPr lang="en-US" sz="1000" dirty="0"/>
          </a:p>
        </p:txBody>
      </p:sp>
      <p:sp>
        <p:nvSpPr>
          <p:cNvPr id="24" name="Shape 22"/>
          <p:cNvSpPr/>
          <p:nvPr/>
        </p:nvSpPr>
        <p:spPr>
          <a:xfrm>
            <a:off x="5751576" y="3154680"/>
            <a:ext cx="1536192" cy="731520"/>
          </a:xfrm>
          <a:prstGeom prst="roundRect">
            <a:avLst>
              <a:gd name="adj" fmla="val 6250"/>
            </a:avLst>
          </a:prstGeom>
          <a:solidFill>
            <a:srgbClr val="F4F7FA"/>
          </a:solidFill>
          <a:ln w="12700">
            <a:solidFill>
              <a:srgbClr val="E2E8F0"/>
            </a:solidFill>
            <a:prstDash val="solid"/>
          </a:ln>
        </p:spPr>
      </p:sp>
      <p:sp>
        <p:nvSpPr>
          <p:cNvPr id="25" name="Text 23"/>
          <p:cNvSpPr/>
          <p:nvPr/>
        </p:nvSpPr>
        <p:spPr>
          <a:xfrm>
            <a:off x="5751576" y="3200400"/>
            <a:ext cx="1536192" cy="365760"/>
          </a:xfrm>
          <a:prstGeom prst="rect">
            <a:avLst/>
          </a:prstGeom>
          <a:noFill/>
          <a:ln/>
        </p:spPr>
        <p:txBody>
          <a:bodyPr wrap="square" lIns="0" tIns="0" rIns="0" bIns="0" rtlCol="0" anchor="ctr"/>
          <a:lstStyle/>
          <a:p>
            <a:pPr algn="ctr" indent="0" marL="0">
              <a:buNone/>
            </a:pPr>
            <a:r>
              <a:rPr lang="en-US" sz="1600" b="1" dirty="0">
                <a:solidFill>
                  <a:srgbClr val="203A43"/>
                </a:solidFill>
              </a:rPr>
              <a:t>42 ms</a:t>
            </a:r>
            <a:endParaRPr lang="en-US" sz="1600" dirty="0"/>
          </a:p>
        </p:txBody>
      </p:sp>
      <p:sp>
        <p:nvSpPr>
          <p:cNvPr id="26" name="Text 24"/>
          <p:cNvSpPr/>
          <p:nvPr/>
        </p:nvSpPr>
        <p:spPr>
          <a:xfrm>
            <a:off x="5751576" y="3566160"/>
            <a:ext cx="1536192" cy="274320"/>
          </a:xfrm>
          <a:prstGeom prst="rect">
            <a:avLst/>
          </a:prstGeom>
          <a:noFill/>
          <a:ln/>
        </p:spPr>
        <p:txBody>
          <a:bodyPr wrap="square" lIns="0" tIns="0" rIns="0" bIns="0" rtlCol="0" anchor="ctr"/>
          <a:lstStyle/>
          <a:p>
            <a:pPr algn="ctr" indent="0" marL="0">
              <a:buNone/>
            </a:pPr>
            <a:r>
              <a:rPr lang="en-US" sz="1000" dirty="0">
                <a:solidFill>
                  <a:srgbClr val="64748B"/>
                </a:solidFill>
              </a:rPr>
              <a:t>Latency</a:t>
            </a:r>
            <a:endParaRPr lang="en-US" sz="1000" dirty="0"/>
          </a:p>
        </p:txBody>
      </p:sp>
      <p:sp>
        <p:nvSpPr>
          <p:cNvPr id="27" name="Text 25"/>
          <p:cNvSpPr/>
          <p:nvPr/>
        </p:nvSpPr>
        <p:spPr>
          <a:xfrm>
            <a:off x="868680" y="4023360"/>
            <a:ext cx="5486400" cy="320040"/>
          </a:xfrm>
          <a:prstGeom prst="rect">
            <a:avLst/>
          </a:prstGeom>
          <a:noFill/>
          <a:ln/>
        </p:spPr>
        <p:txBody>
          <a:bodyPr wrap="square" rtlCol="0" anchor="ctr"/>
          <a:lstStyle/>
          <a:p>
            <a:pPr indent="0" marL="0">
              <a:buNone/>
            </a:pPr>
            <a:r>
              <a:rPr lang="en-US" sz="1200" b="1" dirty="0">
                <a:solidFill>
                  <a:srgbClr val="11998E"/>
                </a:solidFill>
              </a:rPr>
              <a:t>Agentic reasoning pipeline</a:t>
            </a:r>
            <a:endParaRPr lang="en-US" sz="1200" dirty="0"/>
          </a:p>
        </p:txBody>
      </p:sp>
      <p:sp>
        <p:nvSpPr>
          <p:cNvPr id="28" name="Text 26"/>
          <p:cNvSpPr/>
          <p:nvPr/>
        </p:nvSpPr>
        <p:spPr>
          <a:xfrm>
            <a:off x="914400" y="4343400"/>
            <a:ext cx="6400800" cy="1371600"/>
          </a:xfrm>
          <a:prstGeom prst="rect">
            <a:avLst/>
          </a:prstGeom>
          <a:noFill/>
          <a:ln/>
        </p:spPr>
        <p:txBody>
          <a:bodyPr wrap="square" rtlCol="0" anchor="ctr"/>
          <a:lstStyle/>
          <a:p>
            <a:pPr marL="342900" indent="-342900">
              <a:lnSpc>
                <a:spcPct val="120000"/>
              </a:lnSpc>
              <a:spcAft>
                <a:spcPts val="400"/>
              </a:spcAft>
              <a:buSzPct val="100000"/>
              <a:buChar char="•"/>
            </a:pPr>
            <a:r>
              <a:rPr lang="en-US" sz="1150" dirty="0">
                <a:solidFill>
                  <a:srgbClr val="1F2D3D"/>
                </a:solidFill>
              </a:rPr>
              <a:t>ClassifierAgent - predicts FAKE (P=0.89)</a:t>
            </a:r>
            <a:endParaRPr lang="en-US" sz="1150" dirty="0"/>
          </a:p>
          <a:p>
            <a:pPr marL="342900" indent="-342900">
              <a:lnSpc>
                <a:spcPct val="120000"/>
              </a:lnSpc>
              <a:spcAft>
                <a:spcPts val="400"/>
              </a:spcAft>
              <a:buSzPct val="100000"/>
              <a:buChar char="•"/>
            </a:pPr>
            <a:r>
              <a:rPr lang="en-US" sz="1150" dirty="0">
                <a:solidFill>
                  <a:srgbClr val="1F2D3D"/>
                </a:solidFill>
              </a:rPr>
              <a:t>ExplainerAgent - sensational + clickbait markers</a:t>
            </a:r>
            <a:endParaRPr lang="en-US" sz="1150" dirty="0"/>
          </a:p>
          <a:p>
            <a:pPr marL="342900" indent="-342900">
              <a:lnSpc>
                <a:spcPct val="120000"/>
              </a:lnSpc>
              <a:spcAft>
                <a:spcPts val="400"/>
              </a:spcAft>
              <a:buSzPct val="100000"/>
              <a:buChar char="•"/>
            </a:pPr>
            <a:r>
              <a:rPr lang="en-US" sz="1150" dirty="0">
                <a:solidFill>
                  <a:srgbClr val="1F2D3D"/>
                </a:solidFill>
              </a:rPr>
              <a:t>FactCheckAgent - retrieved 3 references (RAG)</a:t>
            </a:r>
            <a:endParaRPr lang="en-US" sz="1150" dirty="0"/>
          </a:p>
        </p:txBody>
      </p:sp>
      <p:sp>
        <p:nvSpPr>
          <p:cNvPr id="29" name="Shape 27"/>
          <p:cNvSpPr/>
          <p:nvPr/>
        </p:nvSpPr>
        <p:spPr>
          <a:xfrm>
            <a:off x="7818120" y="1371600"/>
            <a:ext cx="3794760" cy="4526280"/>
          </a:xfrm>
          <a:prstGeom prst="roundRect">
            <a:avLst>
              <a:gd name="adj" fmla="val 1928"/>
            </a:avLst>
          </a:prstGeom>
          <a:solidFill>
            <a:srgbClr val="F4F7FA"/>
          </a:solidFill>
          <a:ln w="12700">
            <a:solidFill>
              <a:srgbClr val="E2E8F0"/>
            </a:solidFill>
            <a:prstDash val="solid"/>
          </a:ln>
          <a:effectLst>
            <a:outerShdw sx="100000" sy="100000" kx="0" ky="0" algn="bl" rotWithShape="0" blurRad="88900" dist="38100" dir="8100000">
              <a:srgbClr val="000000">
                <a:alpha val="16000"/>
              </a:srgbClr>
            </a:outerShdw>
          </a:effectLst>
        </p:spPr>
      </p:sp>
      <p:sp>
        <p:nvSpPr>
          <p:cNvPr id="30" name="Text 28"/>
          <p:cNvSpPr/>
          <p:nvPr/>
        </p:nvSpPr>
        <p:spPr>
          <a:xfrm>
            <a:off x="8046720" y="1554480"/>
            <a:ext cx="3291840" cy="365760"/>
          </a:xfrm>
          <a:prstGeom prst="rect">
            <a:avLst/>
          </a:prstGeom>
          <a:noFill/>
          <a:ln/>
        </p:spPr>
        <p:txBody>
          <a:bodyPr wrap="square" rtlCol="0" anchor="ctr"/>
          <a:lstStyle/>
          <a:p>
            <a:pPr indent="0" marL="0">
              <a:buNone/>
            </a:pPr>
            <a:r>
              <a:rPr lang="en-US" sz="1500" b="1" dirty="0">
                <a:solidFill>
                  <a:srgbClr val="11998E"/>
                </a:solidFill>
              </a:rPr>
              <a:t>UI highlights</a:t>
            </a:r>
            <a:endParaRPr lang="en-US" sz="1500" dirty="0"/>
          </a:p>
        </p:txBody>
      </p:sp>
      <p:sp>
        <p:nvSpPr>
          <p:cNvPr id="31" name="Text 29"/>
          <p:cNvSpPr/>
          <p:nvPr/>
        </p:nvSpPr>
        <p:spPr>
          <a:xfrm>
            <a:off x="8046720" y="2011680"/>
            <a:ext cx="3383280" cy="3657600"/>
          </a:xfrm>
          <a:prstGeom prst="rect">
            <a:avLst/>
          </a:prstGeom>
          <a:noFill/>
          <a:ln/>
        </p:spPr>
        <p:txBody>
          <a:bodyPr wrap="square" rtlCol="0" anchor="ctr"/>
          <a:lstStyle/>
          <a:p>
            <a:pPr marL="342900" indent="-342900">
              <a:lnSpc>
                <a:spcPct val="130000"/>
              </a:lnSpc>
              <a:spcAft>
                <a:spcPts val="900"/>
              </a:spcAft>
              <a:buSzPct val="100000"/>
              <a:buChar char="•"/>
            </a:pPr>
            <a:r>
              <a:rPr lang="en-US" sz="1350" dirty="0">
                <a:solidFill>
                  <a:srgbClr val="1F2D3D"/>
                </a:solidFill>
              </a:rPr>
              <a:t>Colour-coded verdict card</a:t>
            </a:r>
            <a:endParaRPr lang="en-US" sz="1350" dirty="0"/>
          </a:p>
          <a:p>
            <a:pPr marL="342900" indent="-342900">
              <a:lnSpc>
                <a:spcPct val="130000"/>
              </a:lnSpc>
              <a:spcAft>
                <a:spcPts val="900"/>
              </a:spcAft>
              <a:buSzPct val="100000"/>
              <a:buChar char="•"/>
            </a:pPr>
            <a:r>
              <a:rPr lang="en-US" sz="1350" dirty="0">
                <a:solidFill>
                  <a:srgbClr val="1F2D3D"/>
                </a:solidFill>
              </a:rPr>
              <a:t>Live confidence &amp; latency</a:t>
            </a:r>
            <a:endParaRPr lang="en-US" sz="1350" dirty="0"/>
          </a:p>
          <a:p>
            <a:pPr marL="342900" indent="-342900">
              <a:lnSpc>
                <a:spcPct val="130000"/>
              </a:lnSpc>
              <a:spcAft>
                <a:spcPts val="900"/>
              </a:spcAft>
              <a:buSzPct val="100000"/>
              <a:buChar char="•"/>
            </a:pPr>
            <a:r>
              <a:rPr lang="en-US" sz="1350" dirty="0">
                <a:solidFill>
                  <a:srgbClr val="1F2D3D"/>
                </a:solidFill>
              </a:rPr>
              <a:t>Visible agent trace</a:t>
            </a:r>
            <a:endParaRPr lang="en-US" sz="1350" dirty="0"/>
          </a:p>
          <a:p>
            <a:pPr marL="342900" indent="-342900">
              <a:lnSpc>
                <a:spcPct val="130000"/>
              </a:lnSpc>
              <a:spcAft>
                <a:spcPts val="900"/>
              </a:spcAft>
              <a:buSzPct val="100000"/>
              <a:buChar char="•"/>
            </a:pPr>
            <a:r>
              <a:rPr lang="en-US" sz="1350" dirty="0">
                <a:solidFill>
                  <a:srgbClr val="1F2D3D"/>
                </a:solidFill>
              </a:rPr>
              <a:t>Signals &amp; influential terms</a:t>
            </a:r>
            <a:endParaRPr lang="en-US" sz="1350" dirty="0"/>
          </a:p>
          <a:p>
            <a:pPr marL="342900" indent="-342900">
              <a:lnSpc>
                <a:spcPct val="130000"/>
              </a:lnSpc>
              <a:spcAft>
                <a:spcPts val="900"/>
              </a:spcAft>
              <a:buSzPct val="100000"/>
              <a:buChar char="•"/>
            </a:pPr>
            <a:r>
              <a:rPr lang="en-US" sz="1350" dirty="0">
                <a:solidFill>
                  <a:srgbClr val="1F2D3D"/>
                </a:solidFill>
              </a:rPr>
              <a:t>Retrieved evidence (RAG)</a:t>
            </a:r>
            <a:endParaRPr lang="en-US" sz="1350" dirty="0"/>
          </a:p>
          <a:p>
            <a:pPr marL="342900" indent="-342900">
              <a:lnSpc>
                <a:spcPct val="130000"/>
              </a:lnSpc>
              <a:spcAft>
                <a:spcPts val="900"/>
              </a:spcAft>
              <a:buSzPct val="100000"/>
              <a:buChar char="•"/>
            </a:pPr>
            <a:r>
              <a:rPr lang="en-US" sz="1350" dirty="0">
                <a:solidFill>
                  <a:srgbClr val="1F2D3D"/>
                </a:solidFill>
              </a:rPr>
              <a:t>One-click sample articles</a:t>
            </a:r>
            <a:endParaRPr lang="en-US" sz="13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566928"/>
            <a:ext cx="146304" cy="384048"/>
          </a:xfrm>
          <a:prstGeom prst="rect">
            <a:avLst/>
          </a:prstGeom>
          <a:solidFill>
            <a:srgbClr val="11998E"/>
          </a:solidFill>
          <a:ln/>
        </p:spPr>
      </p:sp>
      <p:sp>
        <p:nvSpPr>
          <p:cNvPr id="3" name="Text 1"/>
          <p:cNvSpPr/>
          <p:nvPr/>
        </p:nvSpPr>
        <p:spPr>
          <a:xfrm>
            <a:off x="822960" y="502920"/>
            <a:ext cx="10789920" cy="548640"/>
          </a:xfrm>
          <a:prstGeom prst="rect">
            <a:avLst/>
          </a:prstGeom>
          <a:noFill/>
          <a:ln/>
        </p:spPr>
        <p:txBody>
          <a:bodyPr wrap="square" lIns="0" tIns="0" rIns="0" bIns="0" rtlCol="0" anchor="ctr"/>
          <a:lstStyle/>
          <a:p>
            <a:pPr algn="l" indent="0" marL="0">
              <a:buNone/>
            </a:pPr>
            <a:r>
              <a:rPr lang="en-US" sz="2800" b="1" dirty="0">
                <a:solidFill>
                  <a:srgbClr val="203A43"/>
                </a:solidFill>
                <a:latin typeface="Calibri" pitchFamily="34" charset="0"/>
                <a:ea typeface="Calibri" pitchFamily="34" charset="-122"/>
                <a:cs typeface="Calibri" pitchFamily="34" charset="-120"/>
              </a:rPr>
              <a:t>Results</a:t>
            </a:r>
            <a:endParaRPr lang="en-US" sz="2800" dirty="0"/>
          </a:p>
        </p:txBody>
      </p:sp>
      <p:sp>
        <p:nvSpPr>
          <p:cNvPr id="4" name="Text 2"/>
          <p:cNvSpPr/>
          <p:nvPr/>
        </p:nvSpPr>
        <p:spPr>
          <a:xfrm>
            <a:off x="548640" y="6437376"/>
            <a:ext cx="5486400" cy="274320"/>
          </a:xfrm>
          <a:prstGeom prst="rect">
            <a:avLst/>
          </a:prstGeom>
          <a:noFill/>
          <a:ln/>
        </p:spPr>
        <p:txBody>
          <a:bodyPr wrap="square" rtlCol="0" anchor="ctr"/>
          <a:lstStyle/>
          <a:p>
            <a:pPr algn="l" indent="0" marL="0">
              <a:buNone/>
            </a:pPr>
            <a:r>
              <a:rPr lang="en-US" sz="900" dirty="0">
                <a:solidFill>
                  <a:srgbClr val="64748B"/>
                </a:solidFill>
              </a:rPr>
              <a:t>TruthLens AI</a:t>
            </a:r>
            <a:endParaRPr lang="en-US" sz="900" dirty="0"/>
          </a:p>
        </p:txBody>
      </p:sp>
      <p:sp>
        <p:nvSpPr>
          <p:cNvPr id="5" name="Text 3"/>
          <p:cNvSpPr/>
          <p:nvPr/>
        </p:nvSpPr>
        <p:spPr>
          <a:xfrm>
            <a:off x="10058400" y="6437376"/>
            <a:ext cx="1581912" cy="274320"/>
          </a:xfrm>
          <a:prstGeom prst="rect">
            <a:avLst/>
          </a:prstGeom>
          <a:noFill/>
          <a:ln/>
        </p:spPr>
        <p:txBody>
          <a:bodyPr wrap="square" rtlCol="0" anchor="ctr"/>
          <a:lstStyle/>
          <a:p>
            <a:pPr algn="r" indent="0" marL="0">
              <a:buNone/>
            </a:pPr>
            <a:r>
              <a:rPr lang="en-US" sz="900" dirty="0">
                <a:solidFill>
                  <a:srgbClr val="64748B"/>
                </a:solidFill>
              </a:rPr>
              <a:t>14 / 20</a:t>
            </a:r>
            <a:endParaRPr lang="en-US" sz="900" dirty="0"/>
          </a:p>
        </p:txBody>
      </p:sp>
      <p:sp>
        <p:nvSpPr>
          <p:cNvPr id="6" name="Shape 4"/>
          <p:cNvSpPr/>
          <p:nvPr/>
        </p:nvSpPr>
        <p:spPr>
          <a:xfrm>
            <a:off x="548640" y="1417320"/>
            <a:ext cx="2670048" cy="1691640"/>
          </a:xfrm>
          <a:prstGeom prst="roundRect">
            <a:avLst>
              <a:gd name="adj" fmla="val 4324"/>
            </a:avLst>
          </a:prstGeom>
          <a:solidFill>
            <a:srgbClr val="FFFFFF"/>
          </a:solidFill>
          <a:ln w="12700">
            <a:solidFill>
              <a:srgbClr val="E2E8F0"/>
            </a:solidFill>
            <a:prstDash val="solid"/>
          </a:ln>
          <a:effectLst>
            <a:outerShdw sx="100000" sy="100000" kx="0" ky="0" algn="bl" rotWithShape="0" blurRad="88900" dist="38100" dir="8100000">
              <a:srgbClr val="000000">
                <a:alpha val="16000"/>
              </a:srgbClr>
            </a:outerShdw>
          </a:effectLst>
        </p:spPr>
      </p:sp>
      <p:sp>
        <p:nvSpPr>
          <p:cNvPr id="7" name="Text 5"/>
          <p:cNvSpPr/>
          <p:nvPr/>
        </p:nvSpPr>
        <p:spPr>
          <a:xfrm>
            <a:off x="548640" y="1554480"/>
            <a:ext cx="2670048" cy="822960"/>
          </a:xfrm>
          <a:prstGeom prst="rect">
            <a:avLst/>
          </a:prstGeom>
          <a:noFill/>
          <a:ln/>
        </p:spPr>
        <p:txBody>
          <a:bodyPr wrap="square" lIns="0" tIns="0" rIns="0" bIns="0" rtlCol="0" anchor="ctr"/>
          <a:lstStyle/>
          <a:p>
            <a:pPr algn="ctr" indent="0" marL="0">
              <a:buNone/>
            </a:pPr>
            <a:r>
              <a:rPr lang="en-US" sz="4000" b="1" dirty="0">
                <a:solidFill>
                  <a:srgbClr val="11998E"/>
                </a:solidFill>
              </a:rPr>
              <a:t>94.2%</a:t>
            </a:r>
            <a:endParaRPr lang="en-US" sz="4000" dirty="0"/>
          </a:p>
        </p:txBody>
      </p:sp>
      <p:sp>
        <p:nvSpPr>
          <p:cNvPr id="8" name="Text 6"/>
          <p:cNvSpPr/>
          <p:nvPr/>
        </p:nvSpPr>
        <p:spPr>
          <a:xfrm>
            <a:off x="548640" y="2468880"/>
            <a:ext cx="2670048" cy="457200"/>
          </a:xfrm>
          <a:prstGeom prst="rect">
            <a:avLst/>
          </a:prstGeom>
          <a:noFill/>
          <a:ln/>
        </p:spPr>
        <p:txBody>
          <a:bodyPr wrap="square" lIns="0" tIns="0" rIns="0" bIns="0" rtlCol="0" anchor="ctr"/>
          <a:lstStyle/>
          <a:p>
            <a:pPr algn="ctr" indent="0" marL="0">
              <a:buNone/>
            </a:pPr>
            <a:r>
              <a:rPr lang="en-US" sz="1400" dirty="0">
                <a:solidFill>
                  <a:srgbClr val="64748B"/>
                </a:solidFill>
              </a:rPr>
              <a:t>Accuracy</a:t>
            </a:r>
            <a:endParaRPr lang="en-US" sz="1400" dirty="0"/>
          </a:p>
        </p:txBody>
      </p:sp>
      <p:sp>
        <p:nvSpPr>
          <p:cNvPr id="9" name="Shape 7"/>
          <p:cNvSpPr/>
          <p:nvPr/>
        </p:nvSpPr>
        <p:spPr>
          <a:xfrm>
            <a:off x="3337560" y="1417320"/>
            <a:ext cx="2670048" cy="1691640"/>
          </a:xfrm>
          <a:prstGeom prst="roundRect">
            <a:avLst>
              <a:gd name="adj" fmla="val 4324"/>
            </a:avLst>
          </a:prstGeom>
          <a:solidFill>
            <a:srgbClr val="FFFFFF"/>
          </a:solidFill>
          <a:ln w="12700">
            <a:solidFill>
              <a:srgbClr val="E2E8F0"/>
            </a:solidFill>
            <a:prstDash val="solid"/>
          </a:ln>
          <a:effectLst>
            <a:outerShdw sx="100000" sy="100000" kx="0" ky="0" algn="bl" rotWithShape="0" blurRad="88900" dist="38100" dir="8100000">
              <a:srgbClr val="000000">
                <a:alpha val="16000"/>
              </a:srgbClr>
            </a:outerShdw>
          </a:effectLst>
        </p:spPr>
      </p:sp>
      <p:sp>
        <p:nvSpPr>
          <p:cNvPr id="10" name="Text 8"/>
          <p:cNvSpPr/>
          <p:nvPr/>
        </p:nvSpPr>
        <p:spPr>
          <a:xfrm>
            <a:off x="3337560" y="1554480"/>
            <a:ext cx="2670048" cy="822960"/>
          </a:xfrm>
          <a:prstGeom prst="rect">
            <a:avLst/>
          </a:prstGeom>
          <a:noFill/>
          <a:ln/>
        </p:spPr>
        <p:txBody>
          <a:bodyPr wrap="square" lIns="0" tIns="0" rIns="0" bIns="0" rtlCol="0" anchor="ctr"/>
          <a:lstStyle/>
          <a:p>
            <a:pPr algn="ctr" indent="0" marL="0">
              <a:buNone/>
            </a:pPr>
            <a:r>
              <a:rPr lang="en-US" sz="4000" b="1" dirty="0">
                <a:solidFill>
                  <a:srgbClr val="2C5364"/>
                </a:solidFill>
              </a:rPr>
              <a:t>0.947</a:t>
            </a:r>
            <a:endParaRPr lang="en-US" sz="4000" dirty="0"/>
          </a:p>
        </p:txBody>
      </p:sp>
      <p:sp>
        <p:nvSpPr>
          <p:cNvPr id="11" name="Text 9"/>
          <p:cNvSpPr/>
          <p:nvPr/>
        </p:nvSpPr>
        <p:spPr>
          <a:xfrm>
            <a:off x="3337560" y="2468880"/>
            <a:ext cx="2670048" cy="457200"/>
          </a:xfrm>
          <a:prstGeom prst="rect">
            <a:avLst/>
          </a:prstGeom>
          <a:noFill/>
          <a:ln/>
        </p:spPr>
        <p:txBody>
          <a:bodyPr wrap="square" lIns="0" tIns="0" rIns="0" bIns="0" rtlCol="0" anchor="ctr"/>
          <a:lstStyle/>
          <a:p>
            <a:pPr algn="ctr" indent="0" marL="0">
              <a:buNone/>
            </a:pPr>
            <a:r>
              <a:rPr lang="en-US" sz="1400" dirty="0">
                <a:solidFill>
                  <a:srgbClr val="64748B"/>
                </a:solidFill>
              </a:rPr>
              <a:t>ROC-AUC</a:t>
            </a:r>
            <a:endParaRPr lang="en-US" sz="1400" dirty="0"/>
          </a:p>
        </p:txBody>
      </p:sp>
      <p:sp>
        <p:nvSpPr>
          <p:cNvPr id="12" name="Shape 10"/>
          <p:cNvSpPr/>
          <p:nvPr/>
        </p:nvSpPr>
        <p:spPr>
          <a:xfrm>
            <a:off x="6126480" y="1417320"/>
            <a:ext cx="2670048" cy="1691640"/>
          </a:xfrm>
          <a:prstGeom prst="roundRect">
            <a:avLst>
              <a:gd name="adj" fmla="val 4324"/>
            </a:avLst>
          </a:prstGeom>
          <a:solidFill>
            <a:srgbClr val="FFFFFF"/>
          </a:solidFill>
          <a:ln w="12700">
            <a:solidFill>
              <a:srgbClr val="E2E8F0"/>
            </a:solidFill>
            <a:prstDash val="solid"/>
          </a:ln>
          <a:effectLst>
            <a:outerShdw sx="100000" sy="100000" kx="0" ky="0" algn="bl" rotWithShape="0" blurRad="88900" dist="38100" dir="8100000">
              <a:srgbClr val="000000">
                <a:alpha val="16000"/>
              </a:srgbClr>
            </a:outerShdw>
          </a:effectLst>
        </p:spPr>
      </p:sp>
      <p:sp>
        <p:nvSpPr>
          <p:cNvPr id="13" name="Text 11"/>
          <p:cNvSpPr/>
          <p:nvPr/>
        </p:nvSpPr>
        <p:spPr>
          <a:xfrm>
            <a:off x="6126480" y="1554480"/>
            <a:ext cx="2670048" cy="822960"/>
          </a:xfrm>
          <a:prstGeom prst="rect">
            <a:avLst/>
          </a:prstGeom>
          <a:noFill/>
          <a:ln/>
        </p:spPr>
        <p:txBody>
          <a:bodyPr wrap="square" lIns="0" tIns="0" rIns="0" bIns="0" rtlCol="0" anchor="ctr"/>
          <a:lstStyle/>
          <a:p>
            <a:pPr algn="ctr" indent="0" marL="0">
              <a:buNone/>
            </a:pPr>
            <a:r>
              <a:rPr lang="en-US" sz="4000" b="1" dirty="0">
                <a:solidFill>
                  <a:srgbClr val="203A43"/>
                </a:solidFill>
              </a:rPr>
              <a:t>93.5%</a:t>
            </a:r>
            <a:endParaRPr lang="en-US" sz="4000" dirty="0"/>
          </a:p>
        </p:txBody>
      </p:sp>
      <p:sp>
        <p:nvSpPr>
          <p:cNvPr id="14" name="Text 12"/>
          <p:cNvSpPr/>
          <p:nvPr/>
        </p:nvSpPr>
        <p:spPr>
          <a:xfrm>
            <a:off x="6126480" y="2468880"/>
            <a:ext cx="2670048" cy="457200"/>
          </a:xfrm>
          <a:prstGeom prst="rect">
            <a:avLst/>
          </a:prstGeom>
          <a:noFill/>
          <a:ln/>
        </p:spPr>
        <p:txBody>
          <a:bodyPr wrap="square" lIns="0" tIns="0" rIns="0" bIns="0" rtlCol="0" anchor="ctr"/>
          <a:lstStyle/>
          <a:p>
            <a:pPr algn="ctr" indent="0" marL="0">
              <a:buNone/>
            </a:pPr>
            <a:r>
              <a:rPr lang="en-US" sz="1400" dirty="0">
                <a:solidFill>
                  <a:srgbClr val="64748B"/>
                </a:solidFill>
              </a:rPr>
              <a:t>F1 (fake)</a:t>
            </a:r>
            <a:endParaRPr lang="en-US" sz="1400" dirty="0"/>
          </a:p>
        </p:txBody>
      </p:sp>
      <p:sp>
        <p:nvSpPr>
          <p:cNvPr id="15" name="Shape 13"/>
          <p:cNvSpPr/>
          <p:nvPr/>
        </p:nvSpPr>
        <p:spPr>
          <a:xfrm>
            <a:off x="8915400" y="1417320"/>
            <a:ext cx="2670048" cy="1691640"/>
          </a:xfrm>
          <a:prstGeom prst="roundRect">
            <a:avLst>
              <a:gd name="adj" fmla="val 4324"/>
            </a:avLst>
          </a:prstGeom>
          <a:solidFill>
            <a:srgbClr val="FFFFFF"/>
          </a:solidFill>
          <a:ln w="12700">
            <a:solidFill>
              <a:srgbClr val="E2E8F0"/>
            </a:solidFill>
            <a:prstDash val="solid"/>
          </a:ln>
          <a:effectLst>
            <a:outerShdw sx="100000" sy="100000" kx="0" ky="0" algn="bl" rotWithShape="0" blurRad="88900" dist="38100" dir="8100000">
              <a:srgbClr val="000000">
                <a:alpha val="16000"/>
              </a:srgbClr>
            </a:outerShdw>
          </a:effectLst>
        </p:spPr>
      </p:sp>
      <p:sp>
        <p:nvSpPr>
          <p:cNvPr id="16" name="Text 14"/>
          <p:cNvSpPr/>
          <p:nvPr/>
        </p:nvSpPr>
        <p:spPr>
          <a:xfrm>
            <a:off x="8915400" y="1554480"/>
            <a:ext cx="2670048" cy="822960"/>
          </a:xfrm>
          <a:prstGeom prst="rect">
            <a:avLst/>
          </a:prstGeom>
          <a:noFill/>
          <a:ln/>
        </p:spPr>
        <p:txBody>
          <a:bodyPr wrap="square" lIns="0" tIns="0" rIns="0" bIns="0" rtlCol="0" anchor="ctr"/>
          <a:lstStyle/>
          <a:p>
            <a:pPr algn="ctr" indent="0" marL="0">
              <a:buNone/>
            </a:pPr>
            <a:r>
              <a:rPr lang="en-US" sz="4000" b="1" dirty="0">
                <a:solidFill>
                  <a:srgbClr val="11998E"/>
                </a:solidFill>
              </a:rPr>
              <a:t>94.8%</a:t>
            </a:r>
            <a:endParaRPr lang="en-US" sz="4000" dirty="0"/>
          </a:p>
        </p:txBody>
      </p:sp>
      <p:sp>
        <p:nvSpPr>
          <p:cNvPr id="17" name="Text 15"/>
          <p:cNvSpPr/>
          <p:nvPr/>
        </p:nvSpPr>
        <p:spPr>
          <a:xfrm>
            <a:off x="8915400" y="2468880"/>
            <a:ext cx="2670048" cy="457200"/>
          </a:xfrm>
          <a:prstGeom prst="rect">
            <a:avLst/>
          </a:prstGeom>
          <a:noFill/>
          <a:ln/>
        </p:spPr>
        <p:txBody>
          <a:bodyPr wrap="square" lIns="0" tIns="0" rIns="0" bIns="0" rtlCol="0" anchor="ctr"/>
          <a:lstStyle/>
          <a:p>
            <a:pPr algn="ctr" indent="0" marL="0">
              <a:buNone/>
            </a:pPr>
            <a:r>
              <a:rPr lang="en-US" sz="1400" dirty="0">
                <a:solidFill>
                  <a:srgbClr val="64748B"/>
                </a:solidFill>
              </a:rPr>
              <a:t>CV accuracy</a:t>
            </a:r>
            <a:endParaRPr lang="en-US" sz="1400" dirty="0"/>
          </a:p>
        </p:txBody>
      </p:sp>
      <p:pic>
        <p:nvPicPr>
          <p:cNvPr id="18" name="Image 0" descr="/sessions/kind-great-lamport/mnt/Minor digre poject/images/metrics_bar.png">    </p:cNvPr>
          <p:cNvPicPr>
            <a:picLocks noChangeAspect="1"/>
          </p:cNvPicPr>
          <p:nvPr/>
        </p:nvPicPr>
        <p:blipFill>
          <a:blip r:embed="rId1"/>
          <a:stretch>
            <a:fillRect/>
          </a:stretch>
        </p:blipFill>
        <p:spPr>
          <a:xfrm>
            <a:off x="1468575" y="3337560"/>
            <a:ext cx="4743809" cy="2880360"/>
          </a:xfrm>
          <a:prstGeom prst="rect">
            <a:avLst/>
          </a:prstGeom>
        </p:spPr>
      </p:pic>
      <p:sp>
        <p:nvSpPr>
          <p:cNvPr id="19" name="Shape 16"/>
          <p:cNvSpPr/>
          <p:nvPr/>
        </p:nvSpPr>
        <p:spPr>
          <a:xfrm>
            <a:off x="7406640" y="3337560"/>
            <a:ext cx="4206240" cy="2880360"/>
          </a:xfrm>
          <a:prstGeom prst="roundRect">
            <a:avLst>
              <a:gd name="adj" fmla="val 2540"/>
            </a:avLst>
          </a:prstGeom>
          <a:solidFill>
            <a:srgbClr val="F4F7FA"/>
          </a:solidFill>
          <a:ln w="12700">
            <a:solidFill>
              <a:srgbClr val="E2E8F0"/>
            </a:solidFill>
            <a:prstDash val="solid"/>
          </a:ln>
          <a:effectLst>
            <a:outerShdw sx="100000" sy="100000" kx="0" ky="0" algn="bl" rotWithShape="0" blurRad="88900" dist="38100" dir="8100000">
              <a:srgbClr val="000000">
                <a:alpha val="16000"/>
              </a:srgbClr>
            </a:outerShdw>
          </a:effectLst>
        </p:spPr>
      </p:sp>
      <p:sp>
        <p:nvSpPr>
          <p:cNvPr id="20" name="Text 17"/>
          <p:cNvSpPr/>
          <p:nvPr/>
        </p:nvSpPr>
        <p:spPr>
          <a:xfrm>
            <a:off x="7635240" y="3474720"/>
            <a:ext cx="3749040" cy="365760"/>
          </a:xfrm>
          <a:prstGeom prst="rect">
            <a:avLst/>
          </a:prstGeom>
          <a:noFill/>
          <a:ln/>
        </p:spPr>
        <p:txBody>
          <a:bodyPr wrap="square" rtlCol="0" anchor="ctr"/>
          <a:lstStyle/>
          <a:p>
            <a:pPr indent="0" marL="0">
              <a:buNone/>
            </a:pPr>
            <a:r>
              <a:rPr lang="en-US" sz="1500" b="1" dirty="0">
                <a:solidFill>
                  <a:srgbClr val="11998E"/>
                </a:solidFill>
              </a:rPr>
              <a:t>Takeaways</a:t>
            </a:r>
            <a:endParaRPr lang="en-US" sz="1500" dirty="0"/>
          </a:p>
        </p:txBody>
      </p:sp>
      <p:sp>
        <p:nvSpPr>
          <p:cNvPr id="21" name="Text 18"/>
          <p:cNvSpPr/>
          <p:nvPr/>
        </p:nvSpPr>
        <p:spPr>
          <a:xfrm>
            <a:off x="7635240" y="3886200"/>
            <a:ext cx="3794760" cy="2194560"/>
          </a:xfrm>
          <a:prstGeom prst="rect">
            <a:avLst/>
          </a:prstGeom>
          <a:noFill/>
          <a:ln/>
        </p:spPr>
        <p:txBody>
          <a:bodyPr wrap="square" rtlCol="0" anchor="ctr"/>
          <a:lstStyle/>
          <a:p>
            <a:pPr marL="342900" indent="-342900">
              <a:lnSpc>
                <a:spcPct val="130000"/>
              </a:lnSpc>
              <a:spcAft>
                <a:spcPts val="900"/>
              </a:spcAft>
              <a:buSzPct val="100000"/>
              <a:buChar char="•"/>
            </a:pPr>
            <a:r>
              <a:rPr lang="en-US" sz="1350" dirty="0">
                <a:solidFill>
                  <a:srgbClr val="1F2D3D"/>
                </a:solidFill>
              </a:rPr>
              <a:t>Strong, balanced precision &amp; recall</a:t>
            </a:r>
            <a:endParaRPr lang="en-US" sz="1350" dirty="0"/>
          </a:p>
          <a:p>
            <a:pPr marL="342900" indent="-342900">
              <a:lnSpc>
                <a:spcPct val="130000"/>
              </a:lnSpc>
              <a:spcAft>
                <a:spcPts val="900"/>
              </a:spcAft>
              <a:buSzPct val="100000"/>
              <a:buChar char="•"/>
            </a:pPr>
            <a:r>
              <a:rPr lang="en-US" sz="1350" dirty="0">
                <a:solidFill>
                  <a:srgbClr val="1F2D3D"/>
                </a:solidFill>
              </a:rPr>
              <a:t>High AUC = robust across thresholds</a:t>
            </a:r>
            <a:endParaRPr lang="en-US" sz="1350" dirty="0"/>
          </a:p>
          <a:p>
            <a:pPr marL="342900" indent="-342900">
              <a:lnSpc>
                <a:spcPct val="130000"/>
              </a:lnSpc>
              <a:spcAft>
                <a:spcPts val="900"/>
              </a:spcAft>
              <a:buSzPct val="100000"/>
              <a:buChar char="•"/>
            </a:pPr>
            <a:r>
              <a:rPr lang="en-US" sz="1350" dirty="0">
                <a:solidFill>
                  <a:srgbClr val="1F2D3D"/>
                </a:solidFill>
              </a:rPr>
              <a:t>Tiny CV-vs-test gap = no overfitting</a:t>
            </a:r>
            <a:endParaRPr lang="en-US" sz="1350" dirty="0"/>
          </a:p>
          <a:p>
            <a:pPr marL="342900" indent="-342900">
              <a:lnSpc>
                <a:spcPct val="130000"/>
              </a:lnSpc>
              <a:spcAft>
                <a:spcPts val="900"/>
              </a:spcAft>
              <a:buSzPct val="100000"/>
              <a:buChar char="•"/>
            </a:pPr>
            <a:r>
              <a:rPr lang="en-US" sz="1350" dirty="0">
                <a:solidFill>
                  <a:srgbClr val="1F2D3D"/>
                </a:solidFill>
              </a:rPr>
              <a:t>Realistic data (not a 100% mirage)</a:t>
            </a:r>
            <a:endParaRPr lang="en-US" sz="13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566928"/>
            <a:ext cx="146304" cy="384048"/>
          </a:xfrm>
          <a:prstGeom prst="rect">
            <a:avLst/>
          </a:prstGeom>
          <a:solidFill>
            <a:srgbClr val="11998E"/>
          </a:solidFill>
          <a:ln/>
        </p:spPr>
      </p:sp>
      <p:sp>
        <p:nvSpPr>
          <p:cNvPr id="3" name="Text 1"/>
          <p:cNvSpPr/>
          <p:nvPr/>
        </p:nvSpPr>
        <p:spPr>
          <a:xfrm>
            <a:off x="822960" y="502920"/>
            <a:ext cx="10789920" cy="548640"/>
          </a:xfrm>
          <a:prstGeom prst="rect">
            <a:avLst/>
          </a:prstGeom>
          <a:noFill/>
          <a:ln/>
        </p:spPr>
        <p:txBody>
          <a:bodyPr wrap="square" lIns="0" tIns="0" rIns="0" bIns="0" rtlCol="0" anchor="ctr"/>
          <a:lstStyle/>
          <a:p>
            <a:pPr algn="l" indent="0" marL="0">
              <a:buNone/>
            </a:pPr>
            <a:r>
              <a:rPr lang="en-US" sz="2800" b="1" dirty="0">
                <a:solidFill>
                  <a:srgbClr val="203A43"/>
                </a:solidFill>
                <a:latin typeface="Calibri" pitchFamily="34" charset="0"/>
                <a:ea typeface="Calibri" pitchFamily="34" charset="-122"/>
                <a:cs typeface="Calibri" pitchFamily="34" charset="-120"/>
              </a:rPr>
              <a:t>Performance Metrics</a:t>
            </a:r>
            <a:endParaRPr lang="en-US" sz="2800" dirty="0"/>
          </a:p>
        </p:txBody>
      </p:sp>
      <p:sp>
        <p:nvSpPr>
          <p:cNvPr id="4" name="Text 2"/>
          <p:cNvSpPr/>
          <p:nvPr/>
        </p:nvSpPr>
        <p:spPr>
          <a:xfrm>
            <a:off x="548640" y="6437376"/>
            <a:ext cx="5486400" cy="274320"/>
          </a:xfrm>
          <a:prstGeom prst="rect">
            <a:avLst/>
          </a:prstGeom>
          <a:noFill/>
          <a:ln/>
        </p:spPr>
        <p:txBody>
          <a:bodyPr wrap="square" rtlCol="0" anchor="ctr"/>
          <a:lstStyle/>
          <a:p>
            <a:pPr algn="l" indent="0" marL="0">
              <a:buNone/>
            </a:pPr>
            <a:r>
              <a:rPr lang="en-US" sz="900" dirty="0">
                <a:solidFill>
                  <a:srgbClr val="64748B"/>
                </a:solidFill>
              </a:rPr>
              <a:t>TruthLens AI</a:t>
            </a:r>
            <a:endParaRPr lang="en-US" sz="900" dirty="0"/>
          </a:p>
        </p:txBody>
      </p:sp>
      <p:sp>
        <p:nvSpPr>
          <p:cNvPr id="5" name="Text 3"/>
          <p:cNvSpPr/>
          <p:nvPr/>
        </p:nvSpPr>
        <p:spPr>
          <a:xfrm>
            <a:off x="10058400" y="6437376"/>
            <a:ext cx="1581912" cy="274320"/>
          </a:xfrm>
          <a:prstGeom prst="rect">
            <a:avLst/>
          </a:prstGeom>
          <a:noFill/>
          <a:ln/>
        </p:spPr>
        <p:txBody>
          <a:bodyPr wrap="square" rtlCol="0" anchor="ctr"/>
          <a:lstStyle/>
          <a:p>
            <a:pPr algn="r" indent="0" marL="0">
              <a:buNone/>
            </a:pPr>
            <a:r>
              <a:rPr lang="en-US" sz="900" dirty="0">
                <a:solidFill>
                  <a:srgbClr val="64748B"/>
                </a:solidFill>
              </a:rPr>
              <a:t>15 / 20</a:t>
            </a:r>
            <a:endParaRPr lang="en-US" sz="900" dirty="0"/>
          </a:p>
        </p:txBody>
      </p:sp>
      <p:pic>
        <p:nvPicPr>
          <p:cNvPr id="6" name="Image 0" descr="/sessions/kind-great-lamport/mnt/Minor digre poject/images/confusion_matrix.png">    </p:cNvPr>
          <p:cNvPicPr>
            <a:picLocks noChangeAspect="1"/>
          </p:cNvPicPr>
          <p:nvPr/>
        </p:nvPicPr>
        <p:blipFill>
          <a:blip r:embed="rId1"/>
          <a:stretch>
            <a:fillRect/>
          </a:stretch>
        </p:blipFill>
        <p:spPr>
          <a:xfrm>
            <a:off x="548640" y="1465353"/>
            <a:ext cx="4206240" cy="3561534"/>
          </a:xfrm>
          <a:prstGeom prst="rect">
            <a:avLst/>
          </a:prstGeom>
        </p:spPr>
      </p:pic>
      <p:pic>
        <p:nvPicPr>
          <p:cNvPr id="7" name="Image 1" descr="/sessions/kind-great-lamport/mnt/Minor digre poject/images/roc_curve.png">    </p:cNvPr>
          <p:cNvPicPr>
            <a:picLocks noChangeAspect="1"/>
          </p:cNvPicPr>
          <p:nvPr/>
        </p:nvPicPr>
        <p:blipFill>
          <a:blip r:embed="rId2"/>
          <a:stretch>
            <a:fillRect/>
          </a:stretch>
        </p:blipFill>
        <p:spPr>
          <a:xfrm>
            <a:off x="4846320" y="1488888"/>
            <a:ext cx="4206240" cy="3514465"/>
          </a:xfrm>
          <a:prstGeom prst="rect">
            <a:avLst/>
          </a:prstGeom>
        </p:spPr>
      </p:pic>
      <p:sp>
        <p:nvSpPr>
          <p:cNvPr id="8" name="Shape 4"/>
          <p:cNvSpPr/>
          <p:nvPr/>
        </p:nvSpPr>
        <p:spPr>
          <a:xfrm>
            <a:off x="9235440" y="1417320"/>
            <a:ext cx="2377440" cy="3657600"/>
          </a:xfrm>
          <a:prstGeom prst="roundRect">
            <a:avLst>
              <a:gd name="adj" fmla="val 3077"/>
            </a:avLst>
          </a:prstGeom>
          <a:solidFill>
            <a:srgbClr val="0F2027"/>
          </a:solidFill>
          <a:ln w="12700">
            <a:solidFill>
              <a:srgbClr val="E2E8F0"/>
            </a:solidFill>
            <a:prstDash val="solid"/>
          </a:ln>
          <a:effectLst>
            <a:outerShdw sx="100000" sy="100000" kx="0" ky="0" algn="bl" rotWithShape="0" blurRad="88900" dist="38100" dir="8100000">
              <a:srgbClr val="000000">
                <a:alpha val="16000"/>
              </a:srgbClr>
            </a:outerShdw>
          </a:effectLst>
        </p:spPr>
      </p:sp>
      <p:sp>
        <p:nvSpPr>
          <p:cNvPr id="9" name="Text 5"/>
          <p:cNvSpPr/>
          <p:nvPr/>
        </p:nvSpPr>
        <p:spPr>
          <a:xfrm>
            <a:off x="9418320" y="1600200"/>
            <a:ext cx="2011680" cy="365760"/>
          </a:xfrm>
          <a:prstGeom prst="rect">
            <a:avLst/>
          </a:prstGeom>
          <a:noFill/>
          <a:ln/>
        </p:spPr>
        <p:txBody>
          <a:bodyPr wrap="square" rtlCol="0" anchor="ctr"/>
          <a:lstStyle/>
          <a:p>
            <a:pPr indent="0" marL="0">
              <a:buNone/>
            </a:pPr>
            <a:r>
              <a:rPr lang="en-US" sz="1400" b="1" dirty="0">
                <a:solidFill>
                  <a:srgbClr val="9BE3D8"/>
                </a:solidFill>
              </a:rPr>
              <a:t>Test set</a:t>
            </a:r>
            <a:endParaRPr lang="en-US" sz="1400" dirty="0"/>
          </a:p>
        </p:txBody>
      </p:sp>
      <p:sp>
        <p:nvSpPr>
          <p:cNvPr id="10" name="Text 6"/>
          <p:cNvSpPr/>
          <p:nvPr/>
        </p:nvSpPr>
        <p:spPr>
          <a:xfrm>
            <a:off x="9418320" y="2103120"/>
            <a:ext cx="1097280" cy="411480"/>
          </a:xfrm>
          <a:prstGeom prst="rect">
            <a:avLst/>
          </a:prstGeom>
          <a:noFill/>
          <a:ln/>
        </p:spPr>
        <p:txBody>
          <a:bodyPr wrap="square" lIns="0" tIns="0" rIns="0" bIns="0" rtlCol="0" anchor="ctr"/>
          <a:lstStyle/>
          <a:p>
            <a:pPr indent="0" marL="0">
              <a:buNone/>
            </a:pPr>
            <a:r>
              <a:rPr lang="en-US" sz="1400" dirty="0">
                <a:solidFill>
                  <a:srgbClr val="FFFFFF"/>
                </a:solidFill>
              </a:rPr>
              <a:t>TN</a:t>
            </a:r>
            <a:endParaRPr lang="en-US" sz="1400" dirty="0"/>
          </a:p>
        </p:txBody>
      </p:sp>
      <p:sp>
        <p:nvSpPr>
          <p:cNvPr id="11" name="Text 7"/>
          <p:cNvSpPr/>
          <p:nvPr/>
        </p:nvSpPr>
        <p:spPr>
          <a:xfrm>
            <a:off x="10332720" y="2103120"/>
            <a:ext cx="1097280" cy="411480"/>
          </a:xfrm>
          <a:prstGeom prst="rect">
            <a:avLst/>
          </a:prstGeom>
          <a:noFill/>
          <a:ln/>
        </p:spPr>
        <p:txBody>
          <a:bodyPr wrap="square" lIns="0" tIns="0" rIns="0" bIns="0" rtlCol="0" anchor="ctr"/>
          <a:lstStyle/>
          <a:p>
            <a:pPr algn="r" indent="0" marL="0">
              <a:buNone/>
            </a:pPr>
            <a:r>
              <a:rPr lang="en-US" sz="1400" b="1" dirty="0">
                <a:solidFill>
                  <a:srgbClr val="9BE3D8"/>
                </a:solidFill>
              </a:rPr>
              <a:t>312</a:t>
            </a:r>
            <a:endParaRPr lang="en-US" sz="1400" dirty="0"/>
          </a:p>
        </p:txBody>
      </p:sp>
      <p:sp>
        <p:nvSpPr>
          <p:cNvPr id="12" name="Text 8"/>
          <p:cNvSpPr/>
          <p:nvPr/>
        </p:nvSpPr>
        <p:spPr>
          <a:xfrm>
            <a:off x="9418320" y="2578608"/>
            <a:ext cx="1097280" cy="411480"/>
          </a:xfrm>
          <a:prstGeom prst="rect">
            <a:avLst/>
          </a:prstGeom>
          <a:noFill/>
          <a:ln/>
        </p:spPr>
        <p:txBody>
          <a:bodyPr wrap="square" lIns="0" tIns="0" rIns="0" bIns="0" rtlCol="0" anchor="ctr"/>
          <a:lstStyle/>
          <a:p>
            <a:pPr indent="0" marL="0">
              <a:buNone/>
            </a:pPr>
            <a:r>
              <a:rPr lang="en-US" sz="1400" dirty="0">
                <a:solidFill>
                  <a:srgbClr val="FFFFFF"/>
                </a:solidFill>
              </a:rPr>
              <a:t>FP</a:t>
            </a:r>
            <a:endParaRPr lang="en-US" sz="1400" dirty="0"/>
          </a:p>
        </p:txBody>
      </p:sp>
      <p:sp>
        <p:nvSpPr>
          <p:cNvPr id="13" name="Text 9"/>
          <p:cNvSpPr/>
          <p:nvPr/>
        </p:nvSpPr>
        <p:spPr>
          <a:xfrm>
            <a:off x="10332720" y="2578608"/>
            <a:ext cx="1097280" cy="411480"/>
          </a:xfrm>
          <a:prstGeom prst="rect">
            <a:avLst/>
          </a:prstGeom>
          <a:noFill/>
          <a:ln/>
        </p:spPr>
        <p:txBody>
          <a:bodyPr wrap="square" lIns="0" tIns="0" rIns="0" bIns="0" rtlCol="0" anchor="ctr"/>
          <a:lstStyle/>
          <a:p>
            <a:pPr algn="r" indent="0" marL="0">
              <a:buNone/>
            </a:pPr>
            <a:r>
              <a:rPr lang="en-US" sz="1400" b="1" dirty="0">
                <a:solidFill>
                  <a:srgbClr val="9BE3D8"/>
                </a:solidFill>
              </a:rPr>
              <a:t>18</a:t>
            </a:r>
            <a:endParaRPr lang="en-US" sz="1400" dirty="0"/>
          </a:p>
        </p:txBody>
      </p:sp>
      <p:sp>
        <p:nvSpPr>
          <p:cNvPr id="14" name="Text 10"/>
          <p:cNvSpPr/>
          <p:nvPr/>
        </p:nvSpPr>
        <p:spPr>
          <a:xfrm>
            <a:off x="9418320" y="3054096"/>
            <a:ext cx="1097280" cy="411480"/>
          </a:xfrm>
          <a:prstGeom prst="rect">
            <a:avLst/>
          </a:prstGeom>
          <a:noFill/>
          <a:ln/>
        </p:spPr>
        <p:txBody>
          <a:bodyPr wrap="square" lIns="0" tIns="0" rIns="0" bIns="0" rtlCol="0" anchor="ctr"/>
          <a:lstStyle/>
          <a:p>
            <a:pPr indent="0" marL="0">
              <a:buNone/>
            </a:pPr>
            <a:r>
              <a:rPr lang="en-US" sz="1400" dirty="0">
                <a:solidFill>
                  <a:srgbClr val="FFFFFF"/>
                </a:solidFill>
              </a:rPr>
              <a:t>FN</a:t>
            </a:r>
            <a:endParaRPr lang="en-US" sz="1400" dirty="0"/>
          </a:p>
        </p:txBody>
      </p:sp>
      <p:sp>
        <p:nvSpPr>
          <p:cNvPr id="15" name="Text 11"/>
          <p:cNvSpPr/>
          <p:nvPr/>
        </p:nvSpPr>
        <p:spPr>
          <a:xfrm>
            <a:off x="10332720" y="3054096"/>
            <a:ext cx="1097280" cy="411480"/>
          </a:xfrm>
          <a:prstGeom prst="rect">
            <a:avLst/>
          </a:prstGeom>
          <a:noFill/>
          <a:ln/>
        </p:spPr>
        <p:txBody>
          <a:bodyPr wrap="square" lIns="0" tIns="0" rIns="0" bIns="0" rtlCol="0" anchor="ctr"/>
          <a:lstStyle/>
          <a:p>
            <a:pPr algn="r" indent="0" marL="0">
              <a:buNone/>
            </a:pPr>
            <a:r>
              <a:rPr lang="en-US" sz="1400" b="1" dirty="0">
                <a:solidFill>
                  <a:srgbClr val="9BE3D8"/>
                </a:solidFill>
              </a:rPr>
              <a:t>17</a:t>
            </a:r>
            <a:endParaRPr lang="en-US" sz="1400" dirty="0"/>
          </a:p>
        </p:txBody>
      </p:sp>
      <p:sp>
        <p:nvSpPr>
          <p:cNvPr id="16" name="Text 12"/>
          <p:cNvSpPr/>
          <p:nvPr/>
        </p:nvSpPr>
        <p:spPr>
          <a:xfrm>
            <a:off x="9418320" y="3529584"/>
            <a:ext cx="1097280" cy="411480"/>
          </a:xfrm>
          <a:prstGeom prst="rect">
            <a:avLst/>
          </a:prstGeom>
          <a:noFill/>
          <a:ln/>
        </p:spPr>
        <p:txBody>
          <a:bodyPr wrap="square" lIns="0" tIns="0" rIns="0" bIns="0" rtlCol="0" anchor="ctr"/>
          <a:lstStyle/>
          <a:p>
            <a:pPr indent="0" marL="0">
              <a:buNone/>
            </a:pPr>
            <a:r>
              <a:rPr lang="en-US" sz="1400" dirty="0">
                <a:solidFill>
                  <a:srgbClr val="FFFFFF"/>
                </a:solidFill>
              </a:rPr>
              <a:t>TP</a:t>
            </a:r>
            <a:endParaRPr lang="en-US" sz="1400" dirty="0"/>
          </a:p>
        </p:txBody>
      </p:sp>
      <p:sp>
        <p:nvSpPr>
          <p:cNvPr id="17" name="Text 13"/>
          <p:cNvSpPr/>
          <p:nvPr/>
        </p:nvSpPr>
        <p:spPr>
          <a:xfrm>
            <a:off x="10332720" y="3529584"/>
            <a:ext cx="1097280" cy="411480"/>
          </a:xfrm>
          <a:prstGeom prst="rect">
            <a:avLst/>
          </a:prstGeom>
          <a:noFill/>
          <a:ln/>
        </p:spPr>
        <p:txBody>
          <a:bodyPr wrap="square" lIns="0" tIns="0" rIns="0" bIns="0" rtlCol="0" anchor="ctr"/>
          <a:lstStyle/>
          <a:p>
            <a:pPr algn="r" indent="0" marL="0">
              <a:buNone/>
            </a:pPr>
            <a:r>
              <a:rPr lang="en-US" sz="1400" b="1" dirty="0">
                <a:solidFill>
                  <a:srgbClr val="9BE3D8"/>
                </a:solidFill>
              </a:rPr>
              <a:t>253</a:t>
            </a:r>
            <a:endParaRPr lang="en-US" sz="1400" dirty="0"/>
          </a:p>
        </p:txBody>
      </p:sp>
      <p:sp>
        <p:nvSpPr>
          <p:cNvPr id="18" name="Text 14"/>
          <p:cNvSpPr/>
          <p:nvPr/>
        </p:nvSpPr>
        <p:spPr>
          <a:xfrm>
            <a:off x="9418320" y="4005072"/>
            <a:ext cx="1097280" cy="411480"/>
          </a:xfrm>
          <a:prstGeom prst="rect">
            <a:avLst/>
          </a:prstGeom>
          <a:noFill/>
          <a:ln/>
        </p:spPr>
        <p:txBody>
          <a:bodyPr wrap="square" lIns="0" tIns="0" rIns="0" bIns="0" rtlCol="0" anchor="ctr"/>
          <a:lstStyle/>
          <a:p>
            <a:pPr indent="0" marL="0">
              <a:buNone/>
            </a:pPr>
            <a:r>
              <a:rPr lang="en-US" sz="1400" dirty="0">
                <a:solidFill>
                  <a:srgbClr val="FFFFFF"/>
                </a:solidFill>
              </a:rPr>
              <a:t>Acc</a:t>
            </a:r>
            <a:endParaRPr lang="en-US" sz="1400" dirty="0"/>
          </a:p>
        </p:txBody>
      </p:sp>
      <p:sp>
        <p:nvSpPr>
          <p:cNvPr id="19" name="Text 15"/>
          <p:cNvSpPr/>
          <p:nvPr/>
        </p:nvSpPr>
        <p:spPr>
          <a:xfrm>
            <a:off x="10332720" y="4005072"/>
            <a:ext cx="1097280" cy="411480"/>
          </a:xfrm>
          <a:prstGeom prst="rect">
            <a:avLst/>
          </a:prstGeom>
          <a:noFill/>
          <a:ln/>
        </p:spPr>
        <p:txBody>
          <a:bodyPr wrap="square" lIns="0" tIns="0" rIns="0" bIns="0" rtlCol="0" anchor="ctr"/>
          <a:lstStyle/>
          <a:p>
            <a:pPr algn="r" indent="0" marL="0">
              <a:buNone/>
            </a:pPr>
            <a:r>
              <a:rPr lang="en-US" sz="1400" b="1" dirty="0">
                <a:solidFill>
                  <a:srgbClr val="9BE3D8"/>
                </a:solidFill>
              </a:rPr>
              <a:t>94.2%</a:t>
            </a:r>
            <a:endParaRPr lang="en-US" sz="1400" dirty="0"/>
          </a:p>
        </p:txBody>
      </p:sp>
      <p:sp>
        <p:nvSpPr>
          <p:cNvPr id="20" name="Text 16"/>
          <p:cNvSpPr/>
          <p:nvPr/>
        </p:nvSpPr>
        <p:spPr>
          <a:xfrm>
            <a:off x="9418320" y="4480560"/>
            <a:ext cx="1097280" cy="411480"/>
          </a:xfrm>
          <a:prstGeom prst="rect">
            <a:avLst/>
          </a:prstGeom>
          <a:noFill/>
          <a:ln/>
        </p:spPr>
        <p:txBody>
          <a:bodyPr wrap="square" lIns="0" tIns="0" rIns="0" bIns="0" rtlCol="0" anchor="ctr"/>
          <a:lstStyle/>
          <a:p>
            <a:pPr indent="0" marL="0">
              <a:buNone/>
            </a:pPr>
            <a:r>
              <a:rPr lang="en-US" sz="1400" dirty="0">
                <a:solidFill>
                  <a:srgbClr val="FFFFFF"/>
                </a:solidFill>
              </a:rPr>
              <a:t>AUC</a:t>
            </a:r>
            <a:endParaRPr lang="en-US" sz="1400" dirty="0"/>
          </a:p>
        </p:txBody>
      </p:sp>
      <p:sp>
        <p:nvSpPr>
          <p:cNvPr id="21" name="Text 17"/>
          <p:cNvSpPr/>
          <p:nvPr/>
        </p:nvSpPr>
        <p:spPr>
          <a:xfrm>
            <a:off x="10332720" y="4480560"/>
            <a:ext cx="1097280" cy="411480"/>
          </a:xfrm>
          <a:prstGeom prst="rect">
            <a:avLst/>
          </a:prstGeom>
          <a:noFill/>
          <a:ln/>
        </p:spPr>
        <p:txBody>
          <a:bodyPr wrap="square" lIns="0" tIns="0" rIns="0" bIns="0" rtlCol="0" anchor="ctr"/>
          <a:lstStyle/>
          <a:p>
            <a:pPr algn="r" indent="0" marL="0">
              <a:buNone/>
            </a:pPr>
            <a:r>
              <a:rPr lang="en-US" sz="1400" b="1" dirty="0">
                <a:solidFill>
                  <a:srgbClr val="9BE3D8"/>
                </a:solidFill>
              </a:rPr>
              <a:t>0.947</a:t>
            </a:r>
            <a:endParaRPr lang="en-US" sz="1400" dirty="0"/>
          </a:p>
        </p:txBody>
      </p:sp>
      <p:sp>
        <p:nvSpPr>
          <p:cNvPr id="22" name="Text 18"/>
          <p:cNvSpPr/>
          <p:nvPr/>
        </p:nvSpPr>
        <p:spPr>
          <a:xfrm>
            <a:off x="548640" y="5212080"/>
            <a:ext cx="8503920" cy="457200"/>
          </a:xfrm>
          <a:prstGeom prst="rect">
            <a:avLst/>
          </a:prstGeom>
          <a:noFill/>
          <a:ln/>
        </p:spPr>
        <p:txBody>
          <a:bodyPr wrap="square" rtlCol="0" anchor="ctr"/>
          <a:lstStyle/>
          <a:p>
            <a:pPr indent="0" marL="0">
              <a:buNone/>
            </a:pPr>
            <a:r>
              <a:rPr lang="en-US" sz="1250" i="1" dirty="0">
                <a:solidFill>
                  <a:srgbClr val="64748B"/>
                </a:solidFill>
              </a:rPr>
              <a:t>Confusion matrix (left) and ROC curve (right) on the 600-article held-out test set.</a:t>
            </a:r>
            <a:endParaRPr lang="en-US" sz="12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566928"/>
            <a:ext cx="146304" cy="384048"/>
          </a:xfrm>
          <a:prstGeom prst="rect">
            <a:avLst/>
          </a:prstGeom>
          <a:solidFill>
            <a:srgbClr val="11998E"/>
          </a:solidFill>
          <a:ln/>
        </p:spPr>
      </p:sp>
      <p:sp>
        <p:nvSpPr>
          <p:cNvPr id="3" name="Text 1"/>
          <p:cNvSpPr/>
          <p:nvPr/>
        </p:nvSpPr>
        <p:spPr>
          <a:xfrm>
            <a:off x="822960" y="502920"/>
            <a:ext cx="10789920" cy="548640"/>
          </a:xfrm>
          <a:prstGeom prst="rect">
            <a:avLst/>
          </a:prstGeom>
          <a:noFill/>
          <a:ln/>
        </p:spPr>
        <p:txBody>
          <a:bodyPr wrap="square" lIns="0" tIns="0" rIns="0" bIns="0" rtlCol="0" anchor="ctr"/>
          <a:lstStyle/>
          <a:p>
            <a:pPr algn="l" indent="0" marL="0">
              <a:buNone/>
            </a:pPr>
            <a:r>
              <a:rPr lang="en-US" sz="2800" b="1" dirty="0">
                <a:solidFill>
                  <a:srgbClr val="203A43"/>
                </a:solidFill>
                <a:latin typeface="Calibri" pitchFamily="34" charset="0"/>
                <a:ea typeface="Calibri" pitchFamily="34" charset="-122"/>
                <a:cs typeface="Calibri" pitchFamily="34" charset="-120"/>
              </a:rPr>
              <a:t>Advantages</a:t>
            </a:r>
            <a:endParaRPr lang="en-US" sz="2800" dirty="0"/>
          </a:p>
        </p:txBody>
      </p:sp>
      <p:sp>
        <p:nvSpPr>
          <p:cNvPr id="4" name="Text 2"/>
          <p:cNvSpPr/>
          <p:nvPr/>
        </p:nvSpPr>
        <p:spPr>
          <a:xfrm>
            <a:off x="548640" y="6437376"/>
            <a:ext cx="5486400" cy="274320"/>
          </a:xfrm>
          <a:prstGeom prst="rect">
            <a:avLst/>
          </a:prstGeom>
          <a:noFill/>
          <a:ln/>
        </p:spPr>
        <p:txBody>
          <a:bodyPr wrap="square" rtlCol="0" anchor="ctr"/>
          <a:lstStyle/>
          <a:p>
            <a:pPr algn="l" indent="0" marL="0">
              <a:buNone/>
            </a:pPr>
            <a:r>
              <a:rPr lang="en-US" sz="900" dirty="0">
                <a:solidFill>
                  <a:srgbClr val="64748B"/>
                </a:solidFill>
              </a:rPr>
              <a:t>TruthLens AI</a:t>
            </a:r>
            <a:endParaRPr lang="en-US" sz="900" dirty="0"/>
          </a:p>
        </p:txBody>
      </p:sp>
      <p:sp>
        <p:nvSpPr>
          <p:cNvPr id="5" name="Text 3"/>
          <p:cNvSpPr/>
          <p:nvPr/>
        </p:nvSpPr>
        <p:spPr>
          <a:xfrm>
            <a:off x="10058400" y="6437376"/>
            <a:ext cx="1581912" cy="274320"/>
          </a:xfrm>
          <a:prstGeom prst="rect">
            <a:avLst/>
          </a:prstGeom>
          <a:noFill/>
          <a:ln/>
        </p:spPr>
        <p:txBody>
          <a:bodyPr wrap="square" rtlCol="0" anchor="ctr"/>
          <a:lstStyle/>
          <a:p>
            <a:pPr algn="r" indent="0" marL="0">
              <a:buNone/>
            </a:pPr>
            <a:r>
              <a:rPr lang="en-US" sz="900" dirty="0">
                <a:solidFill>
                  <a:srgbClr val="64748B"/>
                </a:solidFill>
              </a:rPr>
              <a:t>16 / 20</a:t>
            </a:r>
            <a:endParaRPr lang="en-US" sz="900" dirty="0"/>
          </a:p>
        </p:txBody>
      </p:sp>
      <p:sp>
        <p:nvSpPr>
          <p:cNvPr id="6" name="Shape 4"/>
          <p:cNvSpPr/>
          <p:nvPr/>
        </p:nvSpPr>
        <p:spPr>
          <a:xfrm>
            <a:off x="548640" y="1481328"/>
            <a:ext cx="3611880" cy="2011680"/>
          </a:xfrm>
          <a:prstGeom prst="roundRect">
            <a:avLst>
              <a:gd name="adj" fmla="val 3636"/>
            </a:avLst>
          </a:prstGeom>
          <a:solidFill>
            <a:srgbClr val="FFFFFF"/>
          </a:solidFill>
          <a:ln w="12700">
            <a:solidFill>
              <a:srgbClr val="E2E8F0"/>
            </a:solidFill>
            <a:prstDash val="solid"/>
          </a:ln>
          <a:effectLst>
            <a:outerShdw sx="100000" sy="100000" kx="0" ky="0" algn="bl" rotWithShape="0" blurRad="88900" dist="38100" dir="8100000">
              <a:srgbClr val="000000">
                <a:alpha val="16000"/>
              </a:srgbClr>
            </a:outerShdw>
          </a:effectLst>
        </p:spPr>
      </p:sp>
      <p:sp>
        <p:nvSpPr>
          <p:cNvPr id="7" name="Shape 5"/>
          <p:cNvSpPr/>
          <p:nvPr/>
        </p:nvSpPr>
        <p:spPr>
          <a:xfrm>
            <a:off x="822960" y="1773936"/>
            <a:ext cx="457200" cy="457200"/>
          </a:xfrm>
          <a:prstGeom prst="ellipse">
            <a:avLst/>
          </a:prstGeom>
          <a:solidFill>
            <a:srgbClr val="11998E"/>
          </a:solidFill>
          <a:ln/>
        </p:spPr>
      </p:sp>
      <p:sp>
        <p:nvSpPr>
          <p:cNvPr id="8" name="Text 6"/>
          <p:cNvSpPr/>
          <p:nvPr/>
        </p:nvSpPr>
        <p:spPr>
          <a:xfrm>
            <a:off x="822960" y="1737360"/>
            <a:ext cx="457200" cy="457200"/>
          </a:xfrm>
          <a:prstGeom prst="rect">
            <a:avLst/>
          </a:prstGeom>
          <a:noFill/>
          <a:ln/>
        </p:spPr>
        <p:txBody>
          <a:bodyPr wrap="square" lIns="0" tIns="0" rIns="0" bIns="0" rtlCol="0" anchor="ctr"/>
          <a:lstStyle/>
          <a:p>
            <a:pPr algn="ctr" indent="0" marL="0">
              <a:buNone/>
            </a:pPr>
            <a:r>
              <a:rPr lang="en-US" sz="2000" b="1" dirty="0">
                <a:solidFill>
                  <a:srgbClr val="FFFFFF"/>
                </a:solidFill>
              </a:rPr>
              <a:t>+</a:t>
            </a:r>
            <a:endParaRPr lang="en-US" sz="2000" dirty="0"/>
          </a:p>
        </p:txBody>
      </p:sp>
      <p:sp>
        <p:nvSpPr>
          <p:cNvPr id="9" name="Text 7"/>
          <p:cNvSpPr/>
          <p:nvPr/>
        </p:nvSpPr>
        <p:spPr>
          <a:xfrm>
            <a:off x="1417320" y="1773936"/>
            <a:ext cx="2606040" cy="457200"/>
          </a:xfrm>
          <a:prstGeom prst="rect">
            <a:avLst/>
          </a:prstGeom>
          <a:noFill/>
          <a:ln/>
        </p:spPr>
        <p:txBody>
          <a:bodyPr wrap="square" lIns="0" tIns="0" rIns="0" bIns="0" rtlCol="0" anchor="ctr"/>
          <a:lstStyle/>
          <a:p>
            <a:pPr indent="0" marL="0">
              <a:buNone/>
            </a:pPr>
            <a:r>
              <a:rPr lang="en-US" sz="1550" b="1" dirty="0">
                <a:solidFill>
                  <a:srgbClr val="203A43"/>
                </a:solidFill>
              </a:rPr>
              <a:t>Explainable</a:t>
            </a:r>
            <a:endParaRPr lang="en-US" sz="1550" dirty="0"/>
          </a:p>
        </p:txBody>
      </p:sp>
      <p:sp>
        <p:nvSpPr>
          <p:cNvPr id="10" name="Text 8"/>
          <p:cNvSpPr/>
          <p:nvPr/>
        </p:nvSpPr>
        <p:spPr>
          <a:xfrm>
            <a:off x="822960" y="2377440"/>
            <a:ext cx="3063240" cy="1005840"/>
          </a:xfrm>
          <a:prstGeom prst="rect">
            <a:avLst/>
          </a:prstGeom>
          <a:noFill/>
          <a:ln/>
        </p:spPr>
        <p:txBody>
          <a:bodyPr wrap="square" rtlCol="0" anchor="ctr"/>
          <a:lstStyle/>
          <a:p>
            <a:pPr indent="0" marL="0">
              <a:lnSpc>
                <a:spcPct val="115000"/>
              </a:lnSpc>
              <a:buNone/>
            </a:pPr>
            <a:r>
              <a:rPr lang="en-US" sz="1300" dirty="0">
                <a:solidFill>
                  <a:srgbClr val="1F2D3D"/>
                </a:solidFill>
              </a:rPr>
              <a:t>Every verdict comes with signals, terms and evidence.</a:t>
            </a:r>
            <a:endParaRPr lang="en-US" sz="1300" dirty="0"/>
          </a:p>
        </p:txBody>
      </p:sp>
      <p:sp>
        <p:nvSpPr>
          <p:cNvPr id="11" name="Shape 9"/>
          <p:cNvSpPr/>
          <p:nvPr/>
        </p:nvSpPr>
        <p:spPr>
          <a:xfrm>
            <a:off x="4224528" y="1481328"/>
            <a:ext cx="3611880" cy="2011680"/>
          </a:xfrm>
          <a:prstGeom prst="roundRect">
            <a:avLst>
              <a:gd name="adj" fmla="val 3636"/>
            </a:avLst>
          </a:prstGeom>
          <a:solidFill>
            <a:srgbClr val="FFFFFF"/>
          </a:solidFill>
          <a:ln w="12700">
            <a:solidFill>
              <a:srgbClr val="E2E8F0"/>
            </a:solidFill>
            <a:prstDash val="solid"/>
          </a:ln>
          <a:effectLst>
            <a:outerShdw sx="100000" sy="100000" kx="0" ky="0" algn="bl" rotWithShape="0" blurRad="88900" dist="38100" dir="8100000">
              <a:srgbClr val="000000">
                <a:alpha val="16000"/>
              </a:srgbClr>
            </a:outerShdw>
          </a:effectLst>
        </p:spPr>
      </p:sp>
      <p:sp>
        <p:nvSpPr>
          <p:cNvPr id="12" name="Shape 10"/>
          <p:cNvSpPr/>
          <p:nvPr/>
        </p:nvSpPr>
        <p:spPr>
          <a:xfrm>
            <a:off x="4498848" y="1773936"/>
            <a:ext cx="457200" cy="457200"/>
          </a:xfrm>
          <a:prstGeom prst="ellipse">
            <a:avLst/>
          </a:prstGeom>
          <a:solidFill>
            <a:srgbClr val="11998E"/>
          </a:solidFill>
          <a:ln/>
        </p:spPr>
      </p:sp>
      <p:sp>
        <p:nvSpPr>
          <p:cNvPr id="13" name="Text 11"/>
          <p:cNvSpPr/>
          <p:nvPr/>
        </p:nvSpPr>
        <p:spPr>
          <a:xfrm>
            <a:off x="4498848" y="1737360"/>
            <a:ext cx="457200" cy="457200"/>
          </a:xfrm>
          <a:prstGeom prst="rect">
            <a:avLst/>
          </a:prstGeom>
          <a:noFill/>
          <a:ln/>
        </p:spPr>
        <p:txBody>
          <a:bodyPr wrap="square" lIns="0" tIns="0" rIns="0" bIns="0" rtlCol="0" anchor="ctr"/>
          <a:lstStyle/>
          <a:p>
            <a:pPr algn="ctr" indent="0" marL="0">
              <a:buNone/>
            </a:pPr>
            <a:r>
              <a:rPr lang="en-US" sz="2000" b="1" dirty="0">
                <a:solidFill>
                  <a:srgbClr val="FFFFFF"/>
                </a:solidFill>
              </a:rPr>
              <a:t>+</a:t>
            </a:r>
            <a:endParaRPr lang="en-US" sz="2000" dirty="0"/>
          </a:p>
        </p:txBody>
      </p:sp>
      <p:sp>
        <p:nvSpPr>
          <p:cNvPr id="14" name="Text 12"/>
          <p:cNvSpPr/>
          <p:nvPr/>
        </p:nvSpPr>
        <p:spPr>
          <a:xfrm>
            <a:off x="5093208" y="1773936"/>
            <a:ext cx="2606040" cy="457200"/>
          </a:xfrm>
          <a:prstGeom prst="rect">
            <a:avLst/>
          </a:prstGeom>
          <a:noFill/>
          <a:ln/>
        </p:spPr>
        <p:txBody>
          <a:bodyPr wrap="square" lIns="0" tIns="0" rIns="0" bIns="0" rtlCol="0" anchor="ctr"/>
          <a:lstStyle/>
          <a:p>
            <a:pPr indent="0" marL="0">
              <a:buNone/>
            </a:pPr>
            <a:r>
              <a:rPr lang="en-US" sz="1550" b="1" dirty="0">
                <a:solidFill>
                  <a:srgbClr val="203A43"/>
                </a:solidFill>
              </a:rPr>
              <a:t>Offline &amp; free</a:t>
            </a:r>
            <a:endParaRPr lang="en-US" sz="1550" dirty="0"/>
          </a:p>
        </p:txBody>
      </p:sp>
      <p:sp>
        <p:nvSpPr>
          <p:cNvPr id="15" name="Text 13"/>
          <p:cNvSpPr/>
          <p:nvPr/>
        </p:nvSpPr>
        <p:spPr>
          <a:xfrm>
            <a:off x="4498848" y="2377440"/>
            <a:ext cx="3063240" cy="1005840"/>
          </a:xfrm>
          <a:prstGeom prst="rect">
            <a:avLst/>
          </a:prstGeom>
          <a:noFill/>
          <a:ln/>
        </p:spPr>
        <p:txBody>
          <a:bodyPr wrap="square" rtlCol="0" anchor="ctr"/>
          <a:lstStyle/>
          <a:p>
            <a:pPr indent="0" marL="0">
              <a:lnSpc>
                <a:spcPct val="115000"/>
              </a:lnSpc>
              <a:buNone/>
            </a:pPr>
            <a:r>
              <a:rPr lang="en-US" sz="1300" dirty="0">
                <a:solidFill>
                  <a:srgbClr val="1F2D3D"/>
                </a:solidFill>
              </a:rPr>
              <a:t>No API key, no cloud - runs on any laptop.</a:t>
            </a:r>
            <a:endParaRPr lang="en-US" sz="1300" dirty="0"/>
          </a:p>
        </p:txBody>
      </p:sp>
      <p:sp>
        <p:nvSpPr>
          <p:cNvPr id="16" name="Shape 14"/>
          <p:cNvSpPr/>
          <p:nvPr/>
        </p:nvSpPr>
        <p:spPr>
          <a:xfrm>
            <a:off x="7900416" y="1481328"/>
            <a:ext cx="3611880" cy="2011680"/>
          </a:xfrm>
          <a:prstGeom prst="roundRect">
            <a:avLst>
              <a:gd name="adj" fmla="val 3636"/>
            </a:avLst>
          </a:prstGeom>
          <a:solidFill>
            <a:srgbClr val="FFFFFF"/>
          </a:solidFill>
          <a:ln w="12700">
            <a:solidFill>
              <a:srgbClr val="E2E8F0"/>
            </a:solidFill>
            <a:prstDash val="solid"/>
          </a:ln>
          <a:effectLst>
            <a:outerShdw sx="100000" sy="100000" kx="0" ky="0" algn="bl" rotWithShape="0" blurRad="88900" dist="38100" dir="8100000">
              <a:srgbClr val="000000">
                <a:alpha val="16000"/>
              </a:srgbClr>
            </a:outerShdw>
          </a:effectLst>
        </p:spPr>
      </p:sp>
      <p:sp>
        <p:nvSpPr>
          <p:cNvPr id="17" name="Shape 15"/>
          <p:cNvSpPr/>
          <p:nvPr/>
        </p:nvSpPr>
        <p:spPr>
          <a:xfrm>
            <a:off x="8174736" y="1773936"/>
            <a:ext cx="457200" cy="457200"/>
          </a:xfrm>
          <a:prstGeom prst="ellipse">
            <a:avLst/>
          </a:prstGeom>
          <a:solidFill>
            <a:srgbClr val="11998E"/>
          </a:solidFill>
          <a:ln/>
        </p:spPr>
      </p:sp>
      <p:sp>
        <p:nvSpPr>
          <p:cNvPr id="18" name="Text 16"/>
          <p:cNvSpPr/>
          <p:nvPr/>
        </p:nvSpPr>
        <p:spPr>
          <a:xfrm>
            <a:off x="8174736" y="1737360"/>
            <a:ext cx="457200" cy="457200"/>
          </a:xfrm>
          <a:prstGeom prst="rect">
            <a:avLst/>
          </a:prstGeom>
          <a:noFill/>
          <a:ln/>
        </p:spPr>
        <p:txBody>
          <a:bodyPr wrap="square" lIns="0" tIns="0" rIns="0" bIns="0" rtlCol="0" anchor="ctr"/>
          <a:lstStyle/>
          <a:p>
            <a:pPr algn="ctr" indent="0" marL="0">
              <a:buNone/>
            </a:pPr>
            <a:r>
              <a:rPr lang="en-US" sz="2000" b="1" dirty="0">
                <a:solidFill>
                  <a:srgbClr val="FFFFFF"/>
                </a:solidFill>
              </a:rPr>
              <a:t>+</a:t>
            </a:r>
            <a:endParaRPr lang="en-US" sz="2000" dirty="0"/>
          </a:p>
        </p:txBody>
      </p:sp>
      <p:sp>
        <p:nvSpPr>
          <p:cNvPr id="19" name="Text 17"/>
          <p:cNvSpPr/>
          <p:nvPr/>
        </p:nvSpPr>
        <p:spPr>
          <a:xfrm>
            <a:off x="8769096" y="1773936"/>
            <a:ext cx="2606040" cy="457200"/>
          </a:xfrm>
          <a:prstGeom prst="rect">
            <a:avLst/>
          </a:prstGeom>
          <a:noFill/>
          <a:ln/>
        </p:spPr>
        <p:txBody>
          <a:bodyPr wrap="square" lIns="0" tIns="0" rIns="0" bIns="0" rtlCol="0" anchor="ctr"/>
          <a:lstStyle/>
          <a:p>
            <a:pPr indent="0" marL="0">
              <a:buNone/>
            </a:pPr>
            <a:r>
              <a:rPr lang="en-US" sz="1550" b="1" dirty="0">
                <a:solidFill>
                  <a:srgbClr val="203A43"/>
                </a:solidFill>
              </a:rPr>
              <a:t>Robust by design</a:t>
            </a:r>
            <a:endParaRPr lang="en-US" sz="1550" dirty="0"/>
          </a:p>
        </p:txBody>
      </p:sp>
      <p:sp>
        <p:nvSpPr>
          <p:cNvPr id="20" name="Text 18"/>
          <p:cNvSpPr/>
          <p:nvPr/>
        </p:nvSpPr>
        <p:spPr>
          <a:xfrm>
            <a:off x="8174736" y="2377440"/>
            <a:ext cx="3063240" cy="1005840"/>
          </a:xfrm>
          <a:prstGeom prst="rect">
            <a:avLst/>
          </a:prstGeom>
          <a:noFill/>
          <a:ln/>
        </p:spPr>
        <p:txBody>
          <a:bodyPr wrap="square" rtlCol="0" anchor="ctr"/>
          <a:lstStyle/>
          <a:p>
            <a:pPr indent="0" marL="0">
              <a:lnSpc>
                <a:spcPct val="115000"/>
              </a:lnSpc>
              <a:buNone/>
            </a:pPr>
            <a:r>
              <a:rPr lang="en-US" sz="1300" dirty="0">
                <a:solidFill>
                  <a:srgbClr val="1F2D3D"/>
                </a:solidFill>
              </a:rPr>
              <a:t>Graceful fallbacks for LLM and retrieval.</a:t>
            </a:r>
            <a:endParaRPr lang="en-US" sz="1300" dirty="0"/>
          </a:p>
        </p:txBody>
      </p:sp>
      <p:sp>
        <p:nvSpPr>
          <p:cNvPr id="21" name="Shape 19"/>
          <p:cNvSpPr/>
          <p:nvPr/>
        </p:nvSpPr>
        <p:spPr>
          <a:xfrm>
            <a:off x="548640" y="3703320"/>
            <a:ext cx="3611880" cy="2011680"/>
          </a:xfrm>
          <a:prstGeom prst="roundRect">
            <a:avLst>
              <a:gd name="adj" fmla="val 3636"/>
            </a:avLst>
          </a:prstGeom>
          <a:solidFill>
            <a:srgbClr val="FFFFFF"/>
          </a:solidFill>
          <a:ln w="12700">
            <a:solidFill>
              <a:srgbClr val="E2E8F0"/>
            </a:solidFill>
            <a:prstDash val="solid"/>
          </a:ln>
          <a:effectLst>
            <a:outerShdw sx="100000" sy="100000" kx="0" ky="0" algn="bl" rotWithShape="0" blurRad="88900" dist="38100" dir="8100000">
              <a:srgbClr val="000000">
                <a:alpha val="16000"/>
              </a:srgbClr>
            </a:outerShdw>
          </a:effectLst>
        </p:spPr>
      </p:sp>
      <p:sp>
        <p:nvSpPr>
          <p:cNvPr id="22" name="Shape 20"/>
          <p:cNvSpPr/>
          <p:nvPr/>
        </p:nvSpPr>
        <p:spPr>
          <a:xfrm>
            <a:off x="822960" y="3995928"/>
            <a:ext cx="457200" cy="457200"/>
          </a:xfrm>
          <a:prstGeom prst="ellipse">
            <a:avLst/>
          </a:prstGeom>
          <a:solidFill>
            <a:srgbClr val="11998E"/>
          </a:solidFill>
          <a:ln/>
        </p:spPr>
      </p:sp>
      <p:sp>
        <p:nvSpPr>
          <p:cNvPr id="23" name="Text 21"/>
          <p:cNvSpPr/>
          <p:nvPr/>
        </p:nvSpPr>
        <p:spPr>
          <a:xfrm>
            <a:off x="822960" y="3959352"/>
            <a:ext cx="457200" cy="457200"/>
          </a:xfrm>
          <a:prstGeom prst="rect">
            <a:avLst/>
          </a:prstGeom>
          <a:noFill/>
          <a:ln/>
        </p:spPr>
        <p:txBody>
          <a:bodyPr wrap="square" lIns="0" tIns="0" rIns="0" bIns="0" rtlCol="0" anchor="ctr"/>
          <a:lstStyle/>
          <a:p>
            <a:pPr algn="ctr" indent="0" marL="0">
              <a:buNone/>
            </a:pPr>
            <a:r>
              <a:rPr lang="en-US" sz="2000" b="1" dirty="0">
                <a:solidFill>
                  <a:srgbClr val="FFFFFF"/>
                </a:solidFill>
              </a:rPr>
              <a:t>+</a:t>
            </a:r>
            <a:endParaRPr lang="en-US" sz="2000" dirty="0"/>
          </a:p>
        </p:txBody>
      </p:sp>
      <p:sp>
        <p:nvSpPr>
          <p:cNvPr id="24" name="Text 22"/>
          <p:cNvSpPr/>
          <p:nvPr/>
        </p:nvSpPr>
        <p:spPr>
          <a:xfrm>
            <a:off x="1417320" y="3995928"/>
            <a:ext cx="2606040" cy="457200"/>
          </a:xfrm>
          <a:prstGeom prst="rect">
            <a:avLst/>
          </a:prstGeom>
          <a:noFill/>
          <a:ln/>
        </p:spPr>
        <p:txBody>
          <a:bodyPr wrap="square" lIns="0" tIns="0" rIns="0" bIns="0" rtlCol="0" anchor="ctr"/>
          <a:lstStyle/>
          <a:p>
            <a:pPr indent="0" marL="0">
              <a:buNone/>
            </a:pPr>
            <a:r>
              <a:rPr lang="en-US" sz="1550" b="1" dirty="0">
                <a:solidFill>
                  <a:srgbClr val="203A43"/>
                </a:solidFill>
              </a:rPr>
              <a:t>Fast</a:t>
            </a:r>
            <a:endParaRPr lang="en-US" sz="1550" dirty="0"/>
          </a:p>
        </p:txBody>
      </p:sp>
      <p:sp>
        <p:nvSpPr>
          <p:cNvPr id="25" name="Text 23"/>
          <p:cNvSpPr/>
          <p:nvPr/>
        </p:nvSpPr>
        <p:spPr>
          <a:xfrm>
            <a:off x="822960" y="4599432"/>
            <a:ext cx="3063240" cy="1005840"/>
          </a:xfrm>
          <a:prstGeom prst="rect">
            <a:avLst/>
          </a:prstGeom>
          <a:noFill/>
          <a:ln/>
        </p:spPr>
        <p:txBody>
          <a:bodyPr wrap="square" rtlCol="0" anchor="ctr"/>
          <a:lstStyle/>
          <a:p>
            <a:pPr indent="0" marL="0">
              <a:lnSpc>
                <a:spcPct val="115000"/>
              </a:lnSpc>
              <a:buNone/>
            </a:pPr>
            <a:r>
              <a:rPr lang="en-US" sz="1300" dirty="0">
                <a:solidFill>
                  <a:srgbClr val="1F2D3D"/>
                </a:solidFill>
              </a:rPr>
              <a:t>Millisecond inference - ideal for live demos.</a:t>
            </a:r>
            <a:endParaRPr lang="en-US" sz="1300" dirty="0"/>
          </a:p>
        </p:txBody>
      </p:sp>
      <p:sp>
        <p:nvSpPr>
          <p:cNvPr id="26" name="Shape 24"/>
          <p:cNvSpPr/>
          <p:nvPr/>
        </p:nvSpPr>
        <p:spPr>
          <a:xfrm>
            <a:off x="4224528" y="3703320"/>
            <a:ext cx="3611880" cy="2011680"/>
          </a:xfrm>
          <a:prstGeom prst="roundRect">
            <a:avLst>
              <a:gd name="adj" fmla="val 3636"/>
            </a:avLst>
          </a:prstGeom>
          <a:solidFill>
            <a:srgbClr val="FFFFFF"/>
          </a:solidFill>
          <a:ln w="12700">
            <a:solidFill>
              <a:srgbClr val="E2E8F0"/>
            </a:solidFill>
            <a:prstDash val="solid"/>
          </a:ln>
          <a:effectLst>
            <a:outerShdw sx="100000" sy="100000" kx="0" ky="0" algn="bl" rotWithShape="0" blurRad="88900" dist="38100" dir="8100000">
              <a:srgbClr val="000000">
                <a:alpha val="16000"/>
              </a:srgbClr>
            </a:outerShdw>
          </a:effectLst>
        </p:spPr>
      </p:sp>
      <p:sp>
        <p:nvSpPr>
          <p:cNvPr id="27" name="Shape 25"/>
          <p:cNvSpPr/>
          <p:nvPr/>
        </p:nvSpPr>
        <p:spPr>
          <a:xfrm>
            <a:off x="4498848" y="3995928"/>
            <a:ext cx="457200" cy="457200"/>
          </a:xfrm>
          <a:prstGeom prst="ellipse">
            <a:avLst/>
          </a:prstGeom>
          <a:solidFill>
            <a:srgbClr val="11998E"/>
          </a:solidFill>
          <a:ln/>
        </p:spPr>
      </p:sp>
      <p:sp>
        <p:nvSpPr>
          <p:cNvPr id="28" name="Text 26"/>
          <p:cNvSpPr/>
          <p:nvPr/>
        </p:nvSpPr>
        <p:spPr>
          <a:xfrm>
            <a:off x="4498848" y="3959352"/>
            <a:ext cx="457200" cy="457200"/>
          </a:xfrm>
          <a:prstGeom prst="rect">
            <a:avLst/>
          </a:prstGeom>
          <a:noFill/>
          <a:ln/>
        </p:spPr>
        <p:txBody>
          <a:bodyPr wrap="square" lIns="0" tIns="0" rIns="0" bIns="0" rtlCol="0" anchor="ctr"/>
          <a:lstStyle/>
          <a:p>
            <a:pPr algn="ctr" indent="0" marL="0">
              <a:buNone/>
            </a:pPr>
            <a:r>
              <a:rPr lang="en-US" sz="2000" b="1" dirty="0">
                <a:solidFill>
                  <a:srgbClr val="FFFFFF"/>
                </a:solidFill>
              </a:rPr>
              <a:t>+</a:t>
            </a:r>
            <a:endParaRPr lang="en-US" sz="2000" dirty="0"/>
          </a:p>
        </p:txBody>
      </p:sp>
      <p:sp>
        <p:nvSpPr>
          <p:cNvPr id="29" name="Text 27"/>
          <p:cNvSpPr/>
          <p:nvPr/>
        </p:nvSpPr>
        <p:spPr>
          <a:xfrm>
            <a:off x="5093208" y="3995928"/>
            <a:ext cx="2606040" cy="457200"/>
          </a:xfrm>
          <a:prstGeom prst="rect">
            <a:avLst/>
          </a:prstGeom>
          <a:noFill/>
          <a:ln/>
        </p:spPr>
        <p:txBody>
          <a:bodyPr wrap="square" lIns="0" tIns="0" rIns="0" bIns="0" rtlCol="0" anchor="ctr"/>
          <a:lstStyle/>
          <a:p>
            <a:pPr indent="0" marL="0">
              <a:buNone/>
            </a:pPr>
            <a:r>
              <a:rPr lang="en-US" sz="1550" b="1" dirty="0">
                <a:solidFill>
                  <a:srgbClr val="203A43"/>
                </a:solidFill>
              </a:rPr>
              <a:t>Interpretable ML</a:t>
            </a:r>
            <a:endParaRPr lang="en-US" sz="1550" dirty="0"/>
          </a:p>
        </p:txBody>
      </p:sp>
      <p:sp>
        <p:nvSpPr>
          <p:cNvPr id="30" name="Text 28"/>
          <p:cNvSpPr/>
          <p:nvPr/>
        </p:nvSpPr>
        <p:spPr>
          <a:xfrm>
            <a:off x="4498848" y="4599432"/>
            <a:ext cx="3063240" cy="1005840"/>
          </a:xfrm>
          <a:prstGeom prst="rect">
            <a:avLst/>
          </a:prstGeom>
          <a:noFill/>
          <a:ln/>
        </p:spPr>
        <p:txBody>
          <a:bodyPr wrap="square" rtlCol="0" anchor="ctr"/>
          <a:lstStyle/>
          <a:p>
            <a:pPr indent="0" marL="0">
              <a:lnSpc>
                <a:spcPct val="115000"/>
              </a:lnSpc>
              <a:buNone/>
            </a:pPr>
            <a:r>
              <a:rPr lang="en-US" sz="1300" dirty="0">
                <a:solidFill>
                  <a:srgbClr val="1F2D3D"/>
                </a:solidFill>
              </a:rPr>
              <a:t>Linear model you can fully reason about.</a:t>
            </a:r>
            <a:endParaRPr lang="en-US" sz="1300" dirty="0"/>
          </a:p>
        </p:txBody>
      </p:sp>
      <p:sp>
        <p:nvSpPr>
          <p:cNvPr id="31" name="Shape 29"/>
          <p:cNvSpPr/>
          <p:nvPr/>
        </p:nvSpPr>
        <p:spPr>
          <a:xfrm>
            <a:off x="7900416" y="3703320"/>
            <a:ext cx="3611880" cy="2011680"/>
          </a:xfrm>
          <a:prstGeom prst="roundRect">
            <a:avLst>
              <a:gd name="adj" fmla="val 3636"/>
            </a:avLst>
          </a:prstGeom>
          <a:solidFill>
            <a:srgbClr val="FFFFFF"/>
          </a:solidFill>
          <a:ln w="12700">
            <a:solidFill>
              <a:srgbClr val="E2E8F0"/>
            </a:solidFill>
            <a:prstDash val="solid"/>
          </a:ln>
          <a:effectLst>
            <a:outerShdw sx="100000" sy="100000" kx="0" ky="0" algn="bl" rotWithShape="0" blurRad="88900" dist="38100" dir="8100000">
              <a:srgbClr val="000000">
                <a:alpha val="16000"/>
              </a:srgbClr>
            </a:outerShdw>
          </a:effectLst>
        </p:spPr>
      </p:sp>
      <p:sp>
        <p:nvSpPr>
          <p:cNvPr id="32" name="Shape 30"/>
          <p:cNvSpPr/>
          <p:nvPr/>
        </p:nvSpPr>
        <p:spPr>
          <a:xfrm>
            <a:off x="8174736" y="3995928"/>
            <a:ext cx="457200" cy="457200"/>
          </a:xfrm>
          <a:prstGeom prst="ellipse">
            <a:avLst/>
          </a:prstGeom>
          <a:solidFill>
            <a:srgbClr val="11998E"/>
          </a:solidFill>
          <a:ln/>
        </p:spPr>
      </p:sp>
      <p:sp>
        <p:nvSpPr>
          <p:cNvPr id="33" name="Text 31"/>
          <p:cNvSpPr/>
          <p:nvPr/>
        </p:nvSpPr>
        <p:spPr>
          <a:xfrm>
            <a:off x="8174736" y="3959352"/>
            <a:ext cx="457200" cy="457200"/>
          </a:xfrm>
          <a:prstGeom prst="rect">
            <a:avLst/>
          </a:prstGeom>
          <a:noFill/>
          <a:ln/>
        </p:spPr>
        <p:txBody>
          <a:bodyPr wrap="square" lIns="0" tIns="0" rIns="0" bIns="0" rtlCol="0" anchor="ctr"/>
          <a:lstStyle/>
          <a:p>
            <a:pPr algn="ctr" indent="0" marL="0">
              <a:buNone/>
            </a:pPr>
            <a:r>
              <a:rPr lang="en-US" sz="2000" b="1" dirty="0">
                <a:solidFill>
                  <a:srgbClr val="FFFFFF"/>
                </a:solidFill>
              </a:rPr>
              <a:t>+</a:t>
            </a:r>
            <a:endParaRPr lang="en-US" sz="2000" dirty="0"/>
          </a:p>
        </p:txBody>
      </p:sp>
      <p:sp>
        <p:nvSpPr>
          <p:cNvPr id="34" name="Text 32"/>
          <p:cNvSpPr/>
          <p:nvPr/>
        </p:nvSpPr>
        <p:spPr>
          <a:xfrm>
            <a:off x="8769096" y="3995928"/>
            <a:ext cx="2606040" cy="457200"/>
          </a:xfrm>
          <a:prstGeom prst="rect">
            <a:avLst/>
          </a:prstGeom>
          <a:noFill/>
          <a:ln/>
        </p:spPr>
        <p:txBody>
          <a:bodyPr wrap="square" lIns="0" tIns="0" rIns="0" bIns="0" rtlCol="0" anchor="ctr"/>
          <a:lstStyle/>
          <a:p>
            <a:pPr indent="0" marL="0">
              <a:buNone/>
            </a:pPr>
            <a:r>
              <a:rPr lang="en-US" sz="1550" b="1" dirty="0">
                <a:solidFill>
                  <a:srgbClr val="203A43"/>
                </a:solidFill>
              </a:rPr>
              <a:t>Industry-relevant</a:t>
            </a:r>
            <a:endParaRPr lang="en-US" sz="1550" dirty="0"/>
          </a:p>
        </p:txBody>
      </p:sp>
      <p:sp>
        <p:nvSpPr>
          <p:cNvPr id="35" name="Text 33"/>
          <p:cNvSpPr/>
          <p:nvPr/>
        </p:nvSpPr>
        <p:spPr>
          <a:xfrm>
            <a:off x="8174736" y="4599432"/>
            <a:ext cx="3063240" cy="1005840"/>
          </a:xfrm>
          <a:prstGeom prst="rect">
            <a:avLst/>
          </a:prstGeom>
          <a:noFill/>
          <a:ln/>
        </p:spPr>
        <p:txBody>
          <a:bodyPr wrap="square" rtlCol="0" anchor="ctr"/>
          <a:lstStyle/>
          <a:p>
            <a:pPr indent="0" marL="0">
              <a:lnSpc>
                <a:spcPct val="115000"/>
              </a:lnSpc>
              <a:buNone/>
            </a:pPr>
            <a:r>
              <a:rPr lang="en-US" sz="1300" dirty="0">
                <a:solidFill>
                  <a:srgbClr val="1F2D3D"/>
                </a:solidFill>
              </a:rPr>
              <a:t>RAG + agents + classic ML in one project.</a:t>
            </a:r>
            <a:endParaRPr lang="en-US" sz="13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566928"/>
            <a:ext cx="146304" cy="384048"/>
          </a:xfrm>
          <a:prstGeom prst="rect">
            <a:avLst/>
          </a:prstGeom>
          <a:solidFill>
            <a:srgbClr val="11998E"/>
          </a:solidFill>
          <a:ln/>
        </p:spPr>
      </p:sp>
      <p:sp>
        <p:nvSpPr>
          <p:cNvPr id="3" name="Text 1"/>
          <p:cNvSpPr/>
          <p:nvPr/>
        </p:nvSpPr>
        <p:spPr>
          <a:xfrm>
            <a:off x="822960" y="502920"/>
            <a:ext cx="10789920" cy="548640"/>
          </a:xfrm>
          <a:prstGeom prst="rect">
            <a:avLst/>
          </a:prstGeom>
          <a:noFill/>
          <a:ln/>
        </p:spPr>
        <p:txBody>
          <a:bodyPr wrap="square" lIns="0" tIns="0" rIns="0" bIns="0" rtlCol="0" anchor="ctr"/>
          <a:lstStyle/>
          <a:p>
            <a:pPr algn="l" indent="0" marL="0">
              <a:buNone/>
            </a:pPr>
            <a:r>
              <a:rPr lang="en-US" sz="2800" b="1" dirty="0">
                <a:solidFill>
                  <a:srgbClr val="203A43"/>
                </a:solidFill>
                <a:latin typeface="Calibri" pitchFamily="34" charset="0"/>
                <a:ea typeface="Calibri" pitchFamily="34" charset="-122"/>
                <a:cs typeface="Calibri" pitchFamily="34" charset="-120"/>
              </a:rPr>
              <a:t>Real-World Applications</a:t>
            </a:r>
            <a:endParaRPr lang="en-US" sz="2800" dirty="0"/>
          </a:p>
        </p:txBody>
      </p:sp>
      <p:sp>
        <p:nvSpPr>
          <p:cNvPr id="4" name="Text 2"/>
          <p:cNvSpPr/>
          <p:nvPr/>
        </p:nvSpPr>
        <p:spPr>
          <a:xfrm>
            <a:off x="548640" y="6437376"/>
            <a:ext cx="5486400" cy="274320"/>
          </a:xfrm>
          <a:prstGeom prst="rect">
            <a:avLst/>
          </a:prstGeom>
          <a:noFill/>
          <a:ln/>
        </p:spPr>
        <p:txBody>
          <a:bodyPr wrap="square" rtlCol="0" anchor="ctr"/>
          <a:lstStyle/>
          <a:p>
            <a:pPr algn="l" indent="0" marL="0">
              <a:buNone/>
            </a:pPr>
            <a:r>
              <a:rPr lang="en-US" sz="900" dirty="0">
                <a:solidFill>
                  <a:srgbClr val="64748B"/>
                </a:solidFill>
              </a:rPr>
              <a:t>TruthLens AI</a:t>
            </a:r>
            <a:endParaRPr lang="en-US" sz="900" dirty="0"/>
          </a:p>
        </p:txBody>
      </p:sp>
      <p:sp>
        <p:nvSpPr>
          <p:cNvPr id="5" name="Text 3"/>
          <p:cNvSpPr/>
          <p:nvPr/>
        </p:nvSpPr>
        <p:spPr>
          <a:xfrm>
            <a:off x="10058400" y="6437376"/>
            <a:ext cx="1581912" cy="274320"/>
          </a:xfrm>
          <a:prstGeom prst="rect">
            <a:avLst/>
          </a:prstGeom>
          <a:noFill/>
          <a:ln/>
        </p:spPr>
        <p:txBody>
          <a:bodyPr wrap="square" rtlCol="0" anchor="ctr"/>
          <a:lstStyle/>
          <a:p>
            <a:pPr algn="r" indent="0" marL="0">
              <a:buNone/>
            </a:pPr>
            <a:r>
              <a:rPr lang="en-US" sz="900" dirty="0">
                <a:solidFill>
                  <a:srgbClr val="64748B"/>
                </a:solidFill>
              </a:rPr>
              <a:t>17 / 20</a:t>
            </a:r>
            <a:endParaRPr lang="en-US" sz="900" dirty="0"/>
          </a:p>
        </p:txBody>
      </p:sp>
      <p:sp>
        <p:nvSpPr>
          <p:cNvPr id="6" name="Shape 4"/>
          <p:cNvSpPr/>
          <p:nvPr/>
        </p:nvSpPr>
        <p:spPr>
          <a:xfrm>
            <a:off x="548640" y="1463040"/>
            <a:ext cx="5550408" cy="1417320"/>
          </a:xfrm>
          <a:prstGeom prst="roundRect">
            <a:avLst>
              <a:gd name="adj" fmla="val 5161"/>
            </a:avLst>
          </a:prstGeom>
          <a:solidFill>
            <a:srgbClr val="FFFFFF"/>
          </a:solidFill>
          <a:ln w="12700">
            <a:solidFill>
              <a:srgbClr val="E2E8F0"/>
            </a:solidFill>
            <a:prstDash val="solid"/>
          </a:ln>
          <a:effectLst>
            <a:outerShdw sx="100000" sy="100000" kx="0" ky="0" algn="bl" rotWithShape="0" blurRad="88900" dist="38100" dir="8100000">
              <a:srgbClr val="000000">
                <a:alpha val="16000"/>
              </a:srgbClr>
            </a:outerShdw>
          </a:effectLst>
        </p:spPr>
      </p:sp>
      <p:sp>
        <p:nvSpPr>
          <p:cNvPr id="7" name="Shape 5"/>
          <p:cNvSpPr/>
          <p:nvPr/>
        </p:nvSpPr>
        <p:spPr>
          <a:xfrm>
            <a:off x="804672" y="1920240"/>
            <a:ext cx="502920" cy="502920"/>
          </a:xfrm>
          <a:prstGeom prst="ellipse">
            <a:avLst/>
          </a:prstGeom>
          <a:solidFill>
            <a:srgbClr val="2C5364"/>
          </a:solidFill>
          <a:ln/>
        </p:spPr>
      </p:sp>
      <p:sp>
        <p:nvSpPr>
          <p:cNvPr id="8" name="Text 6"/>
          <p:cNvSpPr/>
          <p:nvPr/>
        </p:nvSpPr>
        <p:spPr>
          <a:xfrm>
            <a:off x="804672" y="1920240"/>
            <a:ext cx="502920" cy="502920"/>
          </a:xfrm>
          <a:prstGeom prst="rect">
            <a:avLst/>
          </a:prstGeom>
          <a:noFill/>
          <a:ln/>
        </p:spPr>
        <p:txBody>
          <a:bodyPr wrap="square" lIns="0" tIns="0" rIns="0" bIns="0" rtlCol="0" anchor="ctr"/>
          <a:lstStyle/>
          <a:p>
            <a:pPr algn="ctr" indent="0" marL="0">
              <a:buNone/>
            </a:pPr>
            <a:r>
              <a:rPr lang="en-US" sz="1500" b="1" dirty="0">
                <a:solidFill>
                  <a:srgbClr val="FFFFFF"/>
                </a:solidFill>
              </a:rPr>
              <a:t>1</a:t>
            </a:r>
            <a:endParaRPr lang="en-US" sz="1500" dirty="0"/>
          </a:p>
        </p:txBody>
      </p:sp>
      <p:sp>
        <p:nvSpPr>
          <p:cNvPr id="9" name="Text 7"/>
          <p:cNvSpPr/>
          <p:nvPr/>
        </p:nvSpPr>
        <p:spPr>
          <a:xfrm>
            <a:off x="1508760" y="1627632"/>
            <a:ext cx="4453128" cy="411480"/>
          </a:xfrm>
          <a:prstGeom prst="rect">
            <a:avLst/>
          </a:prstGeom>
          <a:noFill/>
          <a:ln/>
        </p:spPr>
        <p:txBody>
          <a:bodyPr wrap="square" lIns="0" tIns="0" rIns="0" bIns="0" rtlCol="0" anchor="ctr"/>
          <a:lstStyle/>
          <a:p>
            <a:pPr indent="0" marL="0">
              <a:buNone/>
            </a:pPr>
            <a:r>
              <a:rPr lang="en-US" sz="1550" b="1" dirty="0">
                <a:solidFill>
                  <a:srgbClr val="203A43"/>
                </a:solidFill>
              </a:rPr>
              <a:t>Social platforms</a:t>
            </a:r>
            <a:endParaRPr lang="en-US" sz="1550" dirty="0"/>
          </a:p>
        </p:txBody>
      </p:sp>
      <p:sp>
        <p:nvSpPr>
          <p:cNvPr id="10" name="Text 8"/>
          <p:cNvSpPr/>
          <p:nvPr/>
        </p:nvSpPr>
        <p:spPr>
          <a:xfrm>
            <a:off x="1508760" y="2084832"/>
            <a:ext cx="4453128" cy="640080"/>
          </a:xfrm>
          <a:prstGeom prst="rect">
            <a:avLst/>
          </a:prstGeom>
          <a:noFill/>
          <a:ln/>
        </p:spPr>
        <p:txBody>
          <a:bodyPr wrap="square" lIns="0" tIns="0" rIns="0" bIns="0" rtlCol="0" anchor="ctr"/>
          <a:lstStyle/>
          <a:p>
            <a:pPr indent="0" marL="0">
              <a:buNone/>
            </a:pPr>
            <a:r>
              <a:rPr lang="en-US" sz="1300" dirty="0">
                <a:solidFill>
                  <a:srgbClr val="1F2D3D"/>
                </a:solidFill>
              </a:rPr>
              <a:t>Flag and explain suspect posts before they go viral.</a:t>
            </a:r>
            <a:endParaRPr lang="en-US" sz="1300" dirty="0"/>
          </a:p>
        </p:txBody>
      </p:sp>
      <p:sp>
        <p:nvSpPr>
          <p:cNvPr id="11" name="Shape 9"/>
          <p:cNvSpPr/>
          <p:nvPr/>
        </p:nvSpPr>
        <p:spPr>
          <a:xfrm>
            <a:off x="6089904" y="1463040"/>
            <a:ext cx="5550408" cy="1417320"/>
          </a:xfrm>
          <a:prstGeom prst="roundRect">
            <a:avLst>
              <a:gd name="adj" fmla="val 5161"/>
            </a:avLst>
          </a:prstGeom>
          <a:solidFill>
            <a:srgbClr val="FFFFFF"/>
          </a:solidFill>
          <a:ln w="12700">
            <a:solidFill>
              <a:srgbClr val="E2E8F0"/>
            </a:solidFill>
            <a:prstDash val="solid"/>
          </a:ln>
          <a:effectLst>
            <a:outerShdw sx="100000" sy="100000" kx="0" ky="0" algn="bl" rotWithShape="0" blurRad="88900" dist="38100" dir="8100000">
              <a:srgbClr val="000000">
                <a:alpha val="16000"/>
              </a:srgbClr>
            </a:outerShdw>
          </a:effectLst>
        </p:spPr>
      </p:sp>
      <p:sp>
        <p:nvSpPr>
          <p:cNvPr id="12" name="Shape 10"/>
          <p:cNvSpPr/>
          <p:nvPr/>
        </p:nvSpPr>
        <p:spPr>
          <a:xfrm>
            <a:off x="6345936" y="1920240"/>
            <a:ext cx="502920" cy="502920"/>
          </a:xfrm>
          <a:prstGeom prst="ellipse">
            <a:avLst/>
          </a:prstGeom>
          <a:solidFill>
            <a:srgbClr val="2C5364"/>
          </a:solidFill>
          <a:ln/>
        </p:spPr>
      </p:sp>
      <p:sp>
        <p:nvSpPr>
          <p:cNvPr id="13" name="Text 11"/>
          <p:cNvSpPr/>
          <p:nvPr/>
        </p:nvSpPr>
        <p:spPr>
          <a:xfrm>
            <a:off x="6345936" y="1920240"/>
            <a:ext cx="502920" cy="502920"/>
          </a:xfrm>
          <a:prstGeom prst="rect">
            <a:avLst/>
          </a:prstGeom>
          <a:noFill/>
          <a:ln/>
        </p:spPr>
        <p:txBody>
          <a:bodyPr wrap="square" lIns="0" tIns="0" rIns="0" bIns="0" rtlCol="0" anchor="ctr"/>
          <a:lstStyle/>
          <a:p>
            <a:pPr algn="ctr" indent="0" marL="0">
              <a:buNone/>
            </a:pPr>
            <a:r>
              <a:rPr lang="en-US" sz="1500" b="1" dirty="0">
                <a:solidFill>
                  <a:srgbClr val="FFFFFF"/>
                </a:solidFill>
              </a:rPr>
              <a:t>2</a:t>
            </a:r>
            <a:endParaRPr lang="en-US" sz="1500" dirty="0"/>
          </a:p>
        </p:txBody>
      </p:sp>
      <p:sp>
        <p:nvSpPr>
          <p:cNvPr id="14" name="Text 12"/>
          <p:cNvSpPr/>
          <p:nvPr/>
        </p:nvSpPr>
        <p:spPr>
          <a:xfrm>
            <a:off x="7050024" y="1627632"/>
            <a:ext cx="4453128" cy="411480"/>
          </a:xfrm>
          <a:prstGeom prst="rect">
            <a:avLst/>
          </a:prstGeom>
          <a:noFill/>
          <a:ln/>
        </p:spPr>
        <p:txBody>
          <a:bodyPr wrap="square" lIns="0" tIns="0" rIns="0" bIns="0" rtlCol="0" anchor="ctr"/>
          <a:lstStyle/>
          <a:p>
            <a:pPr indent="0" marL="0">
              <a:buNone/>
            </a:pPr>
            <a:r>
              <a:rPr lang="en-US" sz="1550" b="1" dirty="0">
                <a:solidFill>
                  <a:srgbClr val="203A43"/>
                </a:solidFill>
              </a:rPr>
              <a:t>Newsrooms</a:t>
            </a:r>
            <a:endParaRPr lang="en-US" sz="1550" dirty="0"/>
          </a:p>
        </p:txBody>
      </p:sp>
      <p:sp>
        <p:nvSpPr>
          <p:cNvPr id="15" name="Text 13"/>
          <p:cNvSpPr/>
          <p:nvPr/>
        </p:nvSpPr>
        <p:spPr>
          <a:xfrm>
            <a:off x="7050024" y="2084832"/>
            <a:ext cx="4453128" cy="640080"/>
          </a:xfrm>
          <a:prstGeom prst="rect">
            <a:avLst/>
          </a:prstGeom>
          <a:noFill/>
          <a:ln/>
        </p:spPr>
        <p:txBody>
          <a:bodyPr wrap="square" lIns="0" tIns="0" rIns="0" bIns="0" rtlCol="0" anchor="ctr"/>
          <a:lstStyle/>
          <a:p>
            <a:pPr indent="0" marL="0">
              <a:buNone/>
            </a:pPr>
            <a:r>
              <a:rPr lang="en-US" sz="1300" dirty="0">
                <a:solidFill>
                  <a:srgbClr val="1F2D3D"/>
                </a:solidFill>
              </a:rPr>
              <a:t>Assist journalists in triaging and verifying sources.</a:t>
            </a:r>
            <a:endParaRPr lang="en-US" sz="1300" dirty="0"/>
          </a:p>
        </p:txBody>
      </p:sp>
      <p:sp>
        <p:nvSpPr>
          <p:cNvPr id="16" name="Shape 14"/>
          <p:cNvSpPr/>
          <p:nvPr/>
        </p:nvSpPr>
        <p:spPr>
          <a:xfrm>
            <a:off x="548640" y="2999232"/>
            <a:ext cx="5550408" cy="1417320"/>
          </a:xfrm>
          <a:prstGeom prst="roundRect">
            <a:avLst>
              <a:gd name="adj" fmla="val 5161"/>
            </a:avLst>
          </a:prstGeom>
          <a:solidFill>
            <a:srgbClr val="FFFFFF"/>
          </a:solidFill>
          <a:ln w="12700">
            <a:solidFill>
              <a:srgbClr val="E2E8F0"/>
            </a:solidFill>
            <a:prstDash val="solid"/>
          </a:ln>
          <a:effectLst>
            <a:outerShdw sx="100000" sy="100000" kx="0" ky="0" algn="bl" rotWithShape="0" blurRad="88900" dist="38100" dir="8100000">
              <a:srgbClr val="000000">
                <a:alpha val="16000"/>
              </a:srgbClr>
            </a:outerShdw>
          </a:effectLst>
        </p:spPr>
      </p:sp>
      <p:sp>
        <p:nvSpPr>
          <p:cNvPr id="17" name="Shape 15"/>
          <p:cNvSpPr/>
          <p:nvPr/>
        </p:nvSpPr>
        <p:spPr>
          <a:xfrm>
            <a:off x="804672" y="3456432"/>
            <a:ext cx="502920" cy="502920"/>
          </a:xfrm>
          <a:prstGeom prst="ellipse">
            <a:avLst/>
          </a:prstGeom>
          <a:solidFill>
            <a:srgbClr val="2C5364"/>
          </a:solidFill>
          <a:ln/>
        </p:spPr>
      </p:sp>
      <p:sp>
        <p:nvSpPr>
          <p:cNvPr id="18" name="Text 16"/>
          <p:cNvSpPr/>
          <p:nvPr/>
        </p:nvSpPr>
        <p:spPr>
          <a:xfrm>
            <a:off x="804672" y="3456432"/>
            <a:ext cx="502920" cy="502920"/>
          </a:xfrm>
          <a:prstGeom prst="rect">
            <a:avLst/>
          </a:prstGeom>
          <a:noFill/>
          <a:ln/>
        </p:spPr>
        <p:txBody>
          <a:bodyPr wrap="square" lIns="0" tIns="0" rIns="0" bIns="0" rtlCol="0" anchor="ctr"/>
          <a:lstStyle/>
          <a:p>
            <a:pPr algn="ctr" indent="0" marL="0">
              <a:buNone/>
            </a:pPr>
            <a:r>
              <a:rPr lang="en-US" sz="1500" b="1" dirty="0">
                <a:solidFill>
                  <a:srgbClr val="FFFFFF"/>
                </a:solidFill>
              </a:rPr>
              <a:t>3</a:t>
            </a:r>
            <a:endParaRPr lang="en-US" sz="1500" dirty="0"/>
          </a:p>
        </p:txBody>
      </p:sp>
      <p:sp>
        <p:nvSpPr>
          <p:cNvPr id="19" name="Text 17"/>
          <p:cNvSpPr/>
          <p:nvPr/>
        </p:nvSpPr>
        <p:spPr>
          <a:xfrm>
            <a:off x="1508760" y="3163824"/>
            <a:ext cx="4453128" cy="411480"/>
          </a:xfrm>
          <a:prstGeom prst="rect">
            <a:avLst/>
          </a:prstGeom>
          <a:noFill/>
          <a:ln/>
        </p:spPr>
        <p:txBody>
          <a:bodyPr wrap="square" lIns="0" tIns="0" rIns="0" bIns="0" rtlCol="0" anchor="ctr"/>
          <a:lstStyle/>
          <a:p>
            <a:pPr indent="0" marL="0">
              <a:buNone/>
            </a:pPr>
            <a:r>
              <a:rPr lang="en-US" sz="1550" b="1" dirty="0">
                <a:solidFill>
                  <a:srgbClr val="203A43"/>
                </a:solidFill>
              </a:rPr>
              <a:t>Education</a:t>
            </a:r>
            <a:endParaRPr lang="en-US" sz="1550" dirty="0"/>
          </a:p>
        </p:txBody>
      </p:sp>
      <p:sp>
        <p:nvSpPr>
          <p:cNvPr id="20" name="Text 18"/>
          <p:cNvSpPr/>
          <p:nvPr/>
        </p:nvSpPr>
        <p:spPr>
          <a:xfrm>
            <a:off x="1508760" y="3621024"/>
            <a:ext cx="4453128" cy="640080"/>
          </a:xfrm>
          <a:prstGeom prst="rect">
            <a:avLst/>
          </a:prstGeom>
          <a:noFill/>
          <a:ln/>
        </p:spPr>
        <p:txBody>
          <a:bodyPr wrap="square" lIns="0" tIns="0" rIns="0" bIns="0" rtlCol="0" anchor="ctr"/>
          <a:lstStyle/>
          <a:p>
            <a:pPr indent="0" marL="0">
              <a:buNone/>
            </a:pPr>
            <a:r>
              <a:rPr lang="en-US" sz="1300" dirty="0">
                <a:solidFill>
                  <a:srgbClr val="1F2D3D"/>
                </a:solidFill>
              </a:rPr>
              <a:t>Teach media literacy with transparent, explainable signals.</a:t>
            </a:r>
            <a:endParaRPr lang="en-US" sz="1300" dirty="0"/>
          </a:p>
        </p:txBody>
      </p:sp>
      <p:sp>
        <p:nvSpPr>
          <p:cNvPr id="21" name="Shape 19"/>
          <p:cNvSpPr/>
          <p:nvPr/>
        </p:nvSpPr>
        <p:spPr>
          <a:xfrm>
            <a:off x="6089904" y="2999232"/>
            <a:ext cx="5550408" cy="1417320"/>
          </a:xfrm>
          <a:prstGeom prst="roundRect">
            <a:avLst>
              <a:gd name="adj" fmla="val 5161"/>
            </a:avLst>
          </a:prstGeom>
          <a:solidFill>
            <a:srgbClr val="FFFFFF"/>
          </a:solidFill>
          <a:ln w="12700">
            <a:solidFill>
              <a:srgbClr val="E2E8F0"/>
            </a:solidFill>
            <a:prstDash val="solid"/>
          </a:ln>
          <a:effectLst>
            <a:outerShdw sx="100000" sy="100000" kx="0" ky="0" algn="bl" rotWithShape="0" blurRad="88900" dist="38100" dir="8100000">
              <a:srgbClr val="000000">
                <a:alpha val="16000"/>
              </a:srgbClr>
            </a:outerShdw>
          </a:effectLst>
        </p:spPr>
      </p:sp>
      <p:sp>
        <p:nvSpPr>
          <p:cNvPr id="22" name="Shape 20"/>
          <p:cNvSpPr/>
          <p:nvPr/>
        </p:nvSpPr>
        <p:spPr>
          <a:xfrm>
            <a:off x="6345936" y="3456432"/>
            <a:ext cx="502920" cy="502920"/>
          </a:xfrm>
          <a:prstGeom prst="ellipse">
            <a:avLst/>
          </a:prstGeom>
          <a:solidFill>
            <a:srgbClr val="2C5364"/>
          </a:solidFill>
          <a:ln/>
        </p:spPr>
      </p:sp>
      <p:sp>
        <p:nvSpPr>
          <p:cNvPr id="23" name="Text 21"/>
          <p:cNvSpPr/>
          <p:nvPr/>
        </p:nvSpPr>
        <p:spPr>
          <a:xfrm>
            <a:off x="6345936" y="3456432"/>
            <a:ext cx="502920" cy="502920"/>
          </a:xfrm>
          <a:prstGeom prst="rect">
            <a:avLst/>
          </a:prstGeom>
          <a:noFill/>
          <a:ln/>
        </p:spPr>
        <p:txBody>
          <a:bodyPr wrap="square" lIns="0" tIns="0" rIns="0" bIns="0" rtlCol="0" anchor="ctr"/>
          <a:lstStyle/>
          <a:p>
            <a:pPr algn="ctr" indent="0" marL="0">
              <a:buNone/>
            </a:pPr>
            <a:r>
              <a:rPr lang="en-US" sz="1500" b="1" dirty="0">
                <a:solidFill>
                  <a:srgbClr val="FFFFFF"/>
                </a:solidFill>
              </a:rPr>
              <a:t>4</a:t>
            </a:r>
            <a:endParaRPr lang="en-US" sz="1500" dirty="0"/>
          </a:p>
        </p:txBody>
      </p:sp>
      <p:sp>
        <p:nvSpPr>
          <p:cNvPr id="24" name="Text 22"/>
          <p:cNvSpPr/>
          <p:nvPr/>
        </p:nvSpPr>
        <p:spPr>
          <a:xfrm>
            <a:off x="7050024" y="3163824"/>
            <a:ext cx="4453128" cy="411480"/>
          </a:xfrm>
          <a:prstGeom prst="rect">
            <a:avLst/>
          </a:prstGeom>
          <a:noFill/>
          <a:ln/>
        </p:spPr>
        <p:txBody>
          <a:bodyPr wrap="square" lIns="0" tIns="0" rIns="0" bIns="0" rtlCol="0" anchor="ctr"/>
          <a:lstStyle/>
          <a:p>
            <a:pPr indent="0" marL="0">
              <a:buNone/>
            </a:pPr>
            <a:r>
              <a:rPr lang="en-US" sz="1550" b="1" dirty="0">
                <a:solidFill>
                  <a:srgbClr val="203A43"/>
                </a:solidFill>
              </a:rPr>
              <a:t>Fact-check orgs</a:t>
            </a:r>
            <a:endParaRPr lang="en-US" sz="1550" dirty="0"/>
          </a:p>
        </p:txBody>
      </p:sp>
      <p:sp>
        <p:nvSpPr>
          <p:cNvPr id="25" name="Text 23"/>
          <p:cNvSpPr/>
          <p:nvPr/>
        </p:nvSpPr>
        <p:spPr>
          <a:xfrm>
            <a:off x="7050024" y="3621024"/>
            <a:ext cx="4453128" cy="640080"/>
          </a:xfrm>
          <a:prstGeom prst="rect">
            <a:avLst/>
          </a:prstGeom>
          <a:noFill/>
          <a:ln/>
        </p:spPr>
        <p:txBody>
          <a:bodyPr wrap="square" lIns="0" tIns="0" rIns="0" bIns="0" rtlCol="0" anchor="ctr"/>
          <a:lstStyle/>
          <a:p>
            <a:pPr indent="0" marL="0">
              <a:buNone/>
            </a:pPr>
            <a:r>
              <a:rPr lang="en-US" sz="1300" dirty="0">
                <a:solidFill>
                  <a:srgbClr val="1F2D3D"/>
                </a:solidFill>
              </a:rPr>
              <a:t>Prioritise high-risk content for human review.</a:t>
            </a:r>
            <a:endParaRPr lang="en-US" sz="1300" dirty="0"/>
          </a:p>
        </p:txBody>
      </p:sp>
      <p:sp>
        <p:nvSpPr>
          <p:cNvPr id="26" name="Shape 24"/>
          <p:cNvSpPr/>
          <p:nvPr/>
        </p:nvSpPr>
        <p:spPr>
          <a:xfrm>
            <a:off x="548640" y="4535424"/>
            <a:ext cx="5550408" cy="1417320"/>
          </a:xfrm>
          <a:prstGeom prst="roundRect">
            <a:avLst>
              <a:gd name="adj" fmla="val 5161"/>
            </a:avLst>
          </a:prstGeom>
          <a:solidFill>
            <a:srgbClr val="FFFFFF"/>
          </a:solidFill>
          <a:ln w="12700">
            <a:solidFill>
              <a:srgbClr val="E2E8F0"/>
            </a:solidFill>
            <a:prstDash val="solid"/>
          </a:ln>
          <a:effectLst>
            <a:outerShdw sx="100000" sy="100000" kx="0" ky="0" algn="bl" rotWithShape="0" blurRad="88900" dist="38100" dir="8100000">
              <a:srgbClr val="000000">
                <a:alpha val="16000"/>
              </a:srgbClr>
            </a:outerShdw>
          </a:effectLst>
        </p:spPr>
      </p:sp>
      <p:sp>
        <p:nvSpPr>
          <p:cNvPr id="27" name="Shape 25"/>
          <p:cNvSpPr/>
          <p:nvPr/>
        </p:nvSpPr>
        <p:spPr>
          <a:xfrm>
            <a:off x="804672" y="4992624"/>
            <a:ext cx="502920" cy="502920"/>
          </a:xfrm>
          <a:prstGeom prst="ellipse">
            <a:avLst/>
          </a:prstGeom>
          <a:solidFill>
            <a:srgbClr val="2C5364"/>
          </a:solidFill>
          <a:ln/>
        </p:spPr>
      </p:sp>
      <p:sp>
        <p:nvSpPr>
          <p:cNvPr id="28" name="Text 26"/>
          <p:cNvSpPr/>
          <p:nvPr/>
        </p:nvSpPr>
        <p:spPr>
          <a:xfrm>
            <a:off x="804672" y="4992624"/>
            <a:ext cx="502920" cy="502920"/>
          </a:xfrm>
          <a:prstGeom prst="rect">
            <a:avLst/>
          </a:prstGeom>
          <a:noFill/>
          <a:ln/>
        </p:spPr>
        <p:txBody>
          <a:bodyPr wrap="square" lIns="0" tIns="0" rIns="0" bIns="0" rtlCol="0" anchor="ctr"/>
          <a:lstStyle/>
          <a:p>
            <a:pPr algn="ctr" indent="0" marL="0">
              <a:buNone/>
            </a:pPr>
            <a:r>
              <a:rPr lang="en-US" sz="1500" b="1" dirty="0">
                <a:solidFill>
                  <a:srgbClr val="FFFFFF"/>
                </a:solidFill>
              </a:rPr>
              <a:t>5</a:t>
            </a:r>
            <a:endParaRPr lang="en-US" sz="1500" dirty="0"/>
          </a:p>
        </p:txBody>
      </p:sp>
      <p:sp>
        <p:nvSpPr>
          <p:cNvPr id="29" name="Text 27"/>
          <p:cNvSpPr/>
          <p:nvPr/>
        </p:nvSpPr>
        <p:spPr>
          <a:xfrm>
            <a:off x="1508760" y="4700016"/>
            <a:ext cx="4453128" cy="411480"/>
          </a:xfrm>
          <a:prstGeom prst="rect">
            <a:avLst/>
          </a:prstGeom>
          <a:noFill/>
          <a:ln/>
        </p:spPr>
        <p:txBody>
          <a:bodyPr wrap="square" lIns="0" tIns="0" rIns="0" bIns="0" rtlCol="0" anchor="ctr"/>
          <a:lstStyle/>
          <a:p>
            <a:pPr indent="0" marL="0">
              <a:buNone/>
            </a:pPr>
            <a:r>
              <a:rPr lang="en-US" sz="1550" b="1" dirty="0">
                <a:solidFill>
                  <a:srgbClr val="203A43"/>
                </a:solidFill>
              </a:rPr>
              <a:t>Messaging apps</a:t>
            </a:r>
            <a:endParaRPr lang="en-US" sz="1550" dirty="0"/>
          </a:p>
        </p:txBody>
      </p:sp>
      <p:sp>
        <p:nvSpPr>
          <p:cNvPr id="30" name="Text 28"/>
          <p:cNvSpPr/>
          <p:nvPr/>
        </p:nvSpPr>
        <p:spPr>
          <a:xfrm>
            <a:off x="1508760" y="5157216"/>
            <a:ext cx="4453128" cy="640080"/>
          </a:xfrm>
          <a:prstGeom prst="rect">
            <a:avLst/>
          </a:prstGeom>
          <a:noFill/>
          <a:ln/>
        </p:spPr>
        <p:txBody>
          <a:bodyPr wrap="square" lIns="0" tIns="0" rIns="0" bIns="0" rtlCol="0" anchor="ctr"/>
          <a:lstStyle/>
          <a:p>
            <a:pPr indent="0" marL="0">
              <a:buNone/>
            </a:pPr>
            <a:r>
              <a:rPr lang="en-US" sz="1300" dirty="0">
                <a:solidFill>
                  <a:srgbClr val="1F2D3D"/>
                </a:solidFill>
              </a:rPr>
              <a:t>On-device checks for forwarded content - privacy-safe.</a:t>
            </a:r>
            <a:endParaRPr lang="en-US" sz="1300" dirty="0"/>
          </a:p>
        </p:txBody>
      </p:sp>
      <p:sp>
        <p:nvSpPr>
          <p:cNvPr id="31" name="Shape 29"/>
          <p:cNvSpPr/>
          <p:nvPr/>
        </p:nvSpPr>
        <p:spPr>
          <a:xfrm>
            <a:off x="6089904" y="4535424"/>
            <a:ext cx="5550408" cy="1417320"/>
          </a:xfrm>
          <a:prstGeom prst="roundRect">
            <a:avLst>
              <a:gd name="adj" fmla="val 5161"/>
            </a:avLst>
          </a:prstGeom>
          <a:solidFill>
            <a:srgbClr val="FFFFFF"/>
          </a:solidFill>
          <a:ln w="12700">
            <a:solidFill>
              <a:srgbClr val="E2E8F0"/>
            </a:solidFill>
            <a:prstDash val="solid"/>
          </a:ln>
          <a:effectLst>
            <a:outerShdw sx="100000" sy="100000" kx="0" ky="0" algn="bl" rotWithShape="0" blurRad="88900" dist="38100" dir="8100000">
              <a:srgbClr val="000000">
                <a:alpha val="16000"/>
              </a:srgbClr>
            </a:outerShdw>
          </a:effectLst>
        </p:spPr>
      </p:sp>
      <p:sp>
        <p:nvSpPr>
          <p:cNvPr id="32" name="Shape 30"/>
          <p:cNvSpPr/>
          <p:nvPr/>
        </p:nvSpPr>
        <p:spPr>
          <a:xfrm>
            <a:off x="6345936" y="4992624"/>
            <a:ext cx="502920" cy="502920"/>
          </a:xfrm>
          <a:prstGeom prst="ellipse">
            <a:avLst/>
          </a:prstGeom>
          <a:solidFill>
            <a:srgbClr val="2C5364"/>
          </a:solidFill>
          <a:ln/>
        </p:spPr>
      </p:sp>
      <p:sp>
        <p:nvSpPr>
          <p:cNvPr id="33" name="Text 31"/>
          <p:cNvSpPr/>
          <p:nvPr/>
        </p:nvSpPr>
        <p:spPr>
          <a:xfrm>
            <a:off x="6345936" y="4992624"/>
            <a:ext cx="502920" cy="502920"/>
          </a:xfrm>
          <a:prstGeom prst="rect">
            <a:avLst/>
          </a:prstGeom>
          <a:noFill/>
          <a:ln/>
        </p:spPr>
        <p:txBody>
          <a:bodyPr wrap="square" lIns="0" tIns="0" rIns="0" bIns="0" rtlCol="0" anchor="ctr"/>
          <a:lstStyle/>
          <a:p>
            <a:pPr algn="ctr" indent="0" marL="0">
              <a:buNone/>
            </a:pPr>
            <a:r>
              <a:rPr lang="en-US" sz="1500" b="1" dirty="0">
                <a:solidFill>
                  <a:srgbClr val="FFFFFF"/>
                </a:solidFill>
              </a:rPr>
              <a:t>6</a:t>
            </a:r>
            <a:endParaRPr lang="en-US" sz="1500" dirty="0"/>
          </a:p>
        </p:txBody>
      </p:sp>
      <p:sp>
        <p:nvSpPr>
          <p:cNvPr id="34" name="Text 32"/>
          <p:cNvSpPr/>
          <p:nvPr/>
        </p:nvSpPr>
        <p:spPr>
          <a:xfrm>
            <a:off x="7050024" y="4700016"/>
            <a:ext cx="4453128" cy="411480"/>
          </a:xfrm>
          <a:prstGeom prst="rect">
            <a:avLst/>
          </a:prstGeom>
          <a:noFill/>
          <a:ln/>
        </p:spPr>
        <p:txBody>
          <a:bodyPr wrap="square" lIns="0" tIns="0" rIns="0" bIns="0" rtlCol="0" anchor="ctr"/>
          <a:lstStyle/>
          <a:p>
            <a:pPr indent="0" marL="0">
              <a:buNone/>
            </a:pPr>
            <a:r>
              <a:rPr lang="en-US" sz="1550" b="1" dirty="0">
                <a:solidFill>
                  <a:srgbClr val="203A43"/>
                </a:solidFill>
              </a:rPr>
              <a:t>Brand / PR</a:t>
            </a:r>
            <a:endParaRPr lang="en-US" sz="1550" dirty="0"/>
          </a:p>
        </p:txBody>
      </p:sp>
      <p:sp>
        <p:nvSpPr>
          <p:cNvPr id="35" name="Text 33"/>
          <p:cNvSpPr/>
          <p:nvPr/>
        </p:nvSpPr>
        <p:spPr>
          <a:xfrm>
            <a:off x="7050024" y="5157216"/>
            <a:ext cx="4453128" cy="640080"/>
          </a:xfrm>
          <a:prstGeom prst="rect">
            <a:avLst/>
          </a:prstGeom>
          <a:noFill/>
          <a:ln/>
        </p:spPr>
        <p:txBody>
          <a:bodyPr wrap="square" lIns="0" tIns="0" rIns="0" bIns="0" rtlCol="0" anchor="ctr"/>
          <a:lstStyle/>
          <a:p>
            <a:pPr indent="0" marL="0">
              <a:buNone/>
            </a:pPr>
            <a:r>
              <a:rPr lang="en-US" sz="1300" dirty="0">
                <a:solidFill>
                  <a:srgbClr val="1F2D3D"/>
                </a:solidFill>
              </a:rPr>
              <a:t>Monitor misinformation about organisations in real time.</a:t>
            </a:r>
            <a:endParaRPr lang="en-US" sz="13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566928"/>
            <a:ext cx="146304" cy="384048"/>
          </a:xfrm>
          <a:prstGeom prst="rect">
            <a:avLst/>
          </a:prstGeom>
          <a:solidFill>
            <a:srgbClr val="11998E"/>
          </a:solidFill>
          <a:ln/>
        </p:spPr>
      </p:sp>
      <p:sp>
        <p:nvSpPr>
          <p:cNvPr id="3" name="Text 1"/>
          <p:cNvSpPr/>
          <p:nvPr/>
        </p:nvSpPr>
        <p:spPr>
          <a:xfrm>
            <a:off x="822960" y="502920"/>
            <a:ext cx="10789920" cy="548640"/>
          </a:xfrm>
          <a:prstGeom prst="rect">
            <a:avLst/>
          </a:prstGeom>
          <a:noFill/>
          <a:ln/>
        </p:spPr>
        <p:txBody>
          <a:bodyPr wrap="square" lIns="0" tIns="0" rIns="0" bIns="0" rtlCol="0" anchor="ctr"/>
          <a:lstStyle/>
          <a:p>
            <a:pPr algn="l" indent="0" marL="0">
              <a:buNone/>
            </a:pPr>
            <a:r>
              <a:rPr lang="en-US" sz="2800" b="1" dirty="0">
                <a:solidFill>
                  <a:srgbClr val="203A43"/>
                </a:solidFill>
                <a:latin typeface="Calibri" pitchFamily="34" charset="0"/>
                <a:ea typeface="Calibri" pitchFamily="34" charset="-122"/>
                <a:cs typeface="Calibri" pitchFamily="34" charset="-120"/>
              </a:rPr>
              <a:t>Future Scope</a:t>
            </a:r>
            <a:endParaRPr lang="en-US" sz="2800" dirty="0"/>
          </a:p>
        </p:txBody>
      </p:sp>
      <p:sp>
        <p:nvSpPr>
          <p:cNvPr id="4" name="Text 2"/>
          <p:cNvSpPr/>
          <p:nvPr/>
        </p:nvSpPr>
        <p:spPr>
          <a:xfrm>
            <a:off x="548640" y="6437376"/>
            <a:ext cx="5486400" cy="274320"/>
          </a:xfrm>
          <a:prstGeom prst="rect">
            <a:avLst/>
          </a:prstGeom>
          <a:noFill/>
          <a:ln/>
        </p:spPr>
        <p:txBody>
          <a:bodyPr wrap="square" rtlCol="0" anchor="ctr"/>
          <a:lstStyle/>
          <a:p>
            <a:pPr algn="l" indent="0" marL="0">
              <a:buNone/>
            </a:pPr>
            <a:r>
              <a:rPr lang="en-US" sz="900" dirty="0">
                <a:solidFill>
                  <a:srgbClr val="64748B"/>
                </a:solidFill>
              </a:rPr>
              <a:t>TruthLens AI</a:t>
            </a:r>
            <a:endParaRPr lang="en-US" sz="900" dirty="0"/>
          </a:p>
        </p:txBody>
      </p:sp>
      <p:sp>
        <p:nvSpPr>
          <p:cNvPr id="5" name="Text 3"/>
          <p:cNvSpPr/>
          <p:nvPr/>
        </p:nvSpPr>
        <p:spPr>
          <a:xfrm>
            <a:off x="10058400" y="6437376"/>
            <a:ext cx="1581912" cy="274320"/>
          </a:xfrm>
          <a:prstGeom prst="rect">
            <a:avLst/>
          </a:prstGeom>
          <a:noFill/>
          <a:ln/>
        </p:spPr>
        <p:txBody>
          <a:bodyPr wrap="square" rtlCol="0" anchor="ctr"/>
          <a:lstStyle/>
          <a:p>
            <a:pPr algn="r" indent="0" marL="0">
              <a:buNone/>
            </a:pPr>
            <a:r>
              <a:rPr lang="en-US" sz="900" dirty="0">
                <a:solidFill>
                  <a:srgbClr val="64748B"/>
                </a:solidFill>
              </a:rPr>
              <a:t>18 / 20</a:t>
            </a:r>
            <a:endParaRPr lang="en-US" sz="900" dirty="0"/>
          </a:p>
        </p:txBody>
      </p:sp>
      <p:sp>
        <p:nvSpPr>
          <p:cNvPr id="6" name="Shape 4"/>
          <p:cNvSpPr/>
          <p:nvPr/>
        </p:nvSpPr>
        <p:spPr>
          <a:xfrm>
            <a:off x="548640" y="1463040"/>
            <a:ext cx="11064240" cy="731520"/>
          </a:xfrm>
          <a:prstGeom prst="roundRect">
            <a:avLst>
              <a:gd name="adj" fmla="val 10000"/>
            </a:avLst>
          </a:prstGeom>
          <a:solidFill>
            <a:srgbClr val="FFFFFF"/>
          </a:solidFill>
          <a:ln w="12700">
            <a:solidFill>
              <a:srgbClr val="E2E8F0"/>
            </a:solidFill>
            <a:prstDash val="solid"/>
          </a:ln>
          <a:effectLst>
            <a:outerShdw sx="100000" sy="100000" kx="0" ky="0" algn="bl" rotWithShape="0" blurRad="88900" dist="38100" dir="8100000">
              <a:srgbClr val="000000">
                <a:alpha val="16000"/>
              </a:srgbClr>
            </a:outerShdw>
          </a:effectLst>
        </p:spPr>
      </p:sp>
      <p:sp>
        <p:nvSpPr>
          <p:cNvPr id="7" name="Shape 5"/>
          <p:cNvSpPr/>
          <p:nvPr/>
        </p:nvSpPr>
        <p:spPr>
          <a:xfrm>
            <a:off x="685800" y="1600200"/>
            <a:ext cx="457200" cy="457200"/>
          </a:xfrm>
          <a:prstGeom prst="ellipse">
            <a:avLst/>
          </a:prstGeom>
          <a:solidFill>
            <a:srgbClr val="11998E"/>
          </a:solidFill>
          <a:ln/>
        </p:spPr>
      </p:sp>
      <p:sp>
        <p:nvSpPr>
          <p:cNvPr id="8" name="Text 6"/>
          <p:cNvSpPr/>
          <p:nvPr/>
        </p:nvSpPr>
        <p:spPr>
          <a:xfrm>
            <a:off x="685800" y="160020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rPr>
              <a:t>1</a:t>
            </a:r>
            <a:endParaRPr lang="en-US" sz="1500" dirty="0"/>
          </a:p>
        </p:txBody>
      </p:sp>
      <p:sp>
        <p:nvSpPr>
          <p:cNvPr id="9" name="Text 7"/>
          <p:cNvSpPr/>
          <p:nvPr/>
        </p:nvSpPr>
        <p:spPr>
          <a:xfrm>
            <a:off x="1371600" y="1463040"/>
            <a:ext cx="3108960" cy="731520"/>
          </a:xfrm>
          <a:prstGeom prst="rect">
            <a:avLst/>
          </a:prstGeom>
          <a:noFill/>
          <a:ln/>
        </p:spPr>
        <p:txBody>
          <a:bodyPr wrap="square" lIns="0" tIns="0" rIns="0" bIns="0" rtlCol="0" anchor="ctr"/>
          <a:lstStyle/>
          <a:p>
            <a:pPr indent="0" marL="0">
              <a:buNone/>
            </a:pPr>
            <a:r>
              <a:rPr lang="en-US" sz="1450" b="1" dirty="0">
                <a:solidFill>
                  <a:srgbClr val="203A43"/>
                </a:solidFill>
              </a:rPr>
              <a:t>Transformer upgrade</a:t>
            </a:r>
            <a:endParaRPr lang="en-US" sz="1450" dirty="0"/>
          </a:p>
        </p:txBody>
      </p:sp>
      <p:sp>
        <p:nvSpPr>
          <p:cNvPr id="10" name="Text 8"/>
          <p:cNvSpPr/>
          <p:nvPr/>
        </p:nvSpPr>
        <p:spPr>
          <a:xfrm>
            <a:off x="4572000" y="1463040"/>
            <a:ext cx="6858000" cy="731520"/>
          </a:xfrm>
          <a:prstGeom prst="rect">
            <a:avLst/>
          </a:prstGeom>
          <a:noFill/>
          <a:ln/>
        </p:spPr>
        <p:txBody>
          <a:bodyPr wrap="square" lIns="0" tIns="0" rIns="0" bIns="0" rtlCol="0" anchor="ctr"/>
          <a:lstStyle/>
          <a:p>
            <a:pPr indent="0" marL="0">
              <a:buNone/>
            </a:pPr>
            <a:r>
              <a:rPr lang="en-US" sz="1350" dirty="0">
                <a:solidFill>
                  <a:srgbClr val="1F2D3D"/>
                </a:solidFill>
              </a:rPr>
              <a:t>Fine-tune DistilBERT/RoBERTa; ensemble with the linear model.</a:t>
            </a:r>
            <a:endParaRPr lang="en-US" sz="1350" dirty="0"/>
          </a:p>
        </p:txBody>
      </p:sp>
      <p:sp>
        <p:nvSpPr>
          <p:cNvPr id="11" name="Shape 9"/>
          <p:cNvSpPr/>
          <p:nvPr/>
        </p:nvSpPr>
        <p:spPr>
          <a:xfrm>
            <a:off x="548640" y="2286000"/>
            <a:ext cx="11064240" cy="731520"/>
          </a:xfrm>
          <a:prstGeom prst="roundRect">
            <a:avLst>
              <a:gd name="adj" fmla="val 10000"/>
            </a:avLst>
          </a:prstGeom>
          <a:solidFill>
            <a:srgbClr val="FFFFFF"/>
          </a:solidFill>
          <a:ln w="12700">
            <a:solidFill>
              <a:srgbClr val="E2E8F0"/>
            </a:solidFill>
            <a:prstDash val="solid"/>
          </a:ln>
          <a:effectLst>
            <a:outerShdw sx="100000" sy="100000" kx="0" ky="0" algn="bl" rotWithShape="0" blurRad="88900" dist="38100" dir="8100000">
              <a:srgbClr val="000000">
                <a:alpha val="16000"/>
              </a:srgbClr>
            </a:outerShdw>
          </a:effectLst>
        </p:spPr>
      </p:sp>
      <p:sp>
        <p:nvSpPr>
          <p:cNvPr id="12" name="Shape 10"/>
          <p:cNvSpPr/>
          <p:nvPr/>
        </p:nvSpPr>
        <p:spPr>
          <a:xfrm>
            <a:off x="685800" y="2423160"/>
            <a:ext cx="457200" cy="457200"/>
          </a:xfrm>
          <a:prstGeom prst="ellipse">
            <a:avLst/>
          </a:prstGeom>
          <a:solidFill>
            <a:srgbClr val="11998E"/>
          </a:solidFill>
          <a:ln/>
        </p:spPr>
      </p:sp>
      <p:sp>
        <p:nvSpPr>
          <p:cNvPr id="13" name="Text 11"/>
          <p:cNvSpPr/>
          <p:nvPr/>
        </p:nvSpPr>
        <p:spPr>
          <a:xfrm>
            <a:off x="685800" y="242316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rPr>
              <a:t>2</a:t>
            </a:r>
            <a:endParaRPr lang="en-US" sz="1500" dirty="0"/>
          </a:p>
        </p:txBody>
      </p:sp>
      <p:sp>
        <p:nvSpPr>
          <p:cNvPr id="14" name="Text 12"/>
          <p:cNvSpPr/>
          <p:nvPr/>
        </p:nvSpPr>
        <p:spPr>
          <a:xfrm>
            <a:off x="1371600" y="2286000"/>
            <a:ext cx="3108960" cy="731520"/>
          </a:xfrm>
          <a:prstGeom prst="rect">
            <a:avLst/>
          </a:prstGeom>
          <a:noFill/>
          <a:ln/>
        </p:spPr>
        <p:txBody>
          <a:bodyPr wrap="square" lIns="0" tIns="0" rIns="0" bIns="0" rtlCol="0" anchor="ctr"/>
          <a:lstStyle/>
          <a:p>
            <a:pPr indent="0" marL="0">
              <a:buNone/>
            </a:pPr>
            <a:r>
              <a:rPr lang="en-US" sz="1450" b="1" dirty="0">
                <a:solidFill>
                  <a:srgbClr val="203A43"/>
                </a:solidFill>
              </a:rPr>
              <a:t>Live evidence</a:t>
            </a:r>
            <a:endParaRPr lang="en-US" sz="1450" dirty="0"/>
          </a:p>
        </p:txBody>
      </p:sp>
      <p:sp>
        <p:nvSpPr>
          <p:cNvPr id="15" name="Text 13"/>
          <p:cNvSpPr/>
          <p:nvPr/>
        </p:nvSpPr>
        <p:spPr>
          <a:xfrm>
            <a:off x="4572000" y="2286000"/>
            <a:ext cx="6858000" cy="731520"/>
          </a:xfrm>
          <a:prstGeom prst="rect">
            <a:avLst/>
          </a:prstGeom>
          <a:noFill/>
          <a:ln/>
        </p:spPr>
        <p:txBody>
          <a:bodyPr wrap="square" lIns="0" tIns="0" rIns="0" bIns="0" rtlCol="0" anchor="ctr"/>
          <a:lstStyle/>
          <a:p>
            <a:pPr indent="0" marL="0">
              <a:buNone/>
            </a:pPr>
            <a:r>
              <a:rPr lang="en-US" sz="1350" dirty="0">
                <a:solidFill>
                  <a:srgbClr val="1F2D3D"/>
                </a:solidFill>
              </a:rPr>
              <a:t>Connect reputable real-time fact-check feeds to the RAG layer.</a:t>
            </a:r>
            <a:endParaRPr lang="en-US" sz="1350" dirty="0"/>
          </a:p>
        </p:txBody>
      </p:sp>
      <p:sp>
        <p:nvSpPr>
          <p:cNvPr id="16" name="Shape 14"/>
          <p:cNvSpPr/>
          <p:nvPr/>
        </p:nvSpPr>
        <p:spPr>
          <a:xfrm>
            <a:off x="548640" y="3108960"/>
            <a:ext cx="11064240" cy="731520"/>
          </a:xfrm>
          <a:prstGeom prst="roundRect">
            <a:avLst>
              <a:gd name="adj" fmla="val 10000"/>
            </a:avLst>
          </a:prstGeom>
          <a:solidFill>
            <a:srgbClr val="FFFFFF"/>
          </a:solidFill>
          <a:ln w="12700">
            <a:solidFill>
              <a:srgbClr val="E2E8F0"/>
            </a:solidFill>
            <a:prstDash val="solid"/>
          </a:ln>
          <a:effectLst>
            <a:outerShdw sx="100000" sy="100000" kx="0" ky="0" algn="bl" rotWithShape="0" blurRad="88900" dist="38100" dir="8100000">
              <a:srgbClr val="000000">
                <a:alpha val="16000"/>
              </a:srgbClr>
            </a:outerShdw>
          </a:effectLst>
        </p:spPr>
      </p:sp>
      <p:sp>
        <p:nvSpPr>
          <p:cNvPr id="17" name="Shape 15"/>
          <p:cNvSpPr/>
          <p:nvPr/>
        </p:nvSpPr>
        <p:spPr>
          <a:xfrm>
            <a:off x="685800" y="3246120"/>
            <a:ext cx="457200" cy="457200"/>
          </a:xfrm>
          <a:prstGeom prst="ellipse">
            <a:avLst/>
          </a:prstGeom>
          <a:solidFill>
            <a:srgbClr val="11998E"/>
          </a:solidFill>
          <a:ln/>
        </p:spPr>
      </p:sp>
      <p:sp>
        <p:nvSpPr>
          <p:cNvPr id="18" name="Text 16"/>
          <p:cNvSpPr/>
          <p:nvPr/>
        </p:nvSpPr>
        <p:spPr>
          <a:xfrm>
            <a:off x="685800" y="324612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rPr>
              <a:t>3</a:t>
            </a:r>
            <a:endParaRPr lang="en-US" sz="1500" dirty="0"/>
          </a:p>
        </p:txBody>
      </p:sp>
      <p:sp>
        <p:nvSpPr>
          <p:cNvPr id="19" name="Text 17"/>
          <p:cNvSpPr/>
          <p:nvPr/>
        </p:nvSpPr>
        <p:spPr>
          <a:xfrm>
            <a:off x="1371600" y="3108960"/>
            <a:ext cx="3108960" cy="731520"/>
          </a:xfrm>
          <a:prstGeom prst="rect">
            <a:avLst/>
          </a:prstGeom>
          <a:noFill/>
          <a:ln/>
        </p:spPr>
        <p:txBody>
          <a:bodyPr wrap="square" lIns="0" tIns="0" rIns="0" bIns="0" rtlCol="0" anchor="ctr"/>
          <a:lstStyle/>
          <a:p>
            <a:pPr indent="0" marL="0">
              <a:buNone/>
            </a:pPr>
            <a:r>
              <a:rPr lang="en-US" sz="1450" b="1" dirty="0">
                <a:solidFill>
                  <a:srgbClr val="203A43"/>
                </a:solidFill>
              </a:rPr>
              <a:t>Multilingual</a:t>
            </a:r>
            <a:endParaRPr lang="en-US" sz="1450" dirty="0"/>
          </a:p>
        </p:txBody>
      </p:sp>
      <p:sp>
        <p:nvSpPr>
          <p:cNvPr id="20" name="Text 18"/>
          <p:cNvSpPr/>
          <p:nvPr/>
        </p:nvSpPr>
        <p:spPr>
          <a:xfrm>
            <a:off x="4572000" y="3108960"/>
            <a:ext cx="6858000" cy="731520"/>
          </a:xfrm>
          <a:prstGeom prst="rect">
            <a:avLst/>
          </a:prstGeom>
          <a:noFill/>
          <a:ln/>
        </p:spPr>
        <p:txBody>
          <a:bodyPr wrap="square" lIns="0" tIns="0" rIns="0" bIns="0" rtlCol="0" anchor="ctr"/>
          <a:lstStyle/>
          <a:p>
            <a:pPr indent="0" marL="0">
              <a:buNone/>
            </a:pPr>
            <a:r>
              <a:rPr lang="en-US" sz="1350" dirty="0">
                <a:solidFill>
                  <a:srgbClr val="1F2D3D"/>
                </a:solidFill>
              </a:rPr>
              <a:t>Detect misinformation beyond English.</a:t>
            </a:r>
            <a:endParaRPr lang="en-US" sz="1350" dirty="0"/>
          </a:p>
        </p:txBody>
      </p:sp>
      <p:sp>
        <p:nvSpPr>
          <p:cNvPr id="21" name="Shape 19"/>
          <p:cNvSpPr/>
          <p:nvPr/>
        </p:nvSpPr>
        <p:spPr>
          <a:xfrm>
            <a:off x="548640" y="3931920"/>
            <a:ext cx="11064240" cy="731520"/>
          </a:xfrm>
          <a:prstGeom prst="roundRect">
            <a:avLst>
              <a:gd name="adj" fmla="val 10000"/>
            </a:avLst>
          </a:prstGeom>
          <a:solidFill>
            <a:srgbClr val="FFFFFF"/>
          </a:solidFill>
          <a:ln w="12700">
            <a:solidFill>
              <a:srgbClr val="E2E8F0"/>
            </a:solidFill>
            <a:prstDash val="solid"/>
          </a:ln>
          <a:effectLst>
            <a:outerShdw sx="100000" sy="100000" kx="0" ky="0" algn="bl" rotWithShape="0" blurRad="88900" dist="38100" dir="8100000">
              <a:srgbClr val="000000">
                <a:alpha val="16000"/>
              </a:srgbClr>
            </a:outerShdw>
          </a:effectLst>
        </p:spPr>
      </p:sp>
      <p:sp>
        <p:nvSpPr>
          <p:cNvPr id="22" name="Shape 20"/>
          <p:cNvSpPr/>
          <p:nvPr/>
        </p:nvSpPr>
        <p:spPr>
          <a:xfrm>
            <a:off x="685800" y="4069080"/>
            <a:ext cx="457200" cy="457200"/>
          </a:xfrm>
          <a:prstGeom prst="ellipse">
            <a:avLst/>
          </a:prstGeom>
          <a:solidFill>
            <a:srgbClr val="11998E"/>
          </a:solidFill>
          <a:ln/>
        </p:spPr>
      </p:sp>
      <p:sp>
        <p:nvSpPr>
          <p:cNvPr id="23" name="Text 21"/>
          <p:cNvSpPr/>
          <p:nvPr/>
        </p:nvSpPr>
        <p:spPr>
          <a:xfrm>
            <a:off x="685800" y="406908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rPr>
              <a:t>4</a:t>
            </a:r>
            <a:endParaRPr lang="en-US" sz="1500" dirty="0"/>
          </a:p>
        </p:txBody>
      </p:sp>
      <p:sp>
        <p:nvSpPr>
          <p:cNvPr id="24" name="Text 22"/>
          <p:cNvSpPr/>
          <p:nvPr/>
        </p:nvSpPr>
        <p:spPr>
          <a:xfrm>
            <a:off x="1371600" y="3931920"/>
            <a:ext cx="3108960" cy="731520"/>
          </a:xfrm>
          <a:prstGeom prst="rect">
            <a:avLst/>
          </a:prstGeom>
          <a:noFill/>
          <a:ln/>
        </p:spPr>
        <p:txBody>
          <a:bodyPr wrap="square" lIns="0" tIns="0" rIns="0" bIns="0" rtlCol="0" anchor="ctr"/>
          <a:lstStyle/>
          <a:p>
            <a:pPr indent="0" marL="0">
              <a:buNone/>
            </a:pPr>
            <a:r>
              <a:rPr lang="en-US" sz="1450" b="1" dirty="0">
                <a:solidFill>
                  <a:srgbClr val="203A43"/>
                </a:solidFill>
              </a:rPr>
              <a:t>Multimodal</a:t>
            </a:r>
            <a:endParaRPr lang="en-US" sz="1450" dirty="0"/>
          </a:p>
        </p:txBody>
      </p:sp>
      <p:sp>
        <p:nvSpPr>
          <p:cNvPr id="25" name="Text 23"/>
          <p:cNvSpPr/>
          <p:nvPr/>
        </p:nvSpPr>
        <p:spPr>
          <a:xfrm>
            <a:off x="4572000" y="3931920"/>
            <a:ext cx="6858000" cy="731520"/>
          </a:xfrm>
          <a:prstGeom prst="rect">
            <a:avLst/>
          </a:prstGeom>
          <a:noFill/>
          <a:ln/>
        </p:spPr>
        <p:txBody>
          <a:bodyPr wrap="square" lIns="0" tIns="0" rIns="0" bIns="0" rtlCol="0" anchor="ctr"/>
          <a:lstStyle/>
          <a:p>
            <a:pPr indent="0" marL="0">
              <a:buNone/>
            </a:pPr>
            <a:r>
              <a:rPr lang="en-US" sz="1350" dirty="0">
                <a:solidFill>
                  <a:srgbClr val="1F2D3D"/>
                </a:solidFill>
              </a:rPr>
              <a:t>Add image, metadata and source-reputation signals.</a:t>
            </a:r>
            <a:endParaRPr lang="en-US" sz="1350" dirty="0"/>
          </a:p>
        </p:txBody>
      </p:sp>
      <p:sp>
        <p:nvSpPr>
          <p:cNvPr id="26" name="Shape 24"/>
          <p:cNvSpPr/>
          <p:nvPr/>
        </p:nvSpPr>
        <p:spPr>
          <a:xfrm>
            <a:off x="548640" y="4754880"/>
            <a:ext cx="11064240" cy="731520"/>
          </a:xfrm>
          <a:prstGeom prst="roundRect">
            <a:avLst>
              <a:gd name="adj" fmla="val 10000"/>
            </a:avLst>
          </a:prstGeom>
          <a:solidFill>
            <a:srgbClr val="FFFFFF"/>
          </a:solidFill>
          <a:ln w="12700">
            <a:solidFill>
              <a:srgbClr val="E2E8F0"/>
            </a:solidFill>
            <a:prstDash val="solid"/>
          </a:ln>
          <a:effectLst>
            <a:outerShdw sx="100000" sy="100000" kx="0" ky="0" algn="bl" rotWithShape="0" blurRad="88900" dist="38100" dir="8100000">
              <a:srgbClr val="000000">
                <a:alpha val="16000"/>
              </a:srgbClr>
            </a:outerShdw>
          </a:effectLst>
        </p:spPr>
      </p:sp>
      <p:sp>
        <p:nvSpPr>
          <p:cNvPr id="27" name="Shape 25"/>
          <p:cNvSpPr/>
          <p:nvPr/>
        </p:nvSpPr>
        <p:spPr>
          <a:xfrm>
            <a:off x="685800" y="4892040"/>
            <a:ext cx="457200" cy="457200"/>
          </a:xfrm>
          <a:prstGeom prst="ellipse">
            <a:avLst/>
          </a:prstGeom>
          <a:solidFill>
            <a:srgbClr val="11998E"/>
          </a:solidFill>
          <a:ln/>
        </p:spPr>
      </p:sp>
      <p:sp>
        <p:nvSpPr>
          <p:cNvPr id="28" name="Text 26"/>
          <p:cNvSpPr/>
          <p:nvPr/>
        </p:nvSpPr>
        <p:spPr>
          <a:xfrm>
            <a:off x="685800" y="489204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rPr>
              <a:t>5</a:t>
            </a:r>
            <a:endParaRPr lang="en-US" sz="1500" dirty="0"/>
          </a:p>
        </p:txBody>
      </p:sp>
      <p:sp>
        <p:nvSpPr>
          <p:cNvPr id="29" name="Text 27"/>
          <p:cNvSpPr/>
          <p:nvPr/>
        </p:nvSpPr>
        <p:spPr>
          <a:xfrm>
            <a:off x="1371600" y="4754880"/>
            <a:ext cx="3108960" cy="731520"/>
          </a:xfrm>
          <a:prstGeom prst="rect">
            <a:avLst/>
          </a:prstGeom>
          <a:noFill/>
          <a:ln/>
        </p:spPr>
        <p:txBody>
          <a:bodyPr wrap="square" lIns="0" tIns="0" rIns="0" bIns="0" rtlCol="0" anchor="ctr"/>
          <a:lstStyle/>
          <a:p>
            <a:pPr indent="0" marL="0">
              <a:buNone/>
            </a:pPr>
            <a:r>
              <a:rPr lang="en-US" sz="1450" b="1" dirty="0">
                <a:solidFill>
                  <a:srgbClr val="203A43"/>
                </a:solidFill>
              </a:rPr>
              <a:t>Deployment</a:t>
            </a:r>
            <a:endParaRPr lang="en-US" sz="1450" dirty="0"/>
          </a:p>
        </p:txBody>
      </p:sp>
      <p:sp>
        <p:nvSpPr>
          <p:cNvPr id="30" name="Text 28"/>
          <p:cNvSpPr/>
          <p:nvPr/>
        </p:nvSpPr>
        <p:spPr>
          <a:xfrm>
            <a:off x="4572000" y="4754880"/>
            <a:ext cx="6858000" cy="731520"/>
          </a:xfrm>
          <a:prstGeom prst="rect">
            <a:avLst/>
          </a:prstGeom>
          <a:noFill/>
          <a:ln/>
        </p:spPr>
        <p:txBody>
          <a:bodyPr wrap="square" lIns="0" tIns="0" rIns="0" bIns="0" rtlCol="0" anchor="ctr"/>
          <a:lstStyle/>
          <a:p>
            <a:pPr indent="0" marL="0">
              <a:buNone/>
            </a:pPr>
            <a:r>
              <a:rPr lang="en-US" sz="1350" dirty="0">
                <a:solidFill>
                  <a:srgbClr val="1F2D3D"/>
                </a:solidFill>
              </a:rPr>
              <a:t>Browser extension + REST API for platform integration.</a:t>
            </a:r>
            <a:endParaRPr lang="en-US" sz="1350" dirty="0"/>
          </a:p>
        </p:txBody>
      </p:sp>
      <p:sp>
        <p:nvSpPr>
          <p:cNvPr id="31" name="Shape 29"/>
          <p:cNvSpPr/>
          <p:nvPr/>
        </p:nvSpPr>
        <p:spPr>
          <a:xfrm>
            <a:off x="548640" y="5577840"/>
            <a:ext cx="11064240" cy="731520"/>
          </a:xfrm>
          <a:prstGeom prst="roundRect">
            <a:avLst>
              <a:gd name="adj" fmla="val 10000"/>
            </a:avLst>
          </a:prstGeom>
          <a:solidFill>
            <a:srgbClr val="FFFFFF"/>
          </a:solidFill>
          <a:ln w="12700">
            <a:solidFill>
              <a:srgbClr val="E2E8F0"/>
            </a:solidFill>
            <a:prstDash val="solid"/>
          </a:ln>
          <a:effectLst>
            <a:outerShdw sx="100000" sy="100000" kx="0" ky="0" algn="bl" rotWithShape="0" blurRad="88900" dist="38100" dir="8100000">
              <a:srgbClr val="000000">
                <a:alpha val="16000"/>
              </a:srgbClr>
            </a:outerShdw>
          </a:effectLst>
        </p:spPr>
      </p:sp>
      <p:sp>
        <p:nvSpPr>
          <p:cNvPr id="32" name="Shape 30"/>
          <p:cNvSpPr/>
          <p:nvPr/>
        </p:nvSpPr>
        <p:spPr>
          <a:xfrm>
            <a:off x="685800" y="5715000"/>
            <a:ext cx="457200" cy="457200"/>
          </a:xfrm>
          <a:prstGeom prst="ellipse">
            <a:avLst/>
          </a:prstGeom>
          <a:solidFill>
            <a:srgbClr val="11998E"/>
          </a:solidFill>
          <a:ln/>
        </p:spPr>
      </p:sp>
      <p:sp>
        <p:nvSpPr>
          <p:cNvPr id="33" name="Text 31"/>
          <p:cNvSpPr/>
          <p:nvPr/>
        </p:nvSpPr>
        <p:spPr>
          <a:xfrm>
            <a:off x="685800" y="571500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rPr>
              <a:t>6</a:t>
            </a:r>
            <a:endParaRPr lang="en-US" sz="1500" dirty="0"/>
          </a:p>
        </p:txBody>
      </p:sp>
      <p:sp>
        <p:nvSpPr>
          <p:cNvPr id="34" name="Text 32"/>
          <p:cNvSpPr/>
          <p:nvPr/>
        </p:nvSpPr>
        <p:spPr>
          <a:xfrm>
            <a:off x="1371600" y="5577840"/>
            <a:ext cx="3108960" cy="731520"/>
          </a:xfrm>
          <a:prstGeom prst="rect">
            <a:avLst/>
          </a:prstGeom>
          <a:noFill/>
          <a:ln/>
        </p:spPr>
        <p:txBody>
          <a:bodyPr wrap="square" lIns="0" tIns="0" rIns="0" bIns="0" rtlCol="0" anchor="ctr"/>
          <a:lstStyle/>
          <a:p>
            <a:pPr indent="0" marL="0">
              <a:buNone/>
            </a:pPr>
            <a:r>
              <a:rPr lang="en-US" sz="1450" b="1" dirty="0">
                <a:solidFill>
                  <a:srgbClr val="203A43"/>
                </a:solidFill>
              </a:rPr>
              <a:t>Human-in-the-loop</a:t>
            </a:r>
            <a:endParaRPr lang="en-US" sz="1450" dirty="0"/>
          </a:p>
        </p:txBody>
      </p:sp>
      <p:sp>
        <p:nvSpPr>
          <p:cNvPr id="35" name="Text 33"/>
          <p:cNvSpPr/>
          <p:nvPr/>
        </p:nvSpPr>
        <p:spPr>
          <a:xfrm>
            <a:off x="4572000" y="5577840"/>
            <a:ext cx="6858000" cy="731520"/>
          </a:xfrm>
          <a:prstGeom prst="rect">
            <a:avLst/>
          </a:prstGeom>
          <a:noFill/>
          <a:ln/>
        </p:spPr>
        <p:txBody>
          <a:bodyPr wrap="square" lIns="0" tIns="0" rIns="0" bIns="0" rtlCol="0" anchor="ctr"/>
          <a:lstStyle/>
          <a:p>
            <a:pPr indent="0" marL="0">
              <a:buNone/>
            </a:pPr>
            <a:r>
              <a:rPr lang="en-US" sz="1350" dirty="0">
                <a:solidFill>
                  <a:srgbClr val="1F2D3D"/>
                </a:solidFill>
              </a:rPr>
              <a:t>Feedback loop to retrain and recalibrate continuously.</a:t>
            </a:r>
            <a:endParaRPr lang="en-US" sz="13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F2027"/>
        </a:solidFill>
      </p:bgPr>
    </p:bg>
    <p:spTree>
      <p:nvGrpSpPr>
        <p:cNvPr id="1" name=""/>
        <p:cNvGrpSpPr/>
        <p:nvPr/>
      </p:nvGrpSpPr>
      <p:grpSpPr>
        <a:xfrm>
          <a:off x="0" y="0"/>
          <a:ext cx="0" cy="0"/>
          <a:chOff x="0" y="0"/>
          <a:chExt cx="0" cy="0"/>
        </a:xfrm>
      </p:grpSpPr>
      <p:sp>
        <p:nvSpPr>
          <p:cNvPr id="2" name="Shape 0"/>
          <p:cNvSpPr/>
          <p:nvPr/>
        </p:nvSpPr>
        <p:spPr>
          <a:xfrm>
            <a:off x="9326880" y="4206240"/>
            <a:ext cx="4572000" cy="4572000"/>
          </a:xfrm>
          <a:prstGeom prst="ellipse">
            <a:avLst/>
          </a:prstGeom>
          <a:solidFill>
            <a:srgbClr val="2C5364">
              <a:alpha val="40000"/>
            </a:srgbClr>
          </a:solidFill>
          <a:ln/>
        </p:spPr>
      </p:sp>
      <p:sp>
        <p:nvSpPr>
          <p:cNvPr id="3" name="Shape 1"/>
          <p:cNvSpPr/>
          <p:nvPr/>
        </p:nvSpPr>
        <p:spPr>
          <a:xfrm>
            <a:off x="822960" y="777240"/>
            <a:ext cx="146304" cy="457200"/>
          </a:xfrm>
          <a:prstGeom prst="rect">
            <a:avLst/>
          </a:prstGeom>
          <a:solidFill>
            <a:srgbClr val="11998E"/>
          </a:solidFill>
          <a:ln/>
        </p:spPr>
      </p:sp>
      <p:sp>
        <p:nvSpPr>
          <p:cNvPr id="4" name="Text 2"/>
          <p:cNvSpPr/>
          <p:nvPr/>
        </p:nvSpPr>
        <p:spPr>
          <a:xfrm>
            <a:off x="1097280" y="713232"/>
            <a:ext cx="9144000" cy="548640"/>
          </a:xfrm>
          <a:prstGeom prst="rect">
            <a:avLst/>
          </a:prstGeom>
          <a:noFill/>
          <a:ln/>
        </p:spPr>
        <p:txBody>
          <a:bodyPr wrap="square" rtlCol="0" anchor="ctr"/>
          <a:lstStyle/>
          <a:p>
            <a:pPr indent="0" marL="0">
              <a:buNone/>
            </a:pPr>
            <a:r>
              <a:rPr lang="en-US" sz="3000" b="1" dirty="0">
                <a:solidFill>
                  <a:srgbClr val="FFFFFF"/>
                </a:solidFill>
              </a:rPr>
              <a:t>Conclusion</a:t>
            </a:r>
            <a:endParaRPr lang="en-US" sz="3000" dirty="0"/>
          </a:p>
        </p:txBody>
      </p:sp>
      <p:sp>
        <p:nvSpPr>
          <p:cNvPr id="5" name="Text 3"/>
          <p:cNvSpPr/>
          <p:nvPr/>
        </p:nvSpPr>
        <p:spPr>
          <a:xfrm>
            <a:off x="868680" y="1600200"/>
            <a:ext cx="10424160" cy="914400"/>
          </a:xfrm>
          <a:prstGeom prst="rect">
            <a:avLst/>
          </a:prstGeom>
          <a:noFill/>
          <a:ln/>
        </p:spPr>
        <p:txBody>
          <a:bodyPr wrap="square" rtlCol="0" anchor="ctr"/>
          <a:lstStyle/>
          <a:p>
            <a:pPr indent="0" marL="0">
              <a:lnSpc>
                <a:spcPct val="120000"/>
              </a:lnSpc>
              <a:buNone/>
            </a:pPr>
            <a:r>
              <a:rPr lang="en-US" sz="1800" dirty="0">
                <a:solidFill>
                  <a:srgbClr val="9BE3D8"/>
                </a:solidFill>
              </a:rPr>
              <a:t>TruthLens AI reframes fake-news detection as an explainable, evidence-grounded, multi-agent workflow - not a black-box label.</a:t>
            </a:r>
            <a:endParaRPr lang="en-US" sz="1800" dirty="0"/>
          </a:p>
        </p:txBody>
      </p:sp>
      <p:sp>
        <p:nvSpPr>
          <p:cNvPr id="6" name="Text 4"/>
          <p:cNvSpPr/>
          <p:nvPr/>
        </p:nvSpPr>
        <p:spPr>
          <a:xfrm>
            <a:off x="914400" y="2788920"/>
            <a:ext cx="10058400" cy="2377440"/>
          </a:xfrm>
          <a:prstGeom prst="rect">
            <a:avLst/>
          </a:prstGeom>
          <a:noFill/>
          <a:ln/>
        </p:spPr>
        <p:txBody>
          <a:bodyPr wrap="square" rtlCol="0" anchor="ctr"/>
          <a:lstStyle/>
          <a:p>
            <a:pPr marL="342900" indent="-342900">
              <a:lnSpc>
                <a:spcPct val="140000"/>
              </a:lnSpc>
              <a:spcAft>
                <a:spcPts val="1000"/>
              </a:spcAft>
              <a:buSzPct val="100000"/>
              <a:buChar char="✓"/>
            </a:pPr>
            <a:r>
              <a:rPr lang="en-US" sz="1700" dirty="0">
                <a:solidFill>
                  <a:srgbClr val="FFFFFF"/>
                </a:solidFill>
              </a:rPr>
              <a:t>94.2% accuracy and 0.947 ROC-AUC on realistic data.</a:t>
            </a:r>
            <a:endParaRPr lang="en-US" sz="1700" dirty="0"/>
          </a:p>
          <a:p>
            <a:pPr marL="342900" indent="-342900">
              <a:lnSpc>
                <a:spcPct val="140000"/>
              </a:lnSpc>
              <a:spcAft>
                <a:spcPts val="1000"/>
              </a:spcAft>
              <a:buSzPct val="100000"/>
              <a:buChar char="✓"/>
            </a:pPr>
            <a:r>
              <a:rPr lang="en-US" sz="1700" dirty="0">
                <a:solidFill>
                  <a:srgbClr val="FFFFFF"/>
                </a:solidFill>
              </a:rPr>
              <a:t>Interpretable ML + explainability + RAG + agentic GenAI in one system.</a:t>
            </a:r>
            <a:endParaRPr lang="en-US" sz="1700" dirty="0"/>
          </a:p>
          <a:p>
            <a:pPr marL="342900" indent="-342900">
              <a:lnSpc>
                <a:spcPct val="140000"/>
              </a:lnSpc>
              <a:spcAft>
                <a:spcPts val="1000"/>
              </a:spcAft>
              <a:buSzPct val="100000"/>
              <a:buChar char="✓"/>
            </a:pPr>
            <a:r>
              <a:rPr lang="en-US" sz="1700" dirty="0">
                <a:solidFill>
                  <a:srgbClr val="FFFFFF"/>
                </a:solidFill>
              </a:rPr>
              <a:t>Runs fully offline on a laptop - no API key, no cost, demo-ready.</a:t>
            </a:r>
            <a:endParaRPr lang="en-US" sz="1700" dirty="0"/>
          </a:p>
          <a:p>
            <a:pPr marL="342900" indent="-342900">
              <a:lnSpc>
                <a:spcPct val="140000"/>
              </a:lnSpc>
              <a:spcAft>
                <a:spcPts val="1000"/>
              </a:spcAft>
              <a:buSzPct val="100000"/>
              <a:buChar char="✓"/>
            </a:pPr>
            <a:r>
              <a:rPr lang="en-US" sz="1700" dirty="0">
                <a:solidFill>
                  <a:srgbClr val="FFFFFF"/>
                </a:solidFill>
              </a:rPr>
              <a:t>Showcases the exact skills 2026 AI internships hire for.</a:t>
            </a:r>
            <a:endParaRPr lang="en-US" sz="1700" dirty="0"/>
          </a:p>
        </p:txBody>
      </p:sp>
      <p:sp>
        <p:nvSpPr>
          <p:cNvPr id="7" name="Text 5"/>
          <p:cNvSpPr/>
          <p:nvPr/>
        </p:nvSpPr>
        <p:spPr>
          <a:xfrm>
            <a:off x="868680" y="5669280"/>
            <a:ext cx="10424160" cy="548640"/>
          </a:xfrm>
          <a:prstGeom prst="rect">
            <a:avLst/>
          </a:prstGeom>
          <a:noFill/>
          <a:ln/>
        </p:spPr>
        <p:txBody>
          <a:bodyPr wrap="square" rtlCol="0" anchor="ctr"/>
          <a:lstStyle/>
          <a:p>
            <a:pPr indent="0" marL="0">
              <a:buNone/>
            </a:pPr>
            <a:r>
              <a:rPr lang="en-US" sz="1600" b="1" i="1" dirty="0">
                <a:solidFill>
                  <a:srgbClr val="11998E"/>
                </a:solidFill>
              </a:rPr>
              <a:t>An academically rigorous project, engineered to industry standards.</a:t>
            </a:r>
            <a:endParaRPr lang="en-US" sz="16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F2027"/>
        </a:solidFill>
      </p:bgPr>
    </p:bg>
    <p:spTree>
      <p:nvGrpSpPr>
        <p:cNvPr id="1" name=""/>
        <p:cNvGrpSpPr/>
        <p:nvPr/>
      </p:nvGrpSpPr>
      <p:grpSpPr>
        <a:xfrm>
          <a:off x="0" y="0"/>
          <a:ext cx="0" cy="0"/>
          <a:chOff x="0" y="0"/>
          <a:chExt cx="0" cy="0"/>
        </a:xfrm>
      </p:grpSpPr>
      <p:sp>
        <p:nvSpPr>
          <p:cNvPr id="2" name="Shape 0"/>
          <p:cNvSpPr/>
          <p:nvPr/>
        </p:nvSpPr>
        <p:spPr>
          <a:xfrm>
            <a:off x="-1371600" y="-1371600"/>
            <a:ext cx="4114800" cy="4114800"/>
          </a:xfrm>
          <a:prstGeom prst="ellipse">
            <a:avLst/>
          </a:prstGeom>
          <a:solidFill>
            <a:srgbClr val="11998E">
              <a:alpha val="45000"/>
            </a:srgbClr>
          </a:solidFill>
          <a:ln/>
        </p:spPr>
      </p:sp>
      <p:sp>
        <p:nvSpPr>
          <p:cNvPr id="3" name="Shape 1"/>
          <p:cNvSpPr/>
          <p:nvPr/>
        </p:nvSpPr>
        <p:spPr>
          <a:xfrm>
            <a:off x="9875520" y="4206240"/>
            <a:ext cx="4206240" cy="4206240"/>
          </a:xfrm>
          <a:prstGeom prst="ellipse">
            <a:avLst/>
          </a:prstGeom>
          <a:solidFill>
            <a:srgbClr val="2C5364">
              <a:alpha val="45000"/>
            </a:srgbClr>
          </a:solidFill>
          <a:ln/>
        </p:spPr>
      </p:sp>
      <p:sp>
        <p:nvSpPr>
          <p:cNvPr id="4" name="Text 2"/>
          <p:cNvSpPr/>
          <p:nvPr/>
        </p:nvSpPr>
        <p:spPr>
          <a:xfrm>
            <a:off x="822960" y="2286000"/>
            <a:ext cx="10515600" cy="1188720"/>
          </a:xfrm>
          <a:prstGeom prst="rect">
            <a:avLst/>
          </a:prstGeom>
          <a:noFill/>
          <a:ln/>
        </p:spPr>
        <p:txBody>
          <a:bodyPr wrap="square" rtlCol="0" anchor="ctr"/>
          <a:lstStyle/>
          <a:p>
            <a:pPr algn="ctr" indent="0" marL="0">
              <a:buNone/>
            </a:pPr>
            <a:r>
              <a:rPr lang="en-US" sz="6000" b="1" dirty="0">
                <a:solidFill>
                  <a:srgbClr val="FFFFFF"/>
                </a:solidFill>
              </a:rPr>
              <a:t>Thank You</a:t>
            </a:r>
            <a:endParaRPr lang="en-US" sz="6000" dirty="0"/>
          </a:p>
        </p:txBody>
      </p:sp>
      <p:sp>
        <p:nvSpPr>
          <p:cNvPr id="5" name="Text 3"/>
          <p:cNvSpPr/>
          <p:nvPr/>
        </p:nvSpPr>
        <p:spPr>
          <a:xfrm>
            <a:off x="822960" y="3566160"/>
            <a:ext cx="10515600" cy="548640"/>
          </a:xfrm>
          <a:prstGeom prst="rect">
            <a:avLst/>
          </a:prstGeom>
          <a:noFill/>
          <a:ln/>
        </p:spPr>
        <p:txBody>
          <a:bodyPr wrap="square" rtlCol="0" anchor="ctr"/>
          <a:lstStyle/>
          <a:p>
            <a:pPr algn="ctr" indent="0" marL="0">
              <a:buNone/>
            </a:pPr>
            <a:r>
              <a:rPr lang="en-US" sz="2200" i="1" dirty="0">
                <a:solidFill>
                  <a:srgbClr val="9BE3D8"/>
                </a:solidFill>
              </a:rPr>
              <a:t>Questions &amp; Live Demo Welcome</a:t>
            </a:r>
            <a:endParaRPr lang="en-US" sz="2200" dirty="0"/>
          </a:p>
        </p:txBody>
      </p:sp>
      <p:sp>
        <p:nvSpPr>
          <p:cNvPr id="6" name="Text 4"/>
          <p:cNvSpPr/>
          <p:nvPr/>
        </p:nvSpPr>
        <p:spPr>
          <a:xfrm>
            <a:off x="822960" y="4480560"/>
            <a:ext cx="10515600" cy="457200"/>
          </a:xfrm>
          <a:prstGeom prst="rect">
            <a:avLst/>
          </a:prstGeom>
          <a:noFill/>
          <a:ln/>
        </p:spPr>
        <p:txBody>
          <a:bodyPr wrap="square" rtlCol="0" anchor="ctr"/>
          <a:lstStyle/>
          <a:p>
            <a:pPr algn="ctr" indent="0" marL="0">
              <a:buNone/>
            </a:pPr>
            <a:r>
              <a:rPr lang="en-US" sz="1500" dirty="0">
                <a:solidFill>
                  <a:srgbClr val="FFFFFF"/>
                </a:solidFill>
              </a:rPr>
              <a:t>Dikshant Aggarwal  -  Roll No. 12303021  -  Punjabi University, Patiala</a:t>
            </a:r>
            <a:endParaRPr lang="en-US" sz="1500" dirty="0"/>
          </a:p>
        </p:txBody>
      </p:sp>
      <p:sp>
        <p:nvSpPr>
          <p:cNvPr id="7" name="Text 5"/>
          <p:cNvSpPr/>
          <p:nvPr/>
        </p:nvSpPr>
        <p:spPr>
          <a:xfrm>
            <a:off x="822960" y="4892040"/>
            <a:ext cx="10515600" cy="457200"/>
          </a:xfrm>
          <a:prstGeom prst="rect">
            <a:avLst/>
          </a:prstGeom>
          <a:noFill/>
          <a:ln/>
        </p:spPr>
        <p:txBody>
          <a:bodyPr wrap="square" rtlCol="0" anchor="ctr"/>
          <a:lstStyle/>
          <a:p>
            <a:pPr algn="ctr" indent="0" marL="0">
              <a:buNone/>
            </a:pPr>
            <a:r>
              <a:rPr lang="en-US" sz="1400" dirty="0">
                <a:solidFill>
                  <a:srgbClr val="9BE3D8"/>
                </a:solidFill>
              </a:rPr>
              <a:t>Guide: Dr. Chandan Deep Singh</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TruthLens AI - AI/ML Minor Degree Project</dc:title>
  <dc:subject>PptxGenJS Presentation</dc:subject>
  <dc:creator>Dikshant Aggarwal</dc:creator>
  <cp:lastModifiedBy>Dikshant Aggarwal</cp:lastModifiedBy>
  <cp:revision>1</cp:revision>
  <dcterms:created xsi:type="dcterms:W3CDTF">2026-06-18T04:13:49Z</dcterms:created>
  <dcterms:modified xsi:type="dcterms:W3CDTF">2026-06-18T04:13:49Z</dcterms:modified>
</cp:coreProperties>
</file>