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640080"/>
            <a:ext cx="1828800" cy="1828800"/>
          </a:xfrm>
          <a:prstGeom prst="ellipse">
            <a:avLst/>
          </a:prstGeom>
          <a:solidFill>
            <a:srgbClr val="1E3A5F"/>
          </a:solidFill>
          <a:ln w="31750">
            <a:solidFill>
              <a:srgbClr val="2F6B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78440" y="1234440"/>
            <a:ext cx="640080" cy="640080"/>
          </a:xfrm>
          <a:prstGeom prst="ellipse">
            <a:avLst/>
          </a:prstGeom>
          <a:solidFill>
            <a:srgbClr val="2F6BD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WorkLens </a:t>
            </a:r>
            <a:pPr indent="0" marL="0">
              <a:buNone/>
            </a:pPr>
            <a:r>
              <a:rPr lang="en-US" sz="5800" b="1" dirty="0">
                <a:solidFill>
                  <a:srgbClr val="5D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868680" y="33375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your office cameras into automatic attendance &amp; productivity.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395020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hardware - works with the USB / IP / CCTV cameras you already have.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  -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Offices run blind on who's there - and who's actually working.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14300" dist="38100" dir="5400000">
              <a:srgbClr val="1E293B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12848"/>
            <a:ext cx="658368" cy="658368"/>
          </a:xfrm>
          <a:prstGeom prst="ellipse">
            <a:avLst/>
          </a:prstGeom>
          <a:solidFill>
            <a:srgbClr val="FCE4E4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128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painful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5661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 and biometric machines are slow, easy to game, and need extra hardware at every door.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16552" y="187452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14300" dist="38100" dir="5400000">
              <a:srgbClr val="1E293B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6592" y="2212848"/>
            <a:ext cx="658368" cy="658368"/>
          </a:xfrm>
          <a:prstGeom prst="ellipse">
            <a:avLst/>
          </a:prstGeom>
          <a:solidFill>
            <a:srgbClr val="FCE4E4"/>
          </a:solidFill>
          <a:ln/>
        </p:spPr>
      </p:sp>
      <p:sp>
        <p:nvSpPr>
          <p:cNvPr id="11" name="Text 9"/>
          <p:cNvSpPr/>
          <p:nvPr/>
        </p:nvSpPr>
        <p:spPr>
          <a:xfrm>
            <a:off x="4736592" y="22128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36592" y="3063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productivity view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36592" y="35661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 guess. There's no honest picture of working vs idle vs phone time across the floor.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93024" y="187452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14300" dist="38100" dir="5400000">
              <a:srgbClr val="1E293B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13064" y="2212848"/>
            <a:ext cx="658368" cy="658368"/>
          </a:xfrm>
          <a:prstGeom prst="ellipse">
            <a:avLst/>
          </a:prstGeom>
          <a:solidFill>
            <a:srgbClr val="FCE4E4"/>
          </a:solidFill>
          <a:ln/>
        </p:spPr>
      </p:sp>
      <p:sp>
        <p:nvSpPr>
          <p:cNvPr id="16" name="Text 14"/>
          <p:cNvSpPr/>
          <p:nvPr/>
        </p:nvSpPr>
        <p:spPr>
          <a:xfrm>
            <a:off x="8513064" y="22128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13064" y="3063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just records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13064" y="35661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office has cameras, but they only store footage. Nobody watches 50 feeds - the insight is lost.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2F6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WorkLens AI</a:t>
            </a:r>
            <a:pPr indent="0" marL="0">
              <a:lnSpc>
                <a:spcPct val="105000"/>
              </a:lnSpc>
              <a:buNone/>
            </a:pPr>
            <a:r>
              <a:rPr lang="en-US" sz="2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software that turns your existing cameras into a smart attendance &amp; productivity system.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2743200"/>
            <a:ext cx="731520" cy="73152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83080" y="272491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hardware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83080" y="312724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it at your USB / IP / CCTV cameras, install on one PC - that's the whole setup.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3977640"/>
            <a:ext cx="731520" cy="73152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977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83080" y="395935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by face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83080" y="436168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enrolled person is recognised automatically: arrival, leave, hours. No touch, no queue.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5212080"/>
            <a:ext cx="731520" cy="73152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83080" y="519379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insights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83080" y="55961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who is working, idle, walking or on the phone - as live data and clean daily reports.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steps, fully automatic.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14300" dist="38100" dir="5400000">
              <a:srgbClr val="1E293B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606040"/>
            <a:ext cx="731520" cy="73152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cameras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91363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USB, IP or CCTV (RTSP) - or even an uploaded video file.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96512" y="3108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6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72000" y="228600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13213A"/>
          </a:solidFill>
          <a:ln/>
          <a:effectLst>
            <a:outerShdw sx="100000" sy="100000" kx="0" ky="0" algn="bl" rotWithShape="0" blurRad="114300" dist="38100" dir="5400000">
              <a:srgbClr val="1E293B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2606040"/>
            <a:ext cx="731520" cy="731520"/>
          </a:xfrm>
          <a:prstGeom prst="ellipse">
            <a:avLst/>
          </a:prstGeom>
          <a:solidFill>
            <a:srgbClr val="2F6BD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46320" y="3474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WorkLens AI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46320" y="391363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people, recognises faces, reads activity in real time on a GPU.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028432" y="3108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6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8503920" y="228600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14300" dist="38100" dir="5400000">
              <a:srgbClr val="1E293B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78240" y="2606040"/>
            <a:ext cx="731520" cy="73152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778240" y="3474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reports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778240" y="391363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view, attendance, productivity %, alerts, Excel + AI daily summary.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web dashboard - on your PC or phone (same Wi-Fi), password protected.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645920"/>
          </a:xfrm>
          <a:prstGeom prst="roundRect">
            <a:avLst>
              <a:gd name="adj" fmla="val 5556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14300" dist="38100" dir="5400000">
              <a:srgbClr val="1E293B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21408"/>
            <a:ext cx="457200" cy="457200"/>
          </a:xfrm>
          <a:prstGeom prst="ellipse">
            <a:avLst/>
          </a:prstGeom>
          <a:solidFill>
            <a:srgbClr val="2F6BD6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084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multi-camera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700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cameras at once; pick which run AI.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16552" y="1828800"/>
            <a:ext cx="3520440" cy="1645920"/>
          </a:xfrm>
          <a:prstGeom prst="roundRect">
            <a:avLst>
              <a:gd name="adj" fmla="val 5556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14300" dist="38100" dir="5400000">
              <a:srgbClr val="1E293B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90872" y="2121408"/>
            <a:ext cx="457200" cy="457200"/>
          </a:xfrm>
          <a:prstGeom prst="ellipse">
            <a:avLst/>
          </a:prstGeom>
          <a:solidFill>
            <a:srgbClr val="2F6BD6"/>
          </a:solidFill>
          <a:ln/>
        </p:spPr>
      </p:sp>
      <p:sp>
        <p:nvSpPr>
          <p:cNvPr id="10" name="Text 8"/>
          <p:cNvSpPr/>
          <p:nvPr/>
        </p:nvSpPr>
        <p:spPr>
          <a:xfrm>
            <a:off x="5330952" y="2084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attendance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90872" y="26700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 once, recognised forever - by name.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3024" y="1828800"/>
            <a:ext cx="3520440" cy="1645920"/>
          </a:xfrm>
          <a:prstGeom prst="roundRect">
            <a:avLst>
              <a:gd name="adj" fmla="val 5556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14300" dist="38100" dir="5400000">
              <a:srgbClr val="1E293B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67344" y="2121408"/>
            <a:ext cx="457200" cy="457200"/>
          </a:xfrm>
          <a:prstGeom prst="ellipse">
            <a:avLst/>
          </a:prstGeom>
          <a:solidFill>
            <a:srgbClr val="2F6BD6"/>
          </a:solidFill>
          <a:ln/>
        </p:spPr>
      </p:sp>
      <p:sp>
        <p:nvSpPr>
          <p:cNvPr id="14" name="Text 12"/>
          <p:cNvSpPr/>
          <p:nvPr/>
        </p:nvSpPr>
        <p:spPr>
          <a:xfrm>
            <a:off x="9107424" y="2084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%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67344" y="26700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/ idle / phone / walking, per person.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3520440" cy="1645920"/>
          </a:xfrm>
          <a:prstGeom prst="roundRect">
            <a:avLst>
              <a:gd name="adj" fmla="val 5556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14300" dist="38100" dir="5400000">
              <a:srgbClr val="1E293B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3950208"/>
            <a:ext cx="457200" cy="457200"/>
          </a:xfrm>
          <a:prstGeom prst="ellipse">
            <a:avLst/>
          </a:prstGeom>
          <a:solidFill>
            <a:srgbClr val="2F6BD6"/>
          </a:solidFill>
          <a:ln/>
        </p:spPr>
      </p:sp>
      <p:sp>
        <p:nvSpPr>
          <p:cNvPr id="18" name="Text 16"/>
          <p:cNvSpPr/>
          <p:nvPr/>
        </p:nvSpPr>
        <p:spPr>
          <a:xfrm>
            <a:off x="1554480" y="39136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4988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person or intrusion -&gt; instant alert.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16552" y="3657600"/>
            <a:ext cx="3520440" cy="1645920"/>
          </a:xfrm>
          <a:prstGeom prst="roundRect">
            <a:avLst>
              <a:gd name="adj" fmla="val 5556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14300" dist="38100" dir="5400000">
              <a:srgbClr val="1E293B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90872" y="3950208"/>
            <a:ext cx="457200" cy="457200"/>
          </a:xfrm>
          <a:prstGeom prst="ellipse">
            <a:avLst/>
          </a:prstGeom>
          <a:solidFill>
            <a:srgbClr val="2F6BD6"/>
          </a:solidFill>
          <a:ln/>
        </p:spPr>
      </p:sp>
      <p:sp>
        <p:nvSpPr>
          <p:cNvPr id="22" name="Text 20"/>
          <p:cNvSpPr/>
          <p:nvPr/>
        </p:nvSpPr>
        <p:spPr>
          <a:xfrm>
            <a:off x="5330952" y="39136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+ AI summary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90872" y="44988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Per-person Excel, daily auto-summary.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93024" y="3657600"/>
            <a:ext cx="3520440" cy="1645920"/>
          </a:xfrm>
          <a:prstGeom prst="roundRect">
            <a:avLst>
              <a:gd name="adj" fmla="val 5556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14300" dist="38100" dir="5400000">
              <a:srgbClr val="1E293B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67344" y="3950208"/>
            <a:ext cx="457200" cy="457200"/>
          </a:xfrm>
          <a:prstGeom prst="ellipse">
            <a:avLst/>
          </a:prstGeom>
          <a:solidFill>
            <a:srgbClr val="2F6BD6"/>
          </a:solidFill>
          <a:ln/>
        </p:spPr>
      </p:sp>
      <p:sp>
        <p:nvSpPr>
          <p:cNvPr id="26" name="Text 24"/>
          <p:cNvSpPr/>
          <p:nvPr/>
        </p:nvSpPr>
        <p:spPr>
          <a:xfrm>
            <a:off x="9107424" y="39136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67344" y="44988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PC today, cloud tomorrow.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1828800"/>
            <a:ext cx="777240" cy="77724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28800" y="18105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got cheap &amp; good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82880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GPUs + YOLO / face models make real-time vision affordable on a single PC.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3246120"/>
            <a:ext cx="777240" cy="77724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32278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are everywhere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828800" y="370332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every office, shop and factory already has cameras installed and idle.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4663440"/>
            <a:ext cx="777240" cy="77724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663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46451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Software-only edge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828800" y="51206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hardware per door - so we're a fraction of the cost of biometric + VMS setups.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 - validate before fundraising.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13213A"/>
          </a:solidFill>
          <a:ln/>
          <a:effectLst>
            <a:outerShdw sx="100000" sy="100000" kx="0" ky="0" algn="bl" rotWithShape="0" blurRad="114300" dist="38100" dir="5400000">
              <a:srgbClr val="1E293B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331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D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small &amp; medium offices, shops and factories in India alone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16552" y="192024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14300" dist="38100" dir="5400000">
              <a:srgbClr val="1E293B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90872" y="2331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690872" y="32461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has cameras + a daily attendance &amp; productivity need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93024" y="192024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14300" dist="38100" dir="5400000">
              <a:srgbClr val="1E293B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67344" y="2331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fast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467344" y="32461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analytics + smart-CCTV is a large, expanding market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3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one beachhead - small offices &amp; coaching centres - then expand.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SaaS - per camera, per month. (Illustrative pricing.)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14300" dist="38100" dir="5400000">
              <a:srgbClr val="1E293B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560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299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/camera / month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05840" y="3502152"/>
            <a:ext cx="146304" cy="146304"/>
          </a:xfrm>
          <a:prstGeom prst="ellipse">
            <a:avLst/>
          </a:prstGeom>
          <a:solidFill>
            <a:srgbClr val="2F6BD6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cameras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4069080"/>
            <a:ext cx="146304" cy="146304"/>
          </a:xfrm>
          <a:prstGeom prst="ellipse">
            <a:avLst/>
          </a:prstGeom>
          <a:solidFill>
            <a:srgbClr val="2F6BD6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95020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+ live view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05840" y="4636008"/>
            <a:ext cx="146304" cy="146304"/>
          </a:xfrm>
          <a:prstGeom prst="ellipse">
            <a:avLst/>
          </a:prstGeom>
          <a:solidFill>
            <a:srgbClr val="2F6BD6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451713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support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16552" y="17373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13213A"/>
          </a:solidFill>
          <a:ln/>
          <a:effectLst>
            <a:outerShdw sx="100000" sy="100000" kx="0" ky="0" algn="bl" rotWithShape="0" blurRad="114300" dist="38100" dir="5400000">
              <a:srgbClr val="1E293B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36592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36592" y="2560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D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499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/camera / month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4782312" y="3502152"/>
            <a:ext cx="146304" cy="146304"/>
          </a:xfrm>
          <a:prstGeom prst="ellipse">
            <a:avLst/>
          </a:prstGeom>
          <a:solidFill>
            <a:srgbClr val="5DA0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56632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8 cameras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82312" y="4069080"/>
            <a:ext cx="146304" cy="146304"/>
          </a:xfrm>
          <a:prstGeom prst="ellipse">
            <a:avLst/>
          </a:prstGeom>
          <a:solidFill>
            <a:srgbClr val="5DA0FF"/>
          </a:solidFill>
          <a:ln/>
        </p:spPr>
      </p:sp>
      <p:sp>
        <p:nvSpPr>
          <p:cNvPr id="19" name="Text 17"/>
          <p:cNvSpPr/>
          <p:nvPr/>
        </p:nvSpPr>
        <p:spPr>
          <a:xfrm>
            <a:off x="5056632" y="395020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Productivity &amp; alerts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82312" y="4636008"/>
            <a:ext cx="146304" cy="146304"/>
          </a:xfrm>
          <a:prstGeom prst="ellipse">
            <a:avLst/>
          </a:prstGeom>
          <a:solidFill>
            <a:srgbClr val="5DA0FF"/>
          </a:solidFill>
          <a:ln/>
        </p:spPr>
      </p:sp>
      <p:sp>
        <p:nvSpPr>
          <p:cNvPr id="21" name="Text 19"/>
          <p:cNvSpPr/>
          <p:nvPr/>
        </p:nvSpPr>
        <p:spPr>
          <a:xfrm>
            <a:off x="5056632" y="451713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Excel &amp; AI summary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93024" y="17373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14300" dist="38100" dir="5400000">
              <a:srgbClr val="1E293B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513064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513064" y="2560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site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8558784" y="3502152"/>
            <a:ext cx="146304" cy="146304"/>
          </a:xfrm>
          <a:prstGeom prst="ellipse">
            <a:avLst/>
          </a:prstGeom>
          <a:solidFill>
            <a:srgbClr val="2F6BD6"/>
          </a:solidFill>
          <a:ln/>
        </p:spPr>
      </p:sp>
      <p:sp>
        <p:nvSpPr>
          <p:cNvPr id="26" name="Text 24"/>
          <p:cNvSpPr/>
          <p:nvPr/>
        </p:nvSpPr>
        <p:spPr>
          <a:xfrm>
            <a:off x="8833104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cameras / sites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558784" y="4069080"/>
            <a:ext cx="146304" cy="146304"/>
          </a:xfrm>
          <a:prstGeom prst="ellipse">
            <a:avLst/>
          </a:prstGeom>
          <a:solidFill>
            <a:srgbClr val="2F6BD6"/>
          </a:solidFill>
          <a:ln/>
        </p:spPr>
      </p:sp>
      <p:sp>
        <p:nvSpPr>
          <p:cNvPr id="28" name="Text 26"/>
          <p:cNvSpPr/>
          <p:nvPr/>
        </p:nvSpPr>
        <p:spPr>
          <a:xfrm>
            <a:off x="8833104" y="395020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Cloud &amp; mobile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558784" y="4636008"/>
            <a:ext cx="146304" cy="146304"/>
          </a:xfrm>
          <a:prstGeom prst="ellipse">
            <a:avLst/>
          </a:prstGeom>
          <a:solidFill>
            <a:srgbClr val="2F6BD6"/>
          </a:solidFill>
          <a:ln/>
        </p:spPr>
      </p:sp>
      <p:sp>
        <p:nvSpPr>
          <p:cNvPr id="30" name="Text 28"/>
          <p:cNvSpPr/>
          <p:nvPr/>
        </p:nvSpPr>
        <p:spPr>
          <a:xfrm>
            <a:off x="8833104" y="451713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Priority support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274320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Biometric machine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21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 CCTV / NVR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WorkLens AI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D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 hardware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per door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DVR + cabling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3D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- uses your cameras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Attendance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Touch / queue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3D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Automatic, by face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Productivity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3D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- activity &amp;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Alerts &amp; reports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Recording only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3D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alerts + Excel + AI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3D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(software)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13213A"/>
          </a:solidFill>
          <a:ln/>
          <a:effectLst>
            <a:outerShdw sx="100000" sy="100000" kx="0" ky="0" algn="bl" rotWithShape="0" blurRad="114300" dist="38100" dir="5400000">
              <a:srgbClr val="1E293B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828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D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- working MVP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2496312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3774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multi-camera + face attendance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3154680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303580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Productivity, alerts, charts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381304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69417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reports + AI daily summary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4471416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435254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a real laptop (RTX GPU), CCTV connected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55448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14300" dist="38100" dir="5400000">
              <a:srgbClr val="1E293B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1828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6-12 months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29400" y="2496312"/>
            <a:ext cx="146304" cy="146304"/>
          </a:xfrm>
          <a:prstGeom prst="ellipse">
            <a:avLst/>
          </a:prstGeom>
          <a:solidFill>
            <a:srgbClr val="2F6BD6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+ multi-account (SaaS)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29400" y="3118104"/>
            <a:ext cx="146304" cy="146304"/>
          </a:xfrm>
          <a:prstGeom prst="ellipse">
            <a:avLst/>
          </a:prstGeom>
          <a:solidFill>
            <a:srgbClr val="2F6BD6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299923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+ remote access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29400" y="3739896"/>
            <a:ext cx="146304" cy="146304"/>
          </a:xfrm>
          <a:prstGeom prst="ellipse">
            <a:avLst/>
          </a:prstGeom>
          <a:solidFill>
            <a:srgbClr val="2F6BD6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362102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paid pilot offices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29400" y="4361688"/>
            <a:ext cx="146304" cy="146304"/>
          </a:xfrm>
          <a:prstGeom prst="ellipse">
            <a:avLst/>
          </a:prstGeom>
          <a:solidFill>
            <a:srgbClr val="2F6BD6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424281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Pose-based activity + safety (PPE/fall)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29400" y="4983480"/>
            <a:ext cx="146304" cy="146304"/>
          </a:xfrm>
          <a:prstGeom prst="ellipse">
            <a:avLst/>
          </a:prstGeom>
          <a:solidFill>
            <a:srgbClr val="2F6BD6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486460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&amp; compliance certification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make every office smarter.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WorkLens AI - smart attendance &amp; productivity from cameras you already own.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68680" y="42062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for: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pilot offices  -  a co-founder / mentor  -  early funding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your-email@worklens.ai   -   +91-XXXXXXXXXX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WorkLens AI - Pitch Deck</dc:title>
  <dc:subject>PptxGenJS Presentation</dc:subject>
  <dc:creator>WorkLens AI</dc:creator>
  <cp:lastModifiedBy>WorkLens AI</cp:lastModifiedBy>
  <cp:revision>1</cp:revision>
  <dcterms:created xsi:type="dcterms:W3CDTF">2026-06-25T06:58:31Z</dcterms:created>
  <dcterms:modified xsi:type="dcterms:W3CDTF">2026-06-25T06:58:31Z</dcterms:modified>
</cp:coreProperties>
</file>